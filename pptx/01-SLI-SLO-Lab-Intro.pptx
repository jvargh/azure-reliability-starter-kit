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hands-on lab, not a lecture. By the end you will have authored real Service Level Indicators on Azure Monitor and watched an error budget burn in real time.
The theme in one line: stop measuring whether servers are up, and start measuring whether customers are succeeding. Everything we build reuses telemetry you already collect, so there is no rip-and-replace.
Set expectations: an Azure subscription with the right roles, and roughly an hour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mindset shift, spend a minute here.
Left side is where most teams live: CPU, memory, request counts. The problem is the dashboard is green while customers are failing, and there is no shared target to hold anyone to.
Right side is the SLI approach: measure availability and latency the way customers feel them, scored per application rather than per box, against a number everyone agreed on.
Room question: how many of you have had an all-green dashboard during a real incident? Almost every hand goes up. That gap is what we are closing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terms that connect the whole lab. Keep it plain.
SLI is the measurement. SLO is the target for that measurement. Error budget is what you are allowed to fail: 100 percent minus the SLO, so at 99.5 percent you get 0.5 percent. Burn rate is how fast you are spending that budget: 1x means you use it all exactly by the end of the window, a spike means trouble.
The one idea to land: the error budget is the connective tissue. It decides when to alert, when to investigate, and later when to ship versus stabilize. Same number drives reliability and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scenario so none of this stays abstract. An online store with Login and Checkout, grouped into one Service Group called CheckoutSG. SLIs are authored at the service group level, that is the application boundary.
Three SLIs, and deliberately three different flavors you will meet in the real world: availability (did checkout succeed), latency (did login respond under 300 milliseconds), and dependency (did the payment provider succeed).
All three target 99.5 percent over a rolling 7 and 30 days. When the budget burns, baseline, fast-burn, and slow-burn alerts fire to your action groups: fast burn pages a human, slow burn opens a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actually in the kit, so people know what they are getting.
Four things on the left: a runnable demo app with tunable failure and latency, one-click Bicep infrastructure, the guided lab runner that walks the 8-phase method, and a load generator with a failure-injection guide to burn the budget on demand.
On the right is how telemetry flows: the apps emit OpenTelemetry, a collector remote-writes to the Azure Monitor Workspace through a managed-identity proxy, and the SLI engine reads that same workspace. The point to stress: SLIs read from a standard Azure Monitor Workspace. Nothing here is bespoke plumbing.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lab is three commands across two terminals. Demystify it up front.
One: deploy the infrastructure. A single script provisions every Azure resource and pushes the app code.
Two: in its own terminal, start the traffic generator and leave it running. This matters, call it out: every SLI is a rate over a 5-minute window, so no traffic means no data and empty columns. Give it a minute or two to warm up.
Three: in a second terminal, run the lab. Prerequisites are on the slide: Azure CLI signed in, PowerShell 7, and Contributor plus User Access Administrator on the subscription.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run-lab.ps1 walks through, and it mirrors how you would design SLIs for any real service, not just this demo.
Phases 1 to 5 (teal) are discovery and design: check access, enumerate every user journey from telemetry, score them to find the critical few, collect the supporting data, and consolidate a design checklist.
Phases 6 to 8 (amber) are authoring and validation: create the Service Group and the three SLIs, confirm the engine is publishing Value, Good, and Total results, and wrap up.
The lab automates the mechanics so participants can focus on the judgement calls: which journeys are critical and what target is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goes after today, so the lab lands as a starting point, not a one-off.
Phase 0, what you build in this lab, is the foundation and the hardest part done: reliability measured the way customers feel it.
Phase 1 rolls your SLIs plus resource health into a single, honest Health Model score, so leadership sees one number and engineers drill to the failing entity.
Phase 2 adds AI: the Observability Agent explains what broke and why, the SRE Agent takes approved action. Phase 3 is the operating model, where error budgets gate releases: ship when healthy, stabilize when burning.
The message: each phase reuses the previous one with no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three outcomes: you will have authored real SLIs, you will have seen the error budget move by injecting failures, and you will know the path forward to Health Models and AI-assisted operations.
Call to action is deliberately simple: deploy the infra, start traffic, and run ./run-lab.ps1.
Then hand off: open your terminal and let us start. Offer to stay on for questions as they work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2DD4BF"/>
          </a:solidFill>
          <a:ln/>
        </p:spPr>
      </p:sp>
      <p:sp>
        <p:nvSpPr>
          <p:cNvPr id="3" name="Shape 1"/>
          <p:cNvSpPr/>
          <p:nvPr/>
        </p:nvSpPr>
        <p:spPr>
          <a:xfrm>
            <a:off x="9262872" y="3931920"/>
            <a:ext cx="2926080" cy="2926080"/>
          </a:xfrm>
          <a:prstGeom prst="rect">
            <a:avLst/>
          </a:prstGeom>
          <a:solidFill>
            <a:srgbClr val="10314F"/>
          </a:solidFill>
          <a:ln/>
        </p:spPr>
      </p:sp>
      <p:sp>
        <p:nvSpPr>
          <p:cNvPr id="4" name="Shape 2"/>
          <p:cNvSpPr/>
          <p:nvPr/>
        </p:nvSpPr>
        <p:spPr>
          <a:xfrm>
            <a:off x="10360152" y="5029200"/>
            <a:ext cx="1828800" cy="1828800"/>
          </a:xfrm>
          <a:prstGeom prst="rect">
            <a:avLst/>
          </a:prstGeom>
          <a:solidFill>
            <a:srgbClr val="0D9488">
              <a:alpha val="45000"/>
            </a:srgbClr>
          </a:solidFill>
          <a:ln/>
        </p:spPr>
      </p:sp>
      <p:sp>
        <p:nvSpPr>
          <p:cNvPr id="5" name="Text 3"/>
          <p:cNvSpPr/>
          <p:nvPr/>
        </p:nvSpPr>
        <p:spPr>
          <a:xfrm>
            <a:off x="914400" y="1417320"/>
            <a:ext cx="9144000" cy="365760"/>
          </a:xfrm>
          <a:prstGeom prst="rect">
            <a:avLst/>
          </a:prstGeom>
          <a:noFill/>
          <a:ln/>
        </p:spPr>
        <p:txBody>
          <a:bodyPr wrap="square" lIns="0" tIns="0" rIns="0" bIns="0" rtlCol="0" anchor="ctr"/>
          <a:lstStyle/>
          <a:p>
            <a:pPr indent="0" marL="0">
              <a:buNone/>
            </a:pPr>
            <a:r>
              <a:rPr lang="en-US" sz="1400" b="1" spc="300" kern="0" dirty="0">
                <a:solidFill>
                  <a:srgbClr val="2DD4BF"/>
                </a:solidFill>
                <a:latin typeface="Segoe UI" pitchFamily="34" charset="0"/>
                <a:ea typeface="Segoe UI" pitchFamily="34" charset="-122"/>
                <a:cs typeface="Segoe UI" pitchFamily="34" charset="-120"/>
              </a:rPr>
              <a:t>AZURE MONITOR  ·  HANDS-ON LAB</a:t>
            </a:r>
            <a:endParaRPr lang="en-US" sz="1400" dirty="0"/>
          </a:p>
        </p:txBody>
      </p:sp>
      <p:sp>
        <p:nvSpPr>
          <p:cNvPr id="6" name="Text 4"/>
          <p:cNvSpPr/>
          <p:nvPr/>
        </p:nvSpPr>
        <p:spPr>
          <a:xfrm>
            <a:off x="868680" y="1874520"/>
            <a:ext cx="10058400" cy="173736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Segoe UI Semibold" pitchFamily="34" charset="0"/>
                <a:ea typeface="Segoe UI Semibold" pitchFamily="34" charset="-122"/>
                <a:cs typeface="Segoe UI Semibold" pitchFamily="34" charset="-120"/>
              </a:rPr>
              <a:t>From SLIs to a Reliability</a:t>
            </a:r>
            <a:endParaRPr lang="en-US" sz="4600" dirty="0"/>
          </a:p>
          <a:p>
            <a:pPr indent="0" marL="0">
              <a:lnSpc>
                <a:spcPct val="102000"/>
              </a:lnSpc>
              <a:buNone/>
            </a:pPr>
            <a:r>
              <a:rPr lang="en-US" sz="4600" b="1" dirty="0">
                <a:solidFill>
                  <a:srgbClr val="FFFFFF"/>
                </a:solidFill>
                <a:latin typeface="Segoe UI Semibold" pitchFamily="34" charset="0"/>
                <a:ea typeface="Segoe UI Semibold" pitchFamily="34" charset="-122"/>
                <a:cs typeface="Segoe UI Semibold" pitchFamily="34" charset="-120"/>
              </a:rPr>
              <a:t>Operating Model</a:t>
            </a:r>
            <a:endParaRPr lang="en-US" sz="4600" dirty="0"/>
          </a:p>
        </p:txBody>
      </p:sp>
      <p:sp>
        <p:nvSpPr>
          <p:cNvPr id="7" name="Text 5"/>
          <p:cNvSpPr/>
          <p:nvPr/>
        </p:nvSpPr>
        <p:spPr>
          <a:xfrm>
            <a:off x="914400" y="3703320"/>
            <a:ext cx="8778240" cy="731520"/>
          </a:xfrm>
          <a:prstGeom prst="rect">
            <a:avLst/>
          </a:prstGeom>
          <a:noFill/>
          <a:ln/>
        </p:spPr>
        <p:txBody>
          <a:bodyPr wrap="square" lIns="0" tIns="0" rIns="0" bIns="0" rtlCol="0" anchor="ctr"/>
          <a:lstStyle/>
          <a:p>
            <a:pPr indent="0" marL="0">
              <a:lnSpc>
                <a:spcPct val="115000"/>
              </a:lnSpc>
              <a:buNone/>
            </a:pPr>
            <a:r>
              <a:rPr lang="en-US" sz="1700" dirty="0">
                <a:solidFill>
                  <a:srgbClr val="C7D6E5"/>
                </a:solidFill>
                <a:latin typeface="Segoe UI" pitchFamily="34" charset="0"/>
                <a:ea typeface="Segoe UI" pitchFamily="34" charset="-122"/>
                <a:cs typeface="Segoe UI" pitchFamily="34" charset="-120"/>
              </a:rPr>
              <a:t>Measure reliability the way your customers feel it, prove it against targets, and act with AI assistance.</a:t>
            </a:r>
            <a:endParaRPr lang="en-US" sz="1700" dirty="0"/>
          </a:p>
        </p:txBody>
      </p:sp>
      <p:sp>
        <p:nvSpPr>
          <p:cNvPr id="8" name="Shape 6"/>
          <p:cNvSpPr/>
          <p:nvPr/>
        </p:nvSpPr>
        <p:spPr>
          <a:xfrm>
            <a:off x="914400" y="4709160"/>
            <a:ext cx="1645920" cy="402336"/>
          </a:xfrm>
          <a:prstGeom prst="roundRect">
            <a:avLst>
              <a:gd name="adj" fmla="val 18182"/>
            </a:avLst>
          </a:prstGeom>
          <a:solidFill>
            <a:srgbClr val="10314F"/>
          </a:solidFill>
          <a:ln w="12700">
            <a:solidFill>
              <a:srgbClr val="0D9488"/>
            </a:solidFill>
            <a:prstDash val="solid"/>
          </a:ln>
        </p:spPr>
      </p:sp>
      <p:sp>
        <p:nvSpPr>
          <p:cNvPr id="9" name="Text 7"/>
          <p:cNvSpPr/>
          <p:nvPr/>
        </p:nvSpPr>
        <p:spPr>
          <a:xfrm>
            <a:off x="914400" y="4709160"/>
            <a:ext cx="1645920" cy="402336"/>
          </a:xfrm>
          <a:prstGeom prst="rect">
            <a:avLst/>
          </a:prstGeom>
          <a:noFill/>
          <a:ln/>
        </p:spPr>
        <p:txBody>
          <a:bodyPr wrap="square" lIns="0" tIns="0" rIns="0" bIns="0" rtlCol="0" anchor="ctr"/>
          <a:lstStyle/>
          <a:p>
            <a:pPr algn="ctr" indent="0" marL="0">
              <a:buNone/>
            </a:pPr>
            <a:r>
              <a:rPr lang="en-US" sz="1200" b="1" dirty="0">
                <a:solidFill>
                  <a:srgbClr val="2DD4BF"/>
                </a:solidFill>
                <a:latin typeface="Segoe UI" pitchFamily="34" charset="0"/>
                <a:ea typeface="Segoe UI" pitchFamily="34" charset="-122"/>
                <a:cs typeface="Segoe UI" pitchFamily="34" charset="-120"/>
              </a:rPr>
              <a:t>Availability</a:t>
            </a:r>
            <a:endParaRPr lang="en-US" sz="1200" dirty="0"/>
          </a:p>
        </p:txBody>
      </p:sp>
      <p:sp>
        <p:nvSpPr>
          <p:cNvPr id="10" name="Shape 8"/>
          <p:cNvSpPr/>
          <p:nvPr/>
        </p:nvSpPr>
        <p:spPr>
          <a:xfrm>
            <a:off x="2788920" y="4709160"/>
            <a:ext cx="1120140" cy="402336"/>
          </a:xfrm>
          <a:prstGeom prst="roundRect">
            <a:avLst>
              <a:gd name="adj" fmla="val 18182"/>
            </a:avLst>
          </a:prstGeom>
          <a:solidFill>
            <a:srgbClr val="10314F"/>
          </a:solidFill>
          <a:ln w="12700">
            <a:solidFill>
              <a:srgbClr val="0D9488"/>
            </a:solidFill>
            <a:prstDash val="solid"/>
          </a:ln>
        </p:spPr>
      </p:sp>
      <p:sp>
        <p:nvSpPr>
          <p:cNvPr id="11" name="Text 9"/>
          <p:cNvSpPr/>
          <p:nvPr/>
        </p:nvSpPr>
        <p:spPr>
          <a:xfrm>
            <a:off x="2788920" y="4709160"/>
            <a:ext cx="1120140" cy="402336"/>
          </a:xfrm>
          <a:prstGeom prst="rect">
            <a:avLst/>
          </a:prstGeom>
          <a:noFill/>
          <a:ln/>
        </p:spPr>
        <p:txBody>
          <a:bodyPr wrap="square" lIns="0" tIns="0" rIns="0" bIns="0" rtlCol="0" anchor="ctr"/>
          <a:lstStyle/>
          <a:p>
            <a:pPr algn="ctr" indent="0" marL="0">
              <a:buNone/>
            </a:pPr>
            <a:r>
              <a:rPr lang="en-US" sz="1200" b="1" dirty="0">
                <a:solidFill>
                  <a:srgbClr val="2DD4BF"/>
                </a:solidFill>
                <a:latin typeface="Segoe UI" pitchFamily="34" charset="0"/>
                <a:ea typeface="Segoe UI" pitchFamily="34" charset="-122"/>
                <a:cs typeface="Segoe UI" pitchFamily="34" charset="-120"/>
              </a:rPr>
              <a:t>Latency</a:t>
            </a:r>
            <a:endParaRPr lang="en-US" sz="1200" dirty="0"/>
          </a:p>
        </p:txBody>
      </p:sp>
      <p:sp>
        <p:nvSpPr>
          <p:cNvPr id="12" name="Shape 10"/>
          <p:cNvSpPr/>
          <p:nvPr/>
        </p:nvSpPr>
        <p:spPr>
          <a:xfrm>
            <a:off x="4137660" y="4709160"/>
            <a:ext cx="1751076" cy="402336"/>
          </a:xfrm>
          <a:prstGeom prst="roundRect">
            <a:avLst>
              <a:gd name="adj" fmla="val 18182"/>
            </a:avLst>
          </a:prstGeom>
          <a:solidFill>
            <a:srgbClr val="10314F"/>
          </a:solidFill>
          <a:ln w="12700">
            <a:solidFill>
              <a:srgbClr val="0D9488"/>
            </a:solidFill>
            <a:prstDash val="solid"/>
          </a:ln>
        </p:spPr>
      </p:sp>
      <p:sp>
        <p:nvSpPr>
          <p:cNvPr id="13" name="Text 11"/>
          <p:cNvSpPr/>
          <p:nvPr/>
        </p:nvSpPr>
        <p:spPr>
          <a:xfrm>
            <a:off x="4137660" y="4709160"/>
            <a:ext cx="1751076" cy="402336"/>
          </a:xfrm>
          <a:prstGeom prst="rect">
            <a:avLst/>
          </a:prstGeom>
          <a:noFill/>
          <a:ln/>
        </p:spPr>
        <p:txBody>
          <a:bodyPr wrap="square" lIns="0" tIns="0" rIns="0" bIns="0" rtlCol="0" anchor="ctr"/>
          <a:lstStyle/>
          <a:p>
            <a:pPr algn="ctr" indent="0" marL="0">
              <a:buNone/>
            </a:pPr>
            <a:r>
              <a:rPr lang="en-US" sz="1200" b="1" dirty="0">
                <a:solidFill>
                  <a:srgbClr val="2DD4BF"/>
                </a:solidFill>
                <a:latin typeface="Segoe UI" pitchFamily="34" charset="0"/>
                <a:ea typeface="Segoe UI" pitchFamily="34" charset="-122"/>
                <a:cs typeface="Segoe UI" pitchFamily="34" charset="-120"/>
              </a:rPr>
              <a:t>Error budgets</a:t>
            </a:r>
            <a:endParaRPr lang="en-US" sz="1200" dirty="0"/>
          </a:p>
        </p:txBody>
      </p:sp>
      <p:sp>
        <p:nvSpPr>
          <p:cNvPr id="14" name="Text 12"/>
          <p:cNvSpPr/>
          <p:nvPr/>
        </p:nvSpPr>
        <p:spPr>
          <a:xfrm>
            <a:off x="914400" y="6217920"/>
            <a:ext cx="9144000" cy="320040"/>
          </a:xfrm>
          <a:prstGeom prst="rect">
            <a:avLst/>
          </a:prstGeom>
          <a:noFill/>
          <a:ln/>
        </p:spPr>
        <p:txBody>
          <a:bodyPr wrap="square" lIns="0" tIns="0" rIns="0" bIns="0" rtlCol="0" anchor="ctr"/>
          <a:lstStyle/>
          <a:p>
            <a:pPr indent="0" marL="0">
              <a:buNone/>
            </a:pPr>
            <a:r>
              <a:rPr lang="en-US" sz="1100" dirty="0">
                <a:solidFill>
                  <a:srgbClr val="7E93A8"/>
                </a:solidFill>
                <a:latin typeface="Segoe UI" pitchFamily="34" charset="0"/>
                <a:ea typeface="Segoe UI" pitchFamily="34" charset="-122"/>
                <a:cs typeface="Segoe UI" pitchFamily="34" charset="-120"/>
              </a:rPr>
              <a:t>A guided introduction for platform, SRE, and engineering teams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rect">
            <a:avLst/>
          </a:prstGeom>
          <a:solidFill>
            <a:srgbClr val="2DD4BF"/>
          </a:solidFill>
          <a:ln/>
        </p:spPr>
      </p:sp>
      <p:sp>
        <p:nvSpPr>
          <p:cNvPr id="3" name="Text 1"/>
          <p:cNvSpPr/>
          <p:nvPr/>
        </p:nvSpPr>
        <p:spPr>
          <a:xfrm>
            <a:off x="896112" y="402336"/>
            <a:ext cx="9144000" cy="320040"/>
          </a:xfrm>
          <a:prstGeom prst="rect">
            <a:avLst/>
          </a:prstGeom>
          <a:noFill/>
          <a:ln/>
        </p:spPr>
        <p:txBody>
          <a:bodyPr wrap="square" lIns="0" tIns="0" rIns="0" bIns="0" rtlCol="0" anchor="ctr"/>
          <a:lstStyle/>
          <a:p>
            <a:pPr indent="0" marL="0">
              <a:buNone/>
            </a:pPr>
            <a:r>
              <a:rPr lang="en-US" sz="1200" b="1" spc="200" kern="0" dirty="0">
                <a:solidFill>
                  <a:srgbClr val="0D9488"/>
                </a:solidFill>
                <a:latin typeface="Segoe UI" pitchFamily="34" charset="0"/>
                <a:ea typeface="Segoe UI" pitchFamily="34" charset="-122"/>
                <a:cs typeface="Segoe UI" pitchFamily="34" charset="-120"/>
              </a:rPr>
              <a:t>CONCEPT  ·  1 OF 3</a:t>
            </a:r>
            <a:endParaRPr lang="en-US" sz="1200" dirty="0"/>
          </a:p>
        </p:txBody>
      </p:sp>
      <p:sp>
        <p:nvSpPr>
          <p:cNvPr id="4" name="Text 2"/>
          <p:cNvSpPr/>
          <p:nvPr/>
        </p:nvSpPr>
        <p:spPr>
          <a:xfrm>
            <a:off x="640080" y="749808"/>
            <a:ext cx="10908792" cy="822960"/>
          </a:xfrm>
          <a:prstGeom prst="rect">
            <a:avLst/>
          </a:prstGeom>
          <a:noFill/>
          <a:ln/>
        </p:spPr>
        <p:txBody>
          <a:bodyPr wrap="square" lIns="0" tIns="0" rIns="0" bIns="0" rtlCol="0" anchor="ctr"/>
          <a:lstStyle/>
          <a:p>
            <a:pPr indent="0" marL="0">
              <a:buNone/>
            </a:pPr>
            <a:r>
              <a:rPr lang="en-US" sz="3000" b="1" dirty="0">
                <a:solidFill>
                  <a:srgbClr val="0A2540"/>
                </a:solidFill>
                <a:latin typeface="Segoe UI Semibold" pitchFamily="34" charset="0"/>
                <a:ea typeface="Segoe UI Semibold" pitchFamily="34" charset="-122"/>
                <a:cs typeface="Segoe UI Semibold" pitchFamily="34" charset="-120"/>
              </a:rPr>
              <a:t>Why measure Service Level Indicators?</a:t>
            </a:r>
            <a:endParaRPr lang="en-US" sz="3000" dirty="0"/>
          </a:p>
        </p:txBody>
      </p:sp>
      <p:sp>
        <p:nvSpPr>
          <p:cNvPr id="5" name="Text 3"/>
          <p:cNvSpPr/>
          <p:nvPr/>
        </p:nvSpPr>
        <p:spPr>
          <a:xfrm>
            <a:off x="640080" y="1554480"/>
            <a:ext cx="10908792" cy="457200"/>
          </a:xfrm>
          <a:prstGeom prst="rect">
            <a:avLst/>
          </a:prstGeom>
          <a:noFill/>
          <a:ln/>
        </p:spPr>
        <p:txBody>
          <a:bodyPr wrap="square" lIns="0" tIns="0" rIns="0" bIns="0" rtlCol="0" anchor="ctr"/>
          <a:lstStyle/>
          <a:p>
            <a:pPr indent="0" marL="0">
              <a:buNone/>
            </a:pPr>
            <a:r>
              <a:rPr lang="en-US" sz="1500" dirty="0">
                <a:solidFill>
                  <a:srgbClr val="64748B"/>
                </a:solidFill>
                <a:latin typeface="Segoe UI" pitchFamily="34" charset="0"/>
                <a:ea typeface="Segoe UI" pitchFamily="34" charset="-122"/>
                <a:cs typeface="Segoe UI" pitchFamily="34" charset="-120"/>
              </a:rPr>
              <a:t>Traditional monitoring tells you what the servers are doing. SLIs tell you what your customers experience.</a:t>
            </a:r>
            <a:endParaRPr lang="en-US" sz="1500" dirty="0"/>
          </a:p>
        </p:txBody>
      </p:sp>
      <p:sp>
        <p:nvSpPr>
          <p:cNvPr id="6" name="Shape 4"/>
          <p:cNvSpPr/>
          <p:nvPr/>
        </p:nvSpPr>
        <p:spPr>
          <a:xfrm>
            <a:off x="640080" y="2240280"/>
            <a:ext cx="5225796" cy="315468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7" name="Shape 5"/>
          <p:cNvSpPr/>
          <p:nvPr/>
        </p:nvSpPr>
        <p:spPr>
          <a:xfrm>
            <a:off x="640080" y="2240280"/>
            <a:ext cx="5225796" cy="109728"/>
          </a:xfrm>
          <a:prstGeom prst="rect">
            <a:avLst/>
          </a:prstGeom>
          <a:solidFill>
            <a:srgbClr val="64748B"/>
          </a:solidFill>
          <a:ln/>
        </p:spPr>
      </p:sp>
      <p:sp>
        <p:nvSpPr>
          <p:cNvPr id="8" name="Text 6"/>
          <p:cNvSpPr/>
          <p:nvPr/>
        </p:nvSpPr>
        <p:spPr>
          <a:xfrm>
            <a:off x="960120" y="2560320"/>
            <a:ext cx="4585716" cy="365760"/>
          </a:xfrm>
          <a:prstGeom prst="rect">
            <a:avLst/>
          </a:prstGeom>
          <a:noFill/>
          <a:ln/>
        </p:spPr>
        <p:txBody>
          <a:bodyPr wrap="square" lIns="0" tIns="0" rIns="0" bIns="0" rtlCol="0" anchor="ctr"/>
          <a:lstStyle/>
          <a:p>
            <a:pPr indent="0" marL="0">
              <a:buNone/>
            </a:pPr>
            <a:r>
              <a:rPr lang="en-US" sz="1400" b="1" spc="100" kern="0" dirty="0">
                <a:solidFill>
                  <a:srgbClr val="1E293B"/>
                </a:solidFill>
                <a:latin typeface="Segoe UI Semibold" pitchFamily="34" charset="0"/>
                <a:ea typeface="Segoe UI Semibold" pitchFamily="34" charset="-122"/>
                <a:cs typeface="Segoe UI Semibold" pitchFamily="34" charset="-120"/>
              </a:rPr>
              <a:t>TRADITIONAL MONITORING</a:t>
            </a:r>
            <a:endParaRPr lang="en-US" sz="1400" dirty="0"/>
          </a:p>
        </p:txBody>
      </p:sp>
      <p:sp>
        <p:nvSpPr>
          <p:cNvPr id="9" name="Text 7"/>
          <p:cNvSpPr/>
          <p:nvPr/>
        </p:nvSpPr>
        <p:spPr>
          <a:xfrm>
            <a:off x="960120" y="3108960"/>
            <a:ext cx="4585716" cy="1965960"/>
          </a:xfrm>
          <a:prstGeom prst="rect">
            <a:avLst/>
          </a:prstGeom>
          <a:noFill/>
          <a:ln/>
        </p:spPr>
        <p:txBody>
          <a:bodyPr wrap="square" lIns="0" tIns="0" rIns="0" bIns="0" rtlCol="0" anchor="ctr"/>
          <a:lstStyle/>
          <a:p>
            <a:pPr marL="203200" indent="-203200">
              <a:lnSpc>
                <a:spcPct val="105000"/>
              </a:lnSpc>
              <a:spcAft>
                <a:spcPts val="800"/>
              </a:spcAft>
              <a:buSzPct val="100000"/>
              <a:buChar char="•"/>
            </a:pPr>
            <a:r>
              <a:rPr lang="en-US" sz="1450" dirty="0">
                <a:solidFill>
                  <a:srgbClr val="1E293B"/>
                </a:solidFill>
                <a:latin typeface="Segoe UI" pitchFamily="34" charset="0"/>
                <a:ea typeface="Segoe UI" pitchFamily="34" charset="-122"/>
                <a:cs typeface="Segoe UI" pitchFamily="34" charset="-120"/>
              </a:rPr>
              <a:t>CPU, memory, disk, request counts</a:t>
            </a:r>
            <a:endParaRPr lang="en-US" sz="1450" dirty="0"/>
          </a:p>
          <a:p>
            <a:pPr marL="203200" indent="-203200">
              <a:lnSpc>
                <a:spcPct val="105000"/>
              </a:lnSpc>
              <a:spcAft>
                <a:spcPts val="800"/>
              </a:spcAft>
              <a:buSzPct val="100000"/>
              <a:buChar char="•"/>
            </a:pPr>
            <a:r>
              <a:rPr lang="en-US" sz="1450" dirty="0">
                <a:solidFill>
                  <a:srgbClr val="1E293B"/>
                </a:solidFill>
                <a:latin typeface="Segoe UI" pitchFamily="34" charset="0"/>
                <a:ea typeface="Segoe UI" pitchFamily="34" charset="-122"/>
                <a:cs typeface="Segoe UI" pitchFamily="34" charset="-120"/>
              </a:rPr>
              <a:t>Answers “is the box up?”</a:t>
            </a:r>
            <a:endParaRPr lang="en-US" sz="1450" dirty="0"/>
          </a:p>
          <a:p>
            <a:pPr marL="203200" indent="-203200">
              <a:lnSpc>
                <a:spcPct val="105000"/>
              </a:lnSpc>
              <a:spcAft>
                <a:spcPts val="800"/>
              </a:spcAft>
              <a:buSzPct val="100000"/>
              <a:buChar char="•"/>
            </a:pPr>
            <a:r>
              <a:rPr lang="en-US" sz="1450" dirty="0">
                <a:solidFill>
                  <a:srgbClr val="1E293B"/>
                </a:solidFill>
                <a:latin typeface="Segoe UI" pitchFamily="34" charset="0"/>
                <a:ea typeface="Segoe UI" pitchFamily="34" charset="-122"/>
                <a:cs typeface="Segoe UI" pitchFamily="34" charset="-120"/>
              </a:rPr>
              <a:t>Green dashboards while customers fail</a:t>
            </a:r>
            <a:endParaRPr lang="en-US" sz="1450" dirty="0"/>
          </a:p>
          <a:p>
            <a:pPr marL="203200" indent="-203200">
              <a:lnSpc>
                <a:spcPct val="105000"/>
              </a:lnSpc>
              <a:buSzPct val="100000"/>
              <a:buChar char="•"/>
            </a:pPr>
            <a:r>
              <a:rPr lang="en-US" sz="1450" dirty="0">
                <a:solidFill>
                  <a:srgbClr val="1E293B"/>
                </a:solidFill>
                <a:latin typeface="Segoe UI" pitchFamily="34" charset="0"/>
                <a:ea typeface="Segoe UI" pitchFamily="34" charset="-122"/>
                <a:cs typeface="Segoe UI" pitchFamily="34" charset="-120"/>
              </a:rPr>
              <a:t>No shared target to argue against</a:t>
            </a:r>
            <a:endParaRPr lang="en-US" sz="1450" dirty="0"/>
          </a:p>
        </p:txBody>
      </p:sp>
      <p:sp>
        <p:nvSpPr>
          <p:cNvPr id="10" name="Shape 8"/>
          <p:cNvSpPr/>
          <p:nvPr/>
        </p:nvSpPr>
        <p:spPr>
          <a:xfrm>
            <a:off x="6323076" y="2240280"/>
            <a:ext cx="5225796" cy="3154680"/>
          </a:xfrm>
          <a:prstGeom prst="rect">
            <a:avLst/>
          </a:prstGeom>
          <a:solidFill>
            <a:srgbClr val="0A2540"/>
          </a:solidFill>
          <a:ln/>
          <a:effectLst>
            <a:outerShdw sx="100000" sy="100000" kx="0" ky="0" algn="bl" rotWithShape="0" blurRad="114300" dist="38100" dir="5400000">
              <a:srgbClr val="0A2540">
                <a:alpha val="16000"/>
              </a:srgbClr>
            </a:outerShdw>
          </a:effectLst>
        </p:spPr>
      </p:sp>
      <p:sp>
        <p:nvSpPr>
          <p:cNvPr id="11" name="Shape 9"/>
          <p:cNvSpPr/>
          <p:nvPr/>
        </p:nvSpPr>
        <p:spPr>
          <a:xfrm>
            <a:off x="6323076" y="2240280"/>
            <a:ext cx="5225796" cy="109728"/>
          </a:xfrm>
          <a:prstGeom prst="rect">
            <a:avLst/>
          </a:prstGeom>
          <a:solidFill>
            <a:srgbClr val="2DD4BF"/>
          </a:solidFill>
          <a:ln/>
        </p:spPr>
      </p:sp>
      <p:sp>
        <p:nvSpPr>
          <p:cNvPr id="12" name="Text 10"/>
          <p:cNvSpPr/>
          <p:nvPr/>
        </p:nvSpPr>
        <p:spPr>
          <a:xfrm>
            <a:off x="6643116" y="2560320"/>
            <a:ext cx="4585716" cy="365760"/>
          </a:xfrm>
          <a:prstGeom prst="rect">
            <a:avLst/>
          </a:prstGeom>
          <a:noFill/>
          <a:ln/>
        </p:spPr>
        <p:txBody>
          <a:bodyPr wrap="square" lIns="0" tIns="0" rIns="0" bIns="0" rtlCol="0" anchor="ctr"/>
          <a:lstStyle/>
          <a:p>
            <a:pPr indent="0" marL="0">
              <a:buNone/>
            </a:pPr>
            <a:r>
              <a:rPr lang="en-US" sz="1400" b="1" spc="100" kern="0" dirty="0">
                <a:solidFill>
                  <a:srgbClr val="2DD4BF"/>
                </a:solidFill>
                <a:latin typeface="Segoe UI Semibold" pitchFamily="34" charset="0"/>
                <a:ea typeface="Segoe UI Semibold" pitchFamily="34" charset="-122"/>
                <a:cs typeface="Segoe UI Semibold" pitchFamily="34" charset="-120"/>
              </a:rPr>
              <a:t>SLI-BASED RELIABILITY</a:t>
            </a:r>
            <a:endParaRPr lang="en-US" sz="1400" dirty="0"/>
          </a:p>
        </p:txBody>
      </p:sp>
      <p:sp>
        <p:nvSpPr>
          <p:cNvPr id="13" name="Text 11"/>
          <p:cNvSpPr/>
          <p:nvPr/>
        </p:nvSpPr>
        <p:spPr>
          <a:xfrm>
            <a:off x="6643116" y="3108960"/>
            <a:ext cx="4585716" cy="1965960"/>
          </a:xfrm>
          <a:prstGeom prst="rect">
            <a:avLst/>
          </a:prstGeom>
          <a:noFill/>
          <a:ln/>
        </p:spPr>
        <p:txBody>
          <a:bodyPr wrap="square" lIns="0" tIns="0" rIns="0" bIns="0" rtlCol="0" anchor="ctr"/>
          <a:lstStyle/>
          <a:p>
            <a:pPr marL="203200" indent="-203200">
              <a:lnSpc>
                <a:spcPct val="105000"/>
              </a:lnSpc>
              <a:spcAft>
                <a:spcPts val="800"/>
              </a:spcAft>
              <a:buSzPct val="100000"/>
              <a:buChar char="•"/>
            </a:pPr>
            <a:r>
              <a:rPr lang="en-US" sz="1450" dirty="0">
                <a:solidFill>
                  <a:srgbClr val="E5EEF6"/>
                </a:solidFill>
                <a:latin typeface="Segoe UI" pitchFamily="34" charset="0"/>
                <a:ea typeface="Segoe UI" pitchFamily="34" charset="-122"/>
                <a:cs typeface="Segoe UI" pitchFamily="34" charset="-120"/>
              </a:rPr>
              <a:t>Availability and latency as customers feel them</a:t>
            </a:r>
            <a:endParaRPr lang="en-US" sz="1450" dirty="0"/>
          </a:p>
          <a:p>
            <a:pPr marL="203200" indent="-203200">
              <a:lnSpc>
                <a:spcPct val="105000"/>
              </a:lnSpc>
              <a:spcAft>
                <a:spcPts val="800"/>
              </a:spcAft>
              <a:buSzPct val="100000"/>
              <a:buChar char="•"/>
            </a:pPr>
            <a:r>
              <a:rPr lang="en-US" sz="1450" dirty="0">
                <a:solidFill>
                  <a:srgbClr val="E5EEF6"/>
                </a:solidFill>
                <a:latin typeface="Segoe UI" pitchFamily="34" charset="0"/>
                <a:ea typeface="Segoe UI" pitchFamily="34" charset="-122"/>
                <a:cs typeface="Segoe UI" pitchFamily="34" charset="-120"/>
              </a:rPr>
              <a:t>Answers “is the journey working?”</a:t>
            </a:r>
            <a:endParaRPr lang="en-US" sz="1450" dirty="0"/>
          </a:p>
          <a:p>
            <a:pPr marL="203200" indent="-203200">
              <a:lnSpc>
                <a:spcPct val="105000"/>
              </a:lnSpc>
              <a:spcAft>
                <a:spcPts val="800"/>
              </a:spcAft>
              <a:buSzPct val="100000"/>
              <a:buChar char="•"/>
            </a:pPr>
            <a:r>
              <a:rPr lang="en-US" sz="1450" dirty="0">
                <a:solidFill>
                  <a:srgbClr val="E5EEF6"/>
                </a:solidFill>
                <a:latin typeface="Segoe UI" pitchFamily="34" charset="0"/>
                <a:ea typeface="Segoe UI" pitchFamily="34" charset="-122"/>
                <a:cs typeface="Segoe UI" pitchFamily="34" charset="-120"/>
              </a:rPr>
              <a:t>Scored per application, not per box</a:t>
            </a:r>
            <a:endParaRPr lang="en-US" sz="1450" dirty="0"/>
          </a:p>
          <a:p>
            <a:pPr marL="203200" indent="-203200">
              <a:lnSpc>
                <a:spcPct val="105000"/>
              </a:lnSpc>
              <a:buSzPct val="100000"/>
              <a:buChar char="•"/>
            </a:pPr>
            <a:r>
              <a:rPr lang="en-US" sz="1450" dirty="0">
                <a:solidFill>
                  <a:srgbClr val="E5EEF6"/>
                </a:solidFill>
                <a:latin typeface="Segoe UI" pitchFamily="34" charset="0"/>
                <a:ea typeface="Segoe UI" pitchFamily="34" charset="-122"/>
                <a:cs typeface="Segoe UI" pitchFamily="34" charset="-120"/>
              </a:rPr>
              <a:t>A number and a target everyone agrees on</a:t>
            </a:r>
            <a:endParaRPr lang="en-US" sz="1450" dirty="0"/>
          </a:p>
        </p:txBody>
      </p:sp>
      <p:sp>
        <p:nvSpPr>
          <p:cNvPr id="15" name="Text 12"/>
          <p:cNvSpPr/>
          <p:nvPr/>
        </p:nvSpPr>
        <p:spPr>
          <a:xfrm>
            <a:off x="640080" y="6473952"/>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Azure Monitor  ·  SLI / SLO Hands-On Lab</a:t>
            </a:r>
            <a:endParaRPr lang="en-US" sz="900" dirty="0"/>
          </a:p>
        </p:txBody>
      </p:sp>
      <p:sp>
        <p:nvSpPr>
          <p:cNvPr id="16" name="Text 13"/>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rect">
            <a:avLst/>
          </a:prstGeom>
          <a:solidFill>
            <a:srgbClr val="2DD4BF"/>
          </a:solidFill>
          <a:ln/>
        </p:spPr>
      </p:sp>
      <p:sp>
        <p:nvSpPr>
          <p:cNvPr id="3" name="Text 1"/>
          <p:cNvSpPr/>
          <p:nvPr/>
        </p:nvSpPr>
        <p:spPr>
          <a:xfrm>
            <a:off x="896112" y="402336"/>
            <a:ext cx="9144000" cy="320040"/>
          </a:xfrm>
          <a:prstGeom prst="rect">
            <a:avLst/>
          </a:prstGeom>
          <a:noFill/>
          <a:ln/>
        </p:spPr>
        <p:txBody>
          <a:bodyPr wrap="square" lIns="0" tIns="0" rIns="0" bIns="0" rtlCol="0" anchor="ctr"/>
          <a:lstStyle/>
          <a:p>
            <a:pPr indent="0" marL="0">
              <a:buNone/>
            </a:pPr>
            <a:r>
              <a:rPr lang="en-US" sz="1200" b="1" spc="200" kern="0" dirty="0">
                <a:solidFill>
                  <a:srgbClr val="0D9488"/>
                </a:solidFill>
                <a:latin typeface="Segoe UI" pitchFamily="34" charset="0"/>
                <a:ea typeface="Segoe UI" pitchFamily="34" charset="-122"/>
                <a:cs typeface="Segoe UI" pitchFamily="34" charset="-120"/>
              </a:rPr>
              <a:t>CONCEPT  ·  2 OF 3</a:t>
            </a:r>
            <a:endParaRPr lang="en-US" sz="1200" dirty="0"/>
          </a:p>
        </p:txBody>
      </p:sp>
      <p:sp>
        <p:nvSpPr>
          <p:cNvPr id="4" name="Text 2"/>
          <p:cNvSpPr/>
          <p:nvPr/>
        </p:nvSpPr>
        <p:spPr>
          <a:xfrm>
            <a:off x="640080" y="749808"/>
            <a:ext cx="10908792" cy="822960"/>
          </a:xfrm>
          <a:prstGeom prst="rect">
            <a:avLst/>
          </a:prstGeom>
          <a:noFill/>
          <a:ln/>
        </p:spPr>
        <p:txBody>
          <a:bodyPr wrap="square" lIns="0" tIns="0" rIns="0" bIns="0" rtlCol="0" anchor="ctr"/>
          <a:lstStyle/>
          <a:p>
            <a:pPr indent="0" marL="0">
              <a:buNone/>
            </a:pPr>
            <a:r>
              <a:rPr lang="en-US" sz="3000" b="1" dirty="0">
                <a:solidFill>
                  <a:srgbClr val="0A2540"/>
                </a:solidFill>
                <a:latin typeface="Segoe UI Semibold" pitchFamily="34" charset="0"/>
                <a:ea typeface="Segoe UI Semibold" pitchFamily="34" charset="-122"/>
                <a:cs typeface="Segoe UI Semibold" pitchFamily="34" charset="-120"/>
              </a:rPr>
              <a:t>Four ideas that connect the whole lab</a:t>
            </a:r>
            <a:endParaRPr lang="en-US" sz="3000" dirty="0"/>
          </a:p>
        </p:txBody>
      </p:sp>
      <p:sp>
        <p:nvSpPr>
          <p:cNvPr id="5" name="Shape 3"/>
          <p:cNvSpPr/>
          <p:nvPr/>
        </p:nvSpPr>
        <p:spPr>
          <a:xfrm>
            <a:off x="640080" y="2011680"/>
            <a:ext cx="2452878" cy="338328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6" name="Shape 4"/>
          <p:cNvSpPr/>
          <p:nvPr/>
        </p:nvSpPr>
        <p:spPr>
          <a:xfrm>
            <a:off x="914400" y="2304288"/>
            <a:ext cx="457200" cy="457200"/>
          </a:xfrm>
          <a:prstGeom prst="ellipse">
            <a:avLst/>
          </a:prstGeom>
          <a:solidFill>
            <a:srgbClr val="2DD4BF"/>
          </a:solidFill>
          <a:ln/>
        </p:spPr>
      </p:sp>
      <p:sp>
        <p:nvSpPr>
          <p:cNvPr id="7" name="Text 5"/>
          <p:cNvSpPr/>
          <p:nvPr/>
        </p:nvSpPr>
        <p:spPr>
          <a:xfrm>
            <a:off x="914400" y="2304288"/>
            <a:ext cx="457200" cy="457200"/>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914400" y="2926080"/>
            <a:ext cx="1904238" cy="502920"/>
          </a:xfrm>
          <a:prstGeom prst="rect">
            <a:avLst/>
          </a:prstGeom>
          <a:noFill/>
          <a:ln/>
        </p:spPr>
        <p:txBody>
          <a:bodyPr wrap="square" lIns="0" tIns="0" rIns="0" bIns="0" rtlCol="0" anchor="ctr"/>
          <a:lstStyle/>
          <a:p>
            <a:pPr indent="0" marL="0">
              <a:buNone/>
            </a:pPr>
            <a:r>
              <a:rPr lang="en-US" sz="2100" b="1" dirty="0">
                <a:solidFill>
                  <a:srgbClr val="0A2540"/>
                </a:solidFill>
                <a:latin typeface="Segoe UI Semibold" pitchFamily="34" charset="0"/>
                <a:ea typeface="Segoe UI Semibold" pitchFamily="34" charset="-122"/>
                <a:cs typeface="Segoe UI Semibold" pitchFamily="34" charset="-120"/>
              </a:rPr>
              <a:t>SLI</a:t>
            </a:r>
            <a:endParaRPr lang="en-US" sz="2100" dirty="0"/>
          </a:p>
        </p:txBody>
      </p:sp>
      <p:sp>
        <p:nvSpPr>
          <p:cNvPr id="9" name="Text 7"/>
          <p:cNvSpPr/>
          <p:nvPr/>
        </p:nvSpPr>
        <p:spPr>
          <a:xfrm>
            <a:off x="914400" y="3429000"/>
            <a:ext cx="1904238" cy="365760"/>
          </a:xfrm>
          <a:prstGeom prst="rect">
            <a:avLst/>
          </a:prstGeom>
          <a:noFill/>
          <a:ln/>
        </p:spPr>
        <p:txBody>
          <a:bodyPr wrap="square" lIns="0" tIns="0" rIns="0" bIns="0" rtlCol="0" anchor="ctr"/>
          <a:lstStyle/>
          <a:p>
            <a:pPr indent="0" marL="0">
              <a:buNone/>
            </a:pPr>
            <a:r>
              <a:rPr lang="en-US" sz="1050" b="1" spc="100" kern="0" dirty="0">
                <a:solidFill>
                  <a:srgbClr val="0D9488"/>
                </a:solidFill>
                <a:latin typeface="Segoe UI" pitchFamily="34" charset="0"/>
                <a:ea typeface="Segoe UI" pitchFamily="34" charset="-122"/>
                <a:cs typeface="Segoe UI" pitchFamily="34" charset="-120"/>
              </a:rPr>
              <a:t>SERVICE LEVEL INDICATOR</a:t>
            </a:r>
            <a:endParaRPr lang="en-US" sz="1050" dirty="0"/>
          </a:p>
        </p:txBody>
      </p:sp>
      <p:sp>
        <p:nvSpPr>
          <p:cNvPr id="10" name="Text 8"/>
          <p:cNvSpPr/>
          <p:nvPr/>
        </p:nvSpPr>
        <p:spPr>
          <a:xfrm>
            <a:off x="914400" y="3840480"/>
            <a:ext cx="1904238" cy="1371600"/>
          </a:xfrm>
          <a:prstGeom prst="rect">
            <a:avLst/>
          </a:prstGeom>
          <a:noFill/>
          <a:ln/>
        </p:spPr>
        <p:txBody>
          <a:bodyPr wrap="square" lIns="0" tIns="0" rIns="0" bIns="0" rtlCol="0" anchor="t"/>
          <a:lstStyle/>
          <a:p>
            <a:pPr indent="0" marL="0">
              <a:lnSpc>
                <a:spcPct val="112000"/>
              </a:lnSpc>
              <a:buNone/>
            </a:pPr>
            <a:r>
              <a:rPr lang="en-US" sz="1300" dirty="0">
                <a:solidFill>
                  <a:srgbClr val="1E293B"/>
                </a:solidFill>
                <a:latin typeface="Segoe UI" pitchFamily="34" charset="0"/>
                <a:ea typeface="Segoe UI" pitchFamily="34" charset="-122"/>
                <a:cs typeface="Segoe UI" pitchFamily="34" charset="-120"/>
              </a:rPr>
              <a:t>A measured signal of reliability, e.g. the % of checkout requests that succeed.</a:t>
            </a:r>
            <a:endParaRPr lang="en-US" sz="1300" dirty="0"/>
          </a:p>
        </p:txBody>
      </p:sp>
      <p:sp>
        <p:nvSpPr>
          <p:cNvPr id="11" name="Shape 9"/>
          <p:cNvSpPr/>
          <p:nvPr/>
        </p:nvSpPr>
        <p:spPr>
          <a:xfrm>
            <a:off x="3458718" y="2011680"/>
            <a:ext cx="2452878" cy="338328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12" name="Shape 10"/>
          <p:cNvSpPr/>
          <p:nvPr/>
        </p:nvSpPr>
        <p:spPr>
          <a:xfrm>
            <a:off x="3733038" y="2304288"/>
            <a:ext cx="457200" cy="457200"/>
          </a:xfrm>
          <a:prstGeom prst="ellipse">
            <a:avLst/>
          </a:prstGeom>
          <a:solidFill>
            <a:srgbClr val="2DD4BF"/>
          </a:solidFill>
          <a:ln/>
        </p:spPr>
      </p:sp>
      <p:sp>
        <p:nvSpPr>
          <p:cNvPr id="13" name="Text 11"/>
          <p:cNvSpPr/>
          <p:nvPr/>
        </p:nvSpPr>
        <p:spPr>
          <a:xfrm>
            <a:off x="3733038" y="2304288"/>
            <a:ext cx="457200" cy="457200"/>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2</a:t>
            </a:r>
            <a:endParaRPr lang="en-US" sz="1600" dirty="0"/>
          </a:p>
        </p:txBody>
      </p:sp>
      <p:sp>
        <p:nvSpPr>
          <p:cNvPr id="14" name="Text 12"/>
          <p:cNvSpPr/>
          <p:nvPr/>
        </p:nvSpPr>
        <p:spPr>
          <a:xfrm>
            <a:off x="3733038" y="2926080"/>
            <a:ext cx="1904238" cy="502920"/>
          </a:xfrm>
          <a:prstGeom prst="rect">
            <a:avLst/>
          </a:prstGeom>
          <a:noFill/>
          <a:ln/>
        </p:spPr>
        <p:txBody>
          <a:bodyPr wrap="square" lIns="0" tIns="0" rIns="0" bIns="0" rtlCol="0" anchor="ctr"/>
          <a:lstStyle/>
          <a:p>
            <a:pPr indent="0" marL="0">
              <a:buNone/>
            </a:pPr>
            <a:r>
              <a:rPr lang="en-US" sz="2100" b="1" dirty="0">
                <a:solidFill>
                  <a:srgbClr val="0A2540"/>
                </a:solidFill>
                <a:latin typeface="Segoe UI Semibold" pitchFamily="34" charset="0"/>
                <a:ea typeface="Segoe UI Semibold" pitchFamily="34" charset="-122"/>
                <a:cs typeface="Segoe UI Semibold" pitchFamily="34" charset="-120"/>
              </a:rPr>
              <a:t>SLO</a:t>
            </a:r>
            <a:endParaRPr lang="en-US" sz="2100" dirty="0"/>
          </a:p>
        </p:txBody>
      </p:sp>
      <p:sp>
        <p:nvSpPr>
          <p:cNvPr id="15" name="Text 13"/>
          <p:cNvSpPr/>
          <p:nvPr/>
        </p:nvSpPr>
        <p:spPr>
          <a:xfrm>
            <a:off x="3733038" y="3429000"/>
            <a:ext cx="1904238" cy="365760"/>
          </a:xfrm>
          <a:prstGeom prst="rect">
            <a:avLst/>
          </a:prstGeom>
          <a:noFill/>
          <a:ln/>
        </p:spPr>
        <p:txBody>
          <a:bodyPr wrap="square" lIns="0" tIns="0" rIns="0" bIns="0" rtlCol="0" anchor="ctr"/>
          <a:lstStyle/>
          <a:p>
            <a:pPr indent="0" marL="0">
              <a:buNone/>
            </a:pPr>
            <a:r>
              <a:rPr lang="en-US" sz="1050" b="1" spc="100" kern="0" dirty="0">
                <a:solidFill>
                  <a:srgbClr val="0D9488"/>
                </a:solidFill>
                <a:latin typeface="Segoe UI" pitchFamily="34" charset="0"/>
                <a:ea typeface="Segoe UI" pitchFamily="34" charset="-122"/>
                <a:cs typeface="Segoe UI" pitchFamily="34" charset="-120"/>
              </a:rPr>
              <a:t>SERVICE LEVEL OBJECTIVE</a:t>
            </a:r>
            <a:endParaRPr lang="en-US" sz="1050" dirty="0"/>
          </a:p>
        </p:txBody>
      </p:sp>
      <p:sp>
        <p:nvSpPr>
          <p:cNvPr id="16" name="Text 14"/>
          <p:cNvSpPr/>
          <p:nvPr/>
        </p:nvSpPr>
        <p:spPr>
          <a:xfrm>
            <a:off x="3733038" y="3840480"/>
            <a:ext cx="1904238" cy="1371600"/>
          </a:xfrm>
          <a:prstGeom prst="rect">
            <a:avLst/>
          </a:prstGeom>
          <a:noFill/>
          <a:ln/>
        </p:spPr>
        <p:txBody>
          <a:bodyPr wrap="square" lIns="0" tIns="0" rIns="0" bIns="0" rtlCol="0" anchor="t"/>
          <a:lstStyle/>
          <a:p>
            <a:pPr indent="0" marL="0">
              <a:lnSpc>
                <a:spcPct val="112000"/>
              </a:lnSpc>
              <a:buNone/>
            </a:pPr>
            <a:r>
              <a:rPr lang="en-US" sz="1300" dirty="0">
                <a:solidFill>
                  <a:srgbClr val="1E293B"/>
                </a:solidFill>
                <a:latin typeface="Segoe UI" pitchFamily="34" charset="0"/>
                <a:ea typeface="Segoe UI" pitchFamily="34" charset="-122"/>
                <a:cs typeface="Segoe UI" pitchFamily="34" charset="-120"/>
              </a:rPr>
              <a:t>The target for an SLI over a rolling window, e.g. 99.5% over 7 days.</a:t>
            </a:r>
            <a:endParaRPr lang="en-US" sz="1300" dirty="0"/>
          </a:p>
        </p:txBody>
      </p:sp>
      <p:sp>
        <p:nvSpPr>
          <p:cNvPr id="17" name="Shape 15"/>
          <p:cNvSpPr/>
          <p:nvPr/>
        </p:nvSpPr>
        <p:spPr>
          <a:xfrm>
            <a:off x="6277356" y="2011680"/>
            <a:ext cx="2452878" cy="338328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18" name="Shape 16"/>
          <p:cNvSpPr/>
          <p:nvPr/>
        </p:nvSpPr>
        <p:spPr>
          <a:xfrm>
            <a:off x="6551676" y="2304288"/>
            <a:ext cx="457200" cy="457200"/>
          </a:xfrm>
          <a:prstGeom prst="ellipse">
            <a:avLst/>
          </a:prstGeom>
          <a:solidFill>
            <a:srgbClr val="2DD4BF"/>
          </a:solidFill>
          <a:ln/>
        </p:spPr>
      </p:sp>
      <p:sp>
        <p:nvSpPr>
          <p:cNvPr id="19" name="Text 17"/>
          <p:cNvSpPr/>
          <p:nvPr/>
        </p:nvSpPr>
        <p:spPr>
          <a:xfrm>
            <a:off x="6551676" y="2304288"/>
            <a:ext cx="457200" cy="457200"/>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3</a:t>
            </a:r>
            <a:endParaRPr lang="en-US" sz="1600" dirty="0"/>
          </a:p>
        </p:txBody>
      </p:sp>
      <p:sp>
        <p:nvSpPr>
          <p:cNvPr id="20" name="Text 18"/>
          <p:cNvSpPr/>
          <p:nvPr/>
        </p:nvSpPr>
        <p:spPr>
          <a:xfrm>
            <a:off x="6551676" y="2926080"/>
            <a:ext cx="1904238" cy="502920"/>
          </a:xfrm>
          <a:prstGeom prst="rect">
            <a:avLst/>
          </a:prstGeom>
          <a:noFill/>
          <a:ln/>
        </p:spPr>
        <p:txBody>
          <a:bodyPr wrap="square" lIns="0" tIns="0" rIns="0" bIns="0" rtlCol="0" anchor="ctr"/>
          <a:lstStyle/>
          <a:p>
            <a:pPr indent="0" marL="0">
              <a:buNone/>
            </a:pPr>
            <a:r>
              <a:rPr lang="en-US" sz="2100" b="1" dirty="0">
                <a:solidFill>
                  <a:srgbClr val="0A2540"/>
                </a:solidFill>
                <a:latin typeface="Segoe UI Semibold" pitchFamily="34" charset="0"/>
                <a:ea typeface="Segoe UI Semibold" pitchFamily="34" charset="-122"/>
                <a:cs typeface="Segoe UI Semibold" pitchFamily="34" charset="-120"/>
              </a:rPr>
              <a:t>Error budget</a:t>
            </a:r>
            <a:endParaRPr lang="en-US" sz="2100" dirty="0"/>
          </a:p>
        </p:txBody>
      </p:sp>
      <p:sp>
        <p:nvSpPr>
          <p:cNvPr id="21" name="Text 19"/>
          <p:cNvSpPr/>
          <p:nvPr/>
        </p:nvSpPr>
        <p:spPr>
          <a:xfrm>
            <a:off x="6551676" y="3429000"/>
            <a:ext cx="1904238" cy="365760"/>
          </a:xfrm>
          <a:prstGeom prst="rect">
            <a:avLst/>
          </a:prstGeom>
          <a:noFill/>
          <a:ln/>
        </p:spPr>
        <p:txBody>
          <a:bodyPr wrap="square" lIns="0" tIns="0" rIns="0" bIns="0" rtlCol="0" anchor="ctr"/>
          <a:lstStyle/>
          <a:p>
            <a:pPr indent="0" marL="0">
              <a:buNone/>
            </a:pPr>
            <a:r>
              <a:rPr lang="en-US" sz="1050" b="1" spc="100" kern="0" dirty="0">
                <a:solidFill>
                  <a:srgbClr val="0D9488"/>
                </a:solidFill>
                <a:latin typeface="Segoe UI" pitchFamily="34" charset="0"/>
                <a:ea typeface="Segoe UI" pitchFamily="34" charset="-122"/>
                <a:cs typeface="Segoe UI" pitchFamily="34" charset="-120"/>
              </a:rPr>
              <a:t>100% − SLO</a:t>
            </a:r>
            <a:endParaRPr lang="en-US" sz="1050" dirty="0"/>
          </a:p>
        </p:txBody>
      </p:sp>
      <p:sp>
        <p:nvSpPr>
          <p:cNvPr id="22" name="Text 20"/>
          <p:cNvSpPr/>
          <p:nvPr/>
        </p:nvSpPr>
        <p:spPr>
          <a:xfrm>
            <a:off x="6551676" y="3840480"/>
            <a:ext cx="1904238" cy="1371600"/>
          </a:xfrm>
          <a:prstGeom prst="rect">
            <a:avLst/>
          </a:prstGeom>
          <a:noFill/>
          <a:ln/>
        </p:spPr>
        <p:txBody>
          <a:bodyPr wrap="square" lIns="0" tIns="0" rIns="0" bIns="0" rtlCol="0" anchor="t"/>
          <a:lstStyle/>
          <a:p>
            <a:pPr indent="0" marL="0">
              <a:lnSpc>
                <a:spcPct val="112000"/>
              </a:lnSpc>
              <a:buNone/>
            </a:pPr>
            <a:r>
              <a:rPr lang="en-US" sz="1300" dirty="0">
                <a:solidFill>
                  <a:srgbClr val="1E293B"/>
                </a:solidFill>
                <a:latin typeface="Segoe UI" pitchFamily="34" charset="0"/>
                <a:ea typeface="Segoe UI" pitchFamily="34" charset="-122"/>
                <a:cs typeface="Segoe UI" pitchFamily="34" charset="-120"/>
              </a:rPr>
              <a:t>The failure you are allowed. At 99.5% the budget is 0.5%.</a:t>
            </a:r>
            <a:endParaRPr lang="en-US" sz="1300" dirty="0"/>
          </a:p>
        </p:txBody>
      </p:sp>
      <p:sp>
        <p:nvSpPr>
          <p:cNvPr id="23" name="Shape 21"/>
          <p:cNvSpPr/>
          <p:nvPr/>
        </p:nvSpPr>
        <p:spPr>
          <a:xfrm>
            <a:off x="9095994" y="2011680"/>
            <a:ext cx="2452878" cy="338328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24" name="Shape 22"/>
          <p:cNvSpPr/>
          <p:nvPr/>
        </p:nvSpPr>
        <p:spPr>
          <a:xfrm>
            <a:off x="9370314" y="2304288"/>
            <a:ext cx="457200" cy="457200"/>
          </a:xfrm>
          <a:prstGeom prst="ellipse">
            <a:avLst/>
          </a:prstGeom>
          <a:solidFill>
            <a:srgbClr val="2DD4BF"/>
          </a:solidFill>
          <a:ln/>
        </p:spPr>
      </p:sp>
      <p:sp>
        <p:nvSpPr>
          <p:cNvPr id="25" name="Text 23"/>
          <p:cNvSpPr/>
          <p:nvPr/>
        </p:nvSpPr>
        <p:spPr>
          <a:xfrm>
            <a:off x="9370314" y="2304288"/>
            <a:ext cx="457200" cy="457200"/>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4</a:t>
            </a:r>
            <a:endParaRPr lang="en-US" sz="1600" dirty="0"/>
          </a:p>
        </p:txBody>
      </p:sp>
      <p:sp>
        <p:nvSpPr>
          <p:cNvPr id="26" name="Text 24"/>
          <p:cNvSpPr/>
          <p:nvPr/>
        </p:nvSpPr>
        <p:spPr>
          <a:xfrm>
            <a:off x="9370314" y="2926080"/>
            <a:ext cx="1904238" cy="502920"/>
          </a:xfrm>
          <a:prstGeom prst="rect">
            <a:avLst/>
          </a:prstGeom>
          <a:noFill/>
          <a:ln/>
        </p:spPr>
        <p:txBody>
          <a:bodyPr wrap="square" lIns="0" tIns="0" rIns="0" bIns="0" rtlCol="0" anchor="ctr"/>
          <a:lstStyle/>
          <a:p>
            <a:pPr indent="0" marL="0">
              <a:buNone/>
            </a:pPr>
            <a:r>
              <a:rPr lang="en-US" sz="2100" b="1" dirty="0">
                <a:solidFill>
                  <a:srgbClr val="0A2540"/>
                </a:solidFill>
                <a:latin typeface="Segoe UI Semibold" pitchFamily="34" charset="0"/>
                <a:ea typeface="Segoe UI Semibold" pitchFamily="34" charset="-122"/>
                <a:cs typeface="Segoe UI Semibold" pitchFamily="34" charset="-120"/>
              </a:rPr>
              <a:t>Burn rate</a:t>
            </a:r>
            <a:endParaRPr lang="en-US" sz="2100" dirty="0"/>
          </a:p>
        </p:txBody>
      </p:sp>
      <p:sp>
        <p:nvSpPr>
          <p:cNvPr id="27" name="Text 25"/>
          <p:cNvSpPr/>
          <p:nvPr/>
        </p:nvSpPr>
        <p:spPr>
          <a:xfrm>
            <a:off x="9370314" y="3429000"/>
            <a:ext cx="1904238" cy="365760"/>
          </a:xfrm>
          <a:prstGeom prst="rect">
            <a:avLst/>
          </a:prstGeom>
          <a:noFill/>
          <a:ln/>
        </p:spPr>
        <p:txBody>
          <a:bodyPr wrap="square" lIns="0" tIns="0" rIns="0" bIns="0" rtlCol="0" anchor="ctr"/>
          <a:lstStyle/>
          <a:p>
            <a:pPr indent="0" marL="0">
              <a:buNone/>
            </a:pPr>
            <a:r>
              <a:rPr lang="en-US" sz="1050" b="1" spc="100" kern="0" dirty="0">
                <a:solidFill>
                  <a:srgbClr val="0D9488"/>
                </a:solidFill>
                <a:latin typeface="Segoe UI" pitchFamily="34" charset="0"/>
                <a:ea typeface="Segoe UI" pitchFamily="34" charset="-122"/>
                <a:cs typeface="Segoe UI" pitchFamily="34" charset="-120"/>
              </a:rPr>
              <a:t>BUDGET SPEND SPEED</a:t>
            </a:r>
            <a:endParaRPr lang="en-US" sz="1050" dirty="0"/>
          </a:p>
        </p:txBody>
      </p:sp>
      <p:sp>
        <p:nvSpPr>
          <p:cNvPr id="28" name="Text 26"/>
          <p:cNvSpPr/>
          <p:nvPr/>
        </p:nvSpPr>
        <p:spPr>
          <a:xfrm>
            <a:off x="9370314" y="3840480"/>
            <a:ext cx="1904238" cy="1371600"/>
          </a:xfrm>
          <a:prstGeom prst="rect">
            <a:avLst/>
          </a:prstGeom>
          <a:noFill/>
          <a:ln/>
        </p:spPr>
        <p:txBody>
          <a:bodyPr wrap="square" lIns="0" tIns="0" rIns="0" bIns="0" rtlCol="0" anchor="t"/>
          <a:lstStyle/>
          <a:p>
            <a:pPr indent="0" marL="0">
              <a:lnSpc>
                <a:spcPct val="112000"/>
              </a:lnSpc>
              <a:buNone/>
            </a:pPr>
            <a:r>
              <a:rPr lang="en-US" sz="1300" dirty="0">
                <a:solidFill>
                  <a:srgbClr val="1E293B"/>
                </a:solidFill>
                <a:latin typeface="Segoe UI" pitchFamily="34" charset="0"/>
                <a:ea typeface="Segoe UI" pitchFamily="34" charset="-122"/>
                <a:cs typeface="Segoe UI" pitchFamily="34" charset="-120"/>
              </a:rPr>
              <a:t>1x uses the whole budget by the window's end; spikes trigger alerts.</a:t>
            </a:r>
            <a:endParaRPr lang="en-US" sz="1300" dirty="0"/>
          </a:p>
        </p:txBody>
      </p:sp>
      <p:sp>
        <p:nvSpPr>
          <p:cNvPr id="29" name="Text 27"/>
          <p:cNvSpPr/>
          <p:nvPr/>
        </p:nvSpPr>
        <p:spPr>
          <a:xfrm>
            <a:off x="640080" y="5577840"/>
            <a:ext cx="10908792" cy="365760"/>
          </a:xfrm>
          <a:prstGeom prst="rect">
            <a:avLst/>
          </a:prstGeom>
          <a:noFill/>
          <a:ln/>
        </p:spPr>
        <p:txBody>
          <a:bodyPr wrap="square" lIns="0" tIns="0" rIns="0" bIns="0" rtlCol="0" anchor="ctr"/>
          <a:lstStyle/>
          <a:p>
            <a:pPr indent="0" marL="0">
              <a:buNone/>
            </a:pPr>
            <a:r>
              <a:rPr lang="en-US" sz="1250" i="1" dirty="0">
                <a:solidFill>
                  <a:srgbClr val="64748B"/>
                </a:solidFill>
                <a:latin typeface="Segoe UI" pitchFamily="34" charset="0"/>
                <a:ea typeface="Segoe UI" pitchFamily="34" charset="-122"/>
                <a:cs typeface="Segoe UI" pitchFamily="34" charset="-120"/>
              </a:rPr>
              <a:t>The error budget is the connective tissue: it decides when to alert, when to investigate, and when to ship vs. stabilize.</a:t>
            </a:r>
            <a:endParaRPr lang="en-US" sz="1250" dirty="0"/>
          </a:p>
        </p:txBody>
      </p:sp>
      <p:sp>
        <p:nvSpPr>
          <p:cNvPr id="31" name="Text 28"/>
          <p:cNvSpPr/>
          <p:nvPr/>
        </p:nvSpPr>
        <p:spPr>
          <a:xfrm>
            <a:off x="640080" y="6473952"/>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Azure Monitor  ·  SLI / SLO Hands-On Lab</a:t>
            </a:r>
            <a:endParaRPr lang="en-US" sz="900" dirty="0"/>
          </a:p>
        </p:txBody>
      </p:sp>
      <p:sp>
        <p:nvSpPr>
          <p:cNvPr id="32" name="Text 29"/>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rect">
            <a:avLst/>
          </a:prstGeom>
          <a:solidFill>
            <a:srgbClr val="2DD4BF"/>
          </a:solidFill>
          <a:ln/>
        </p:spPr>
      </p:sp>
      <p:sp>
        <p:nvSpPr>
          <p:cNvPr id="3" name="Text 1"/>
          <p:cNvSpPr/>
          <p:nvPr/>
        </p:nvSpPr>
        <p:spPr>
          <a:xfrm>
            <a:off x="896112" y="402336"/>
            <a:ext cx="9144000" cy="320040"/>
          </a:xfrm>
          <a:prstGeom prst="rect">
            <a:avLst/>
          </a:prstGeom>
          <a:noFill/>
          <a:ln/>
        </p:spPr>
        <p:txBody>
          <a:bodyPr wrap="square" lIns="0" tIns="0" rIns="0" bIns="0" rtlCol="0" anchor="ctr"/>
          <a:lstStyle/>
          <a:p>
            <a:pPr indent="0" marL="0">
              <a:buNone/>
            </a:pPr>
            <a:r>
              <a:rPr lang="en-US" sz="1200" b="1" spc="200" kern="0" dirty="0">
                <a:solidFill>
                  <a:srgbClr val="0D9488"/>
                </a:solidFill>
                <a:latin typeface="Segoe UI" pitchFamily="34" charset="0"/>
                <a:ea typeface="Segoe UI" pitchFamily="34" charset="-122"/>
                <a:cs typeface="Segoe UI" pitchFamily="34" charset="-120"/>
              </a:rPr>
              <a:t>CONCEPT  ·  3 OF 3</a:t>
            </a:r>
            <a:endParaRPr lang="en-US" sz="1200" dirty="0"/>
          </a:p>
        </p:txBody>
      </p:sp>
      <p:sp>
        <p:nvSpPr>
          <p:cNvPr id="4" name="Text 2"/>
          <p:cNvSpPr/>
          <p:nvPr/>
        </p:nvSpPr>
        <p:spPr>
          <a:xfrm>
            <a:off x="640080" y="749808"/>
            <a:ext cx="10908792" cy="822960"/>
          </a:xfrm>
          <a:prstGeom prst="rect">
            <a:avLst/>
          </a:prstGeom>
          <a:noFill/>
          <a:ln/>
        </p:spPr>
        <p:txBody>
          <a:bodyPr wrap="square" lIns="0" tIns="0" rIns="0" bIns="0" rtlCol="0" anchor="ctr"/>
          <a:lstStyle/>
          <a:p>
            <a:pPr indent="0" marL="0">
              <a:buNone/>
            </a:pPr>
            <a:r>
              <a:rPr lang="en-US" sz="3000" b="1" dirty="0">
                <a:solidFill>
                  <a:srgbClr val="0A2540"/>
                </a:solidFill>
                <a:latin typeface="Segoe UI Semibold" pitchFamily="34" charset="0"/>
                <a:ea typeface="Segoe UI Semibold" pitchFamily="34" charset="-122"/>
                <a:cs typeface="Segoe UI Semibold" pitchFamily="34" charset="-120"/>
              </a:rPr>
              <a:t>The scenario: a mission-critical online store</a:t>
            </a:r>
            <a:endParaRPr lang="en-US" sz="3000" dirty="0"/>
          </a:p>
        </p:txBody>
      </p:sp>
      <p:sp>
        <p:nvSpPr>
          <p:cNvPr id="5" name="Text 3"/>
          <p:cNvSpPr/>
          <p:nvPr/>
        </p:nvSpPr>
        <p:spPr>
          <a:xfrm>
            <a:off x="640080" y="1554480"/>
            <a:ext cx="10908792" cy="457200"/>
          </a:xfrm>
          <a:prstGeom prst="rect">
            <a:avLst/>
          </a:prstGeom>
          <a:noFill/>
          <a:ln/>
        </p:spPr>
        <p:txBody>
          <a:bodyPr wrap="square" lIns="0" tIns="0" rIns="0" bIns="0" rtlCol="0" anchor="ctr"/>
          <a:lstStyle/>
          <a:p>
            <a:pPr indent="0" marL="0">
              <a:buNone/>
            </a:pPr>
            <a:r>
              <a:rPr lang="en-US" sz="1500" dirty="0">
                <a:solidFill>
                  <a:srgbClr val="64748B"/>
                </a:solidFill>
                <a:latin typeface="Segoe UI" pitchFamily="34" charset="0"/>
                <a:ea typeface="Segoe UI" pitchFamily="34" charset="-122"/>
                <a:cs typeface="Segoe UI" pitchFamily="34" charset="-120"/>
              </a:rPr>
              <a:t>An e-commerce app with Login and Checkout services, grouped into one Service Group (CheckoutSG) and measured by three SLIs.</a:t>
            </a:r>
            <a:endParaRPr lang="en-US" sz="1500" dirty="0"/>
          </a:p>
        </p:txBody>
      </p:sp>
      <p:sp>
        <p:nvSpPr>
          <p:cNvPr id="6" name="Shape 4"/>
          <p:cNvSpPr/>
          <p:nvPr/>
        </p:nvSpPr>
        <p:spPr>
          <a:xfrm>
            <a:off x="640080" y="2286000"/>
            <a:ext cx="3392424" cy="246888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7" name="Shape 5"/>
          <p:cNvSpPr/>
          <p:nvPr/>
        </p:nvSpPr>
        <p:spPr>
          <a:xfrm>
            <a:off x="640080" y="2286000"/>
            <a:ext cx="109728" cy="2468880"/>
          </a:xfrm>
          <a:prstGeom prst="rect">
            <a:avLst/>
          </a:prstGeom>
          <a:solidFill>
            <a:srgbClr val="2DD4BF"/>
          </a:solidFill>
          <a:ln/>
        </p:spPr>
      </p:sp>
      <p:sp>
        <p:nvSpPr>
          <p:cNvPr id="8" name="Text 6"/>
          <p:cNvSpPr/>
          <p:nvPr/>
        </p:nvSpPr>
        <p:spPr>
          <a:xfrm>
            <a:off x="960120" y="2560320"/>
            <a:ext cx="2843784" cy="365760"/>
          </a:xfrm>
          <a:prstGeom prst="rect">
            <a:avLst/>
          </a:prstGeom>
          <a:noFill/>
          <a:ln/>
        </p:spPr>
        <p:txBody>
          <a:bodyPr wrap="square" lIns="0" tIns="0" rIns="0" bIns="0" rtlCol="0" anchor="ctr"/>
          <a:lstStyle/>
          <a:p>
            <a:pPr indent="0" marL="0">
              <a:buNone/>
            </a:pPr>
            <a:r>
              <a:rPr lang="en-US" sz="1700" b="1" dirty="0">
                <a:solidFill>
                  <a:srgbClr val="0A2540"/>
                </a:solidFill>
                <a:latin typeface="Segoe UI Semibold" pitchFamily="34" charset="0"/>
                <a:ea typeface="Segoe UI Semibold" pitchFamily="34" charset="-122"/>
                <a:cs typeface="Segoe UI Semibold" pitchFamily="34" charset="-120"/>
              </a:rPr>
              <a:t>Availability SLI</a:t>
            </a:r>
            <a:endParaRPr lang="en-US" sz="1700" dirty="0"/>
          </a:p>
        </p:txBody>
      </p:sp>
      <p:sp>
        <p:nvSpPr>
          <p:cNvPr id="9" name="Text 7"/>
          <p:cNvSpPr/>
          <p:nvPr/>
        </p:nvSpPr>
        <p:spPr>
          <a:xfrm>
            <a:off x="960120" y="2999232"/>
            <a:ext cx="2843784" cy="320040"/>
          </a:xfrm>
          <a:prstGeom prst="rect">
            <a:avLst/>
          </a:prstGeom>
          <a:noFill/>
          <a:ln/>
        </p:spPr>
        <p:txBody>
          <a:bodyPr wrap="square" lIns="0" tIns="0" rIns="0" bIns="0" rtlCol="0" anchor="ctr"/>
          <a:lstStyle/>
          <a:p>
            <a:pPr indent="0" marL="0">
              <a:buNone/>
            </a:pPr>
            <a:r>
              <a:rPr lang="en-US" sz="1100" b="1" spc="100" kern="0" dirty="0">
                <a:solidFill>
                  <a:srgbClr val="0D9488"/>
                </a:solidFill>
                <a:latin typeface="Segoe UI" pitchFamily="34" charset="0"/>
                <a:ea typeface="Segoe UI" pitchFamily="34" charset="-122"/>
                <a:cs typeface="Segoe UI" pitchFamily="34" charset="-120"/>
              </a:rPr>
              <a:t>CHECKOUT</a:t>
            </a:r>
            <a:endParaRPr lang="en-US" sz="1100" dirty="0"/>
          </a:p>
        </p:txBody>
      </p:sp>
      <p:sp>
        <p:nvSpPr>
          <p:cNvPr id="10" name="Text 8"/>
          <p:cNvSpPr/>
          <p:nvPr/>
        </p:nvSpPr>
        <p:spPr>
          <a:xfrm>
            <a:off x="960120" y="3383280"/>
            <a:ext cx="2798064" cy="1188720"/>
          </a:xfrm>
          <a:prstGeom prst="rect">
            <a:avLst/>
          </a:prstGeom>
          <a:noFill/>
          <a:ln/>
        </p:spPr>
        <p:txBody>
          <a:bodyPr wrap="square" lIns="0" tIns="0" rIns="0" bIns="0" rtlCol="0" anchor="t"/>
          <a:lstStyle/>
          <a:p>
            <a:pPr indent="0" marL="0">
              <a:lnSpc>
                <a:spcPct val="112000"/>
              </a:lnSpc>
              <a:buNone/>
            </a:pPr>
            <a:r>
              <a:rPr lang="en-US" sz="1300" dirty="0">
                <a:solidFill>
                  <a:srgbClr val="1E293B"/>
                </a:solidFill>
                <a:latin typeface="Segoe UI" pitchFamily="34" charset="0"/>
                <a:ea typeface="Segoe UI" pitchFamily="34" charset="-122"/>
                <a:cs typeface="Segoe UI" pitchFamily="34" charset="-120"/>
              </a:rPr>
              <a:t>% of checkout requests returning success (2xx). Target 99.5%.</a:t>
            </a:r>
            <a:endParaRPr lang="en-US" sz="1300" dirty="0"/>
          </a:p>
        </p:txBody>
      </p:sp>
      <p:sp>
        <p:nvSpPr>
          <p:cNvPr id="11" name="Shape 9"/>
          <p:cNvSpPr/>
          <p:nvPr/>
        </p:nvSpPr>
        <p:spPr>
          <a:xfrm>
            <a:off x="4398264" y="2286000"/>
            <a:ext cx="3392424" cy="246888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12" name="Shape 10"/>
          <p:cNvSpPr/>
          <p:nvPr/>
        </p:nvSpPr>
        <p:spPr>
          <a:xfrm>
            <a:off x="4398264" y="2286000"/>
            <a:ext cx="109728" cy="2468880"/>
          </a:xfrm>
          <a:prstGeom prst="rect">
            <a:avLst/>
          </a:prstGeom>
          <a:solidFill>
            <a:srgbClr val="2DD4BF"/>
          </a:solidFill>
          <a:ln/>
        </p:spPr>
      </p:sp>
      <p:sp>
        <p:nvSpPr>
          <p:cNvPr id="13" name="Text 11"/>
          <p:cNvSpPr/>
          <p:nvPr/>
        </p:nvSpPr>
        <p:spPr>
          <a:xfrm>
            <a:off x="4718304" y="2560320"/>
            <a:ext cx="2843784" cy="365760"/>
          </a:xfrm>
          <a:prstGeom prst="rect">
            <a:avLst/>
          </a:prstGeom>
          <a:noFill/>
          <a:ln/>
        </p:spPr>
        <p:txBody>
          <a:bodyPr wrap="square" lIns="0" tIns="0" rIns="0" bIns="0" rtlCol="0" anchor="ctr"/>
          <a:lstStyle/>
          <a:p>
            <a:pPr indent="0" marL="0">
              <a:buNone/>
            </a:pPr>
            <a:r>
              <a:rPr lang="en-US" sz="1700" b="1" dirty="0">
                <a:solidFill>
                  <a:srgbClr val="0A2540"/>
                </a:solidFill>
                <a:latin typeface="Segoe UI Semibold" pitchFamily="34" charset="0"/>
                <a:ea typeface="Segoe UI Semibold" pitchFamily="34" charset="-122"/>
                <a:cs typeface="Segoe UI Semibold" pitchFamily="34" charset="-120"/>
              </a:rPr>
              <a:t>Latency SLI</a:t>
            </a:r>
            <a:endParaRPr lang="en-US" sz="1700" dirty="0"/>
          </a:p>
        </p:txBody>
      </p:sp>
      <p:sp>
        <p:nvSpPr>
          <p:cNvPr id="14" name="Text 12"/>
          <p:cNvSpPr/>
          <p:nvPr/>
        </p:nvSpPr>
        <p:spPr>
          <a:xfrm>
            <a:off x="4718304" y="2999232"/>
            <a:ext cx="2843784" cy="320040"/>
          </a:xfrm>
          <a:prstGeom prst="rect">
            <a:avLst/>
          </a:prstGeom>
          <a:noFill/>
          <a:ln/>
        </p:spPr>
        <p:txBody>
          <a:bodyPr wrap="square" lIns="0" tIns="0" rIns="0" bIns="0" rtlCol="0" anchor="ctr"/>
          <a:lstStyle/>
          <a:p>
            <a:pPr indent="0" marL="0">
              <a:buNone/>
            </a:pPr>
            <a:r>
              <a:rPr lang="en-US" sz="1100" b="1" spc="100" kern="0" dirty="0">
                <a:solidFill>
                  <a:srgbClr val="0D9488"/>
                </a:solidFill>
                <a:latin typeface="Segoe UI" pitchFamily="34" charset="0"/>
                <a:ea typeface="Segoe UI" pitchFamily="34" charset="-122"/>
                <a:cs typeface="Segoe UI" pitchFamily="34" charset="-120"/>
              </a:rPr>
              <a:t>LOGIN</a:t>
            </a:r>
            <a:endParaRPr lang="en-US" sz="1100" dirty="0"/>
          </a:p>
        </p:txBody>
      </p:sp>
      <p:sp>
        <p:nvSpPr>
          <p:cNvPr id="15" name="Text 13"/>
          <p:cNvSpPr/>
          <p:nvPr/>
        </p:nvSpPr>
        <p:spPr>
          <a:xfrm>
            <a:off x="4718304" y="3383280"/>
            <a:ext cx="2798064" cy="1188720"/>
          </a:xfrm>
          <a:prstGeom prst="rect">
            <a:avLst/>
          </a:prstGeom>
          <a:noFill/>
          <a:ln/>
        </p:spPr>
        <p:txBody>
          <a:bodyPr wrap="square" lIns="0" tIns="0" rIns="0" bIns="0" rtlCol="0" anchor="t"/>
          <a:lstStyle/>
          <a:p>
            <a:pPr indent="0" marL="0">
              <a:lnSpc>
                <a:spcPct val="112000"/>
              </a:lnSpc>
              <a:buNone/>
            </a:pPr>
            <a:r>
              <a:rPr lang="en-US" sz="1300" dirty="0">
                <a:solidFill>
                  <a:srgbClr val="1E293B"/>
                </a:solidFill>
                <a:latin typeface="Segoe UI" pitchFamily="34" charset="0"/>
                <a:ea typeface="Segoe UI" pitchFamily="34" charset="-122"/>
                <a:cs typeface="Segoe UI" pitchFamily="34" charset="-120"/>
              </a:rPr>
              <a:t>% of login requests completing under 300 ms. Target 99.5%.</a:t>
            </a:r>
            <a:endParaRPr lang="en-US" sz="1300" dirty="0"/>
          </a:p>
        </p:txBody>
      </p:sp>
      <p:sp>
        <p:nvSpPr>
          <p:cNvPr id="16" name="Shape 14"/>
          <p:cNvSpPr/>
          <p:nvPr/>
        </p:nvSpPr>
        <p:spPr>
          <a:xfrm>
            <a:off x="8156448" y="2286000"/>
            <a:ext cx="3392424" cy="246888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17" name="Shape 15"/>
          <p:cNvSpPr/>
          <p:nvPr/>
        </p:nvSpPr>
        <p:spPr>
          <a:xfrm>
            <a:off x="8156448" y="2286000"/>
            <a:ext cx="109728" cy="2468880"/>
          </a:xfrm>
          <a:prstGeom prst="rect">
            <a:avLst/>
          </a:prstGeom>
          <a:solidFill>
            <a:srgbClr val="2DD4BF"/>
          </a:solidFill>
          <a:ln/>
        </p:spPr>
      </p:sp>
      <p:sp>
        <p:nvSpPr>
          <p:cNvPr id="18" name="Text 16"/>
          <p:cNvSpPr/>
          <p:nvPr/>
        </p:nvSpPr>
        <p:spPr>
          <a:xfrm>
            <a:off x="8476488" y="2560320"/>
            <a:ext cx="2843784" cy="365760"/>
          </a:xfrm>
          <a:prstGeom prst="rect">
            <a:avLst/>
          </a:prstGeom>
          <a:noFill/>
          <a:ln/>
        </p:spPr>
        <p:txBody>
          <a:bodyPr wrap="square" lIns="0" tIns="0" rIns="0" bIns="0" rtlCol="0" anchor="ctr"/>
          <a:lstStyle/>
          <a:p>
            <a:pPr indent="0" marL="0">
              <a:buNone/>
            </a:pPr>
            <a:r>
              <a:rPr lang="en-US" sz="1700" b="1" dirty="0">
                <a:solidFill>
                  <a:srgbClr val="0A2540"/>
                </a:solidFill>
                <a:latin typeface="Segoe UI Semibold" pitchFamily="34" charset="0"/>
                <a:ea typeface="Segoe UI Semibold" pitchFamily="34" charset="-122"/>
                <a:cs typeface="Segoe UI Semibold" pitchFamily="34" charset="-120"/>
              </a:rPr>
              <a:t>Dependency SLI</a:t>
            </a:r>
            <a:endParaRPr lang="en-US" sz="1700" dirty="0"/>
          </a:p>
        </p:txBody>
      </p:sp>
      <p:sp>
        <p:nvSpPr>
          <p:cNvPr id="19" name="Text 17"/>
          <p:cNvSpPr/>
          <p:nvPr/>
        </p:nvSpPr>
        <p:spPr>
          <a:xfrm>
            <a:off x="8476488" y="2999232"/>
            <a:ext cx="2843784" cy="320040"/>
          </a:xfrm>
          <a:prstGeom prst="rect">
            <a:avLst/>
          </a:prstGeom>
          <a:noFill/>
          <a:ln/>
        </p:spPr>
        <p:txBody>
          <a:bodyPr wrap="square" lIns="0" tIns="0" rIns="0" bIns="0" rtlCol="0" anchor="ctr"/>
          <a:lstStyle/>
          <a:p>
            <a:pPr indent="0" marL="0">
              <a:buNone/>
            </a:pPr>
            <a:r>
              <a:rPr lang="en-US" sz="1100" b="1" spc="100" kern="0" dirty="0">
                <a:solidFill>
                  <a:srgbClr val="0D9488"/>
                </a:solidFill>
                <a:latin typeface="Segoe UI" pitchFamily="34" charset="0"/>
                <a:ea typeface="Segoe UI" pitchFamily="34" charset="-122"/>
                <a:cs typeface="Segoe UI" pitchFamily="34" charset="-120"/>
              </a:rPr>
              <a:t>PAYMENT PROVIDER</a:t>
            </a:r>
            <a:endParaRPr lang="en-US" sz="1100" dirty="0"/>
          </a:p>
        </p:txBody>
      </p:sp>
      <p:sp>
        <p:nvSpPr>
          <p:cNvPr id="20" name="Text 18"/>
          <p:cNvSpPr/>
          <p:nvPr/>
        </p:nvSpPr>
        <p:spPr>
          <a:xfrm>
            <a:off x="8476488" y="3383280"/>
            <a:ext cx="2798064" cy="1188720"/>
          </a:xfrm>
          <a:prstGeom prst="rect">
            <a:avLst/>
          </a:prstGeom>
          <a:noFill/>
          <a:ln/>
        </p:spPr>
        <p:txBody>
          <a:bodyPr wrap="square" lIns="0" tIns="0" rIns="0" bIns="0" rtlCol="0" anchor="t"/>
          <a:lstStyle/>
          <a:p>
            <a:pPr indent="0" marL="0">
              <a:lnSpc>
                <a:spcPct val="112000"/>
              </a:lnSpc>
              <a:buNone/>
            </a:pPr>
            <a:r>
              <a:rPr lang="en-US" sz="1300" dirty="0">
                <a:solidFill>
                  <a:srgbClr val="1E293B"/>
                </a:solidFill>
                <a:latin typeface="Segoe UI" pitchFamily="34" charset="0"/>
                <a:ea typeface="Segoe UI" pitchFamily="34" charset="-122"/>
                <a:cs typeface="Segoe UI" pitchFamily="34" charset="-120"/>
              </a:rPr>
              <a:t>% of payment-provider calls that succeed. Target 99.5%.</a:t>
            </a:r>
            <a:endParaRPr lang="en-US" sz="1300" dirty="0"/>
          </a:p>
        </p:txBody>
      </p:sp>
      <p:sp>
        <p:nvSpPr>
          <p:cNvPr id="21" name="Shape 19"/>
          <p:cNvSpPr/>
          <p:nvPr/>
        </p:nvSpPr>
        <p:spPr>
          <a:xfrm>
            <a:off x="640080" y="5074920"/>
            <a:ext cx="10908792" cy="713232"/>
          </a:xfrm>
          <a:prstGeom prst="roundRect">
            <a:avLst>
              <a:gd name="adj" fmla="val 10256"/>
            </a:avLst>
          </a:prstGeom>
          <a:solidFill>
            <a:srgbClr val="0A2540"/>
          </a:solidFill>
          <a:ln/>
        </p:spPr>
      </p:sp>
      <p:sp>
        <p:nvSpPr>
          <p:cNvPr id="22" name="Text 20"/>
          <p:cNvSpPr/>
          <p:nvPr/>
        </p:nvSpPr>
        <p:spPr>
          <a:xfrm>
            <a:off x="1005840" y="5074920"/>
            <a:ext cx="10177272" cy="713232"/>
          </a:xfrm>
          <a:prstGeom prst="rect">
            <a:avLst/>
          </a:prstGeom>
          <a:noFill/>
          <a:ln/>
        </p:spPr>
        <p:txBody>
          <a:bodyPr wrap="square" lIns="0" tIns="0" rIns="0" bIns="0" rtlCol="0" anchor="ctr"/>
          <a:lstStyle/>
          <a:p>
            <a:pPr indent="0" marL="0">
              <a:buNone/>
            </a:pPr>
            <a:r>
              <a:rPr lang="en-US" sz="1350" b="1" dirty="0">
                <a:solidFill>
                  <a:srgbClr val="2DD4BF"/>
                </a:solidFill>
                <a:latin typeface="Segoe UI Semibold" pitchFamily="34" charset="0"/>
                <a:ea typeface="Segoe UI Semibold" pitchFamily="34" charset="-122"/>
                <a:cs typeface="Segoe UI Semibold" pitchFamily="34" charset="-120"/>
              </a:rPr>
              <a:t>SLO baseline  </a:t>
            </a:r>
            <a:pPr indent="0" marL="0">
              <a:buNone/>
            </a:pPr>
            <a:r>
              <a:rPr lang="en-US" sz="1350" dirty="0">
                <a:solidFill>
                  <a:srgbClr val="E5EEF6"/>
                </a:solidFill>
                <a:latin typeface="Segoe UI" pitchFamily="34" charset="0"/>
                <a:ea typeface="Segoe UI" pitchFamily="34" charset="-122"/>
                <a:cs typeface="Segoe UI" pitchFamily="34" charset="-120"/>
              </a:rPr>
              <a:t>99.5% over rolling 7 / 30 days</a:t>
            </a:r>
            <a:pPr indent="0" marL="0">
              <a:buNone/>
            </a:pPr>
            <a:r>
              <a:rPr lang="en-US" sz="1350" b="1" dirty="0">
                <a:solidFill>
                  <a:srgbClr val="2DD4BF"/>
                </a:solidFill>
                <a:latin typeface="Segoe UI Semibold" pitchFamily="34" charset="0"/>
                <a:ea typeface="Segoe UI Semibold" pitchFamily="34" charset="-122"/>
                <a:cs typeface="Segoe UI Semibold" pitchFamily="34" charset="-120"/>
              </a:rPr>
              <a:t>        Alerting  </a:t>
            </a:r>
            <a:pPr indent="0" marL="0">
              <a:buNone/>
            </a:pPr>
            <a:r>
              <a:rPr lang="en-US" sz="1350" dirty="0">
                <a:solidFill>
                  <a:srgbClr val="E5EEF6"/>
                </a:solidFill>
                <a:latin typeface="Segoe UI" pitchFamily="34" charset="0"/>
                <a:ea typeface="Segoe UI" pitchFamily="34" charset="-122"/>
                <a:cs typeface="Segoe UI" pitchFamily="34" charset="-120"/>
              </a:rPr>
              <a:t>baseline + fast-burn + slow-burn to action groups</a:t>
            </a:r>
            <a:endParaRPr lang="en-US" sz="1350" dirty="0"/>
          </a:p>
        </p:txBody>
      </p:sp>
      <p:sp>
        <p:nvSpPr>
          <p:cNvPr id="24" name="Text 21"/>
          <p:cNvSpPr/>
          <p:nvPr/>
        </p:nvSpPr>
        <p:spPr>
          <a:xfrm>
            <a:off x="640080" y="6473952"/>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Azure Monitor  ·  SLI / SLO Hands-On Lab</a:t>
            </a:r>
            <a:endParaRPr lang="en-US" sz="900" dirty="0"/>
          </a:p>
        </p:txBody>
      </p:sp>
      <p:sp>
        <p:nvSpPr>
          <p:cNvPr id="25" name="Text 22"/>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rect">
            <a:avLst/>
          </a:prstGeom>
          <a:solidFill>
            <a:srgbClr val="2DD4BF"/>
          </a:solidFill>
          <a:ln/>
        </p:spPr>
      </p:sp>
      <p:sp>
        <p:nvSpPr>
          <p:cNvPr id="3" name="Text 1"/>
          <p:cNvSpPr/>
          <p:nvPr/>
        </p:nvSpPr>
        <p:spPr>
          <a:xfrm>
            <a:off x="896112" y="402336"/>
            <a:ext cx="9144000" cy="320040"/>
          </a:xfrm>
          <a:prstGeom prst="rect">
            <a:avLst/>
          </a:prstGeom>
          <a:noFill/>
          <a:ln/>
        </p:spPr>
        <p:txBody>
          <a:bodyPr wrap="square" lIns="0" tIns="0" rIns="0" bIns="0" rtlCol="0" anchor="ctr"/>
          <a:lstStyle/>
          <a:p>
            <a:pPr indent="0" marL="0">
              <a:buNone/>
            </a:pPr>
            <a:r>
              <a:rPr lang="en-US" sz="1200" b="1" spc="200" kern="0" dirty="0">
                <a:solidFill>
                  <a:srgbClr val="0D9488"/>
                </a:solidFill>
                <a:latin typeface="Segoe UI" pitchFamily="34" charset="0"/>
                <a:ea typeface="Segoe UI" pitchFamily="34" charset="-122"/>
                <a:cs typeface="Segoe UI" pitchFamily="34" charset="-120"/>
              </a:rPr>
              <a:t>CONTENTS</a:t>
            </a:r>
            <a:endParaRPr lang="en-US" sz="1200" dirty="0"/>
          </a:p>
        </p:txBody>
      </p:sp>
      <p:sp>
        <p:nvSpPr>
          <p:cNvPr id="4" name="Text 2"/>
          <p:cNvSpPr/>
          <p:nvPr/>
        </p:nvSpPr>
        <p:spPr>
          <a:xfrm>
            <a:off x="640080" y="749808"/>
            <a:ext cx="10908792" cy="822960"/>
          </a:xfrm>
          <a:prstGeom prst="rect">
            <a:avLst/>
          </a:prstGeom>
          <a:noFill/>
          <a:ln/>
        </p:spPr>
        <p:txBody>
          <a:bodyPr wrap="square" lIns="0" tIns="0" rIns="0" bIns="0" rtlCol="0" anchor="ctr"/>
          <a:lstStyle/>
          <a:p>
            <a:pPr indent="0" marL="0">
              <a:buNone/>
            </a:pPr>
            <a:r>
              <a:rPr lang="en-US" sz="3000" b="1" dirty="0">
                <a:solidFill>
                  <a:srgbClr val="0A2540"/>
                </a:solidFill>
                <a:latin typeface="Segoe UI Semibold" pitchFamily="34" charset="0"/>
                <a:ea typeface="Segoe UI Semibold" pitchFamily="34" charset="-122"/>
                <a:cs typeface="Segoe UI Semibold" pitchFamily="34" charset="-120"/>
              </a:rPr>
              <a:t>What is in the hands-on lab</a:t>
            </a:r>
            <a:endParaRPr lang="en-US" sz="3000" dirty="0"/>
          </a:p>
        </p:txBody>
      </p:sp>
      <p:sp>
        <p:nvSpPr>
          <p:cNvPr id="5" name="Shape 3"/>
          <p:cNvSpPr/>
          <p:nvPr/>
        </p:nvSpPr>
        <p:spPr>
          <a:xfrm>
            <a:off x="640080" y="1828800"/>
            <a:ext cx="384048" cy="384048"/>
          </a:xfrm>
          <a:prstGeom prst="ellipse">
            <a:avLst/>
          </a:prstGeom>
          <a:solidFill>
            <a:srgbClr val="2DD4BF"/>
          </a:solidFill>
          <a:ln/>
        </p:spPr>
      </p:sp>
      <p:sp>
        <p:nvSpPr>
          <p:cNvPr id="6" name="Text 4"/>
          <p:cNvSpPr/>
          <p:nvPr/>
        </p:nvSpPr>
        <p:spPr>
          <a:xfrm>
            <a:off x="640080" y="1828800"/>
            <a:ext cx="384048" cy="384048"/>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1</a:t>
            </a:r>
            <a:endParaRPr lang="en-US" sz="1600" dirty="0"/>
          </a:p>
        </p:txBody>
      </p:sp>
      <p:sp>
        <p:nvSpPr>
          <p:cNvPr id="7" name="Text 5"/>
          <p:cNvSpPr/>
          <p:nvPr/>
        </p:nvSpPr>
        <p:spPr>
          <a:xfrm>
            <a:off x="1188720" y="1792224"/>
            <a:ext cx="3749040" cy="320040"/>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Runnable demo app</a:t>
            </a:r>
            <a:endParaRPr lang="en-US" sz="1450" dirty="0"/>
          </a:p>
        </p:txBody>
      </p:sp>
      <p:sp>
        <p:nvSpPr>
          <p:cNvPr id="8" name="Text 6"/>
          <p:cNvSpPr/>
          <p:nvPr/>
        </p:nvSpPr>
        <p:spPr>
          <a:xfrm>
            <a:off x="1188720" y="2121408"/>
            <a:ext cx="3749040" cy="640080"/>
          </a:xfrm>
          <a:prstGeom prst="rect">
            <a:avLst/>
          </a:prstGeom>
          <a:noFill/>
          <a:ln/>
        </p:spPr>
        <p:txBody>
          <a:bodyPr wrap="square" lIns="0" tIns="0" rIns="0" bIns="0" rtlCol="0" anchor="ctr"/>
          <a:lstStyle/>
          <a:p>
            <a:pPr indent="0" marL="0">
              <a:lnSpc>
                <a:spcPct val="108000"/>
              </a:lnSpc>
              <a:buNone/>
            </a:pPr>
            <a:r>
              <a:rPr lang="en-US" sz="1150" dirty="0">
                <a:solidFill>
                  <a:srgbClr val="64748B"/>
                </a:solidFill>
                <a:latin typeface="Segoe UI" pitchFamily="34" charset="0"/>
                <a:ea typeface="Segoe UI" pitchFamily="34" charset="-122"/>
                <a:cs typeface="Segoe UI" pitchFamily="34" charset="-120"/>
              </a:rPr>
              <a:t>Frontend + backend App Services with tunable failure &amp; latency, emitting OpenTelemetry metrics.</a:t>
            </a:r>
            <a:endParaRPr lang="en-US" sz="1150" dirty="0"/>
          </a:p>
        </p:txBody>
      </p:sp>
      <p:sp>
        <p:nvSpPr>
          <p:cNvPr id="9" name="Shape 7"/>
          <p:cNvSpPr/>
          <p:nvPr/>
        </p:nvSpPr>
        <p:spPr>
          <a:xfrm>
            <a:off x="640080" y="2880360"/>
            <a:ext cx="384048" cy="384048"/>
          </a:xfrm>
          <a:prstGeom prst="ellipse">
            <a:avLst/>
          </a:prstGeom>
          <a:solidFill>
            <a:srgbClr val="2DD4BF"/>
          </a:solidFill>
          <a:ln/>
        </p:spPr>
      </p:sp>
      <p:sp>
        <p:nvSpPr>
          <p:cNvPr id="10" name="Text 8"/>
          <p:cNvSpPr/>
          <p:nvPr/>
        </p:nvSpPr>
        <p:spPr>
          <a:xfrm>
            <a:off x="640080" y="2880360"/>
            <a:ext cx="384048" cy="384048"/>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1188720" y="2843784"/>
            <a:ext cx="3749040" cy="320040"/>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One-click infrastructure</a:t>
            </a:r>
            <a:endParaRPr lang="en-US" sz="1450" dirty="0"/>
          </a:p>
        </p:txBody>
      </p:sp>
      <p:sp>
        <p:nvSpPr>
          <p:cNvPr id="12" name="Text 10"/>
          <p:cNvSpPr/>
          <p:nvPr/>
        </p:nvSpPr>
        <p:spPr>
          <a:xfrm>
            <a:off x="1188720" y="3172968"/>
            <a:ext cx="3749040" cy="640080"/>
          </a:xfrm>
          <a:prstGeom prst="rect">
            <a:avLst/>
          </a:prstGeom>
          <a:noFill/>
          <a:ln/>
        </p:spPr>
        <p:txBody>
          <a:bodyPr wrap="square" lIns="0" tIns="0" rIns="0" bIns="0" rtlCol="0" anchor="ctr"/>
          <a:lstStyle/>
          <a:p>
            <a:pPr indent="0" marL="0">
              <a:lnSpc>
                <a:spcPct val="108000"/>
              </a:lnSpc>
              <a:buNone/>
            </a:pPr>
            <a:r>
              <a:rPr lang="en-US" sz="1150" dirty="0">
                <a:solidFill>
                  <a:srgbClr val="64748B"/>
                </a:solidFill>
                <a:latin typeface="Segoe UI" pitchFamily="34" charset="0"/>
                <a:ea typeface="Segoe UI" pitchFamily="34" charset="-122"/>
                <a:cs typeface="Segoe UI" pitchFamily="34" charset="-120"/>
              </a:rPr>
              <a:t>Bicep for Azure Monitor Workspace, App Insights, Log Analytics, managed identity, OTel collector.</a:t>
            </a:r>
            <a:endParaRPr lang="en-US" sz="1150" dirty="0"/>
          </a:p>
        </p:txBody>
      </p:sp>
      <p:sp>
        <p:nvSpPr>
          <p:cNvPr id="13" name="Shape 11"/>
          <p:cNvSpPr/>
          <p:nvPr/>
        </p:nvSpPr>
        <p:spPr>
          <a:xfrm>
            <a:off x="640080" y="3931920"/>
            <a:ext cx="384048" cy="384048"/>
          </a:xfrm>
          <a:prstGeom prst="ellipse">
            <a:avLst/>
          </a:prstGeom>
          <a:solidFill>
            <a:srgbClr val="2DD4BF"/>
          </a:solidFill>
          <a:ln/>
        </p:spPr>
      </p:sp>
      <p:sp>
        <p:nvSpPr>
          <p:cNvPr id="14" name="Text 12"/>
          <p:cNvSpPr/>
          <p:nvPr/>
        </p:nvSpPr>
        <p:spPr>
          <a:xfrm>
            <a:off x="640080" y="3931920"/>
            <a:ext cx="384048" cy="384048"/>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3</a:t>
            </a:r>
            <a:endParaRPr lang="en-US" sz="1600" dirty="0"/>
          </a:p>
        </p:txBody>
      </p:sp>
      <p:sp>
        <p:nvSpPr>
          <p:cNvPr id="15" name="Text 13"/>
          <p:cNvSpPr/>
          <p:nvPr/>
        </p:nvSpPr>
        <p:spPr>
          <a:xfrm>
            <a:off x="1188720" y="3895344"/>
            <a:ext cx="3749040" cy="320040"/>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Guided lab runner</a:t>
            </a:r>
            <a:endParaRPr lang="en-US" sz="1450" dirty="0"/>
          </a:p>
        </p:txBody>
      </p:sp>
      <p:sp>
        <p:nvSpPr>
          <p:cNvPr id="16" name="Text 14"/>
          <p:cNvSpPr/>
          <p:nvPr/>
        </p:nvSpPr>
        <p:spPr>
          <a:xfrm>
            <a:off x="1188720" y="4224528"/>
            <a:ext cx="3749040" cy="640080"/>
          </a:xfrm>
          <a:prstGeom prst="rect">
            <a:avLst/>
          </a:prstGeom>
          <a:noFill/>
          <a:ln/>
        </p:spPr>
        <p:txBody>
          <a:bodyPr wrap="square" lIns="0" tIns="0" rIns="0" bIns="0" rtlCol="0" anchor="ctr"/>
          <a:lstStyle/>
          <a:p>
            <a:pPr indent="0" marL="0">
              <a:lnSpc>
                <a:spcPct val="108000"/>
              </a:lnSpc>
              <a:buNone/>
            </a:pPr>
            <a:r>
              <a:rPr lang="en-US" sz="1150" dirty="0">
                <a:solidFill>
                  <a:srgbClr val="64748B"/>
                </a:solidFill>
                <a:latin typeface="Segoe UI" pitchFamily="34" charset="0"/>
                <a:ea typeface="Segoe UI" pitchFamily="34" charset="-122"/>
                <a:cs typeface="Segoe UI" pitchFamily="34" charset="-120"/>
              </a:rPr>
              <a:t>run-lab.ps1 walks the 8-phase SLI design method end to end.</a:t>
            </a:r>
            <a:endParaRPr lang="en-US" sz="1150" dirty="0"/>
          </a:p>
        </p:txBody>
      </p:sp>
      <p:sp>
        <p:nvSpPr>
          <p:cNvPr id="17" name="Shape 15"/>
          <p:cNvSpPr/>
          <p:nvPr/>
        </p:nvSpPr>
        <p:spPr>
          <a:xfrm>
            <a:off x="640080" y="4983480"/>
            <a:ext cx="384048" cy="384048"/>
          </a:xfrm>
          <a:prstGeom prst="ellipse">
            <a:avLst/>
          </a:prstGeom>
          <a:solidFill>
            <a:srgbClr val="2DD4BF"/>
          </a:solidFill>
          <a:ln/>
        </p:spPr>
      </p:sp>
      <p:sp>
        <p:nvSpPr>
          <p:cNvPr id="18" name="Text 16"/>
          <p:cNvSpPr/>
          <p:nvPr/>
        </p:nvSpPr>
        <p:spPr>
          <a:xfrm>
            <a:off x="640080" y="4983480"/>
            <a:ext cx="384048" cy="384048"/>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4</a:t>
            </a:r>
            <a:endParaRPr lang="en-US" sz="1600" dirty="0"/>
          </a:p>
        </p:txBody>
      </p:sp>
      <p:sp>
        <p:nvSpPr>
          <p:cNvPr id="19" name="Text 17"/>
          <p:cNvSpPr/>
          <p:nvPr/>
        </p:nvSpPr>
        <p:spPr>
          <a:xfrm>
            <a:off x="1188720" y="4946904"/>
            <a:ext cx="3749040" cy="320040"/>
          </a:xfrm>
          <a:prstGeom prst="rect">
            <a:avLst/>
          </a:prstGeom>
          <a:noFill/>
          <a:ln/>
        </p:spPr>
        <p:txBody>
          <a:bodyPr wrap="square" lIns="0" tIns="0" rIns="0" bIns="0" rtlCol="0" anchor="ctr"/>
          <a:lstStyle/>
          <a:p>
            <a:pPr indent="0" marL="0">
              <a:buNone/>
            </a:pPr>
            <a:r>
              <a:rPr lang="en-US" sz="1450" b="1" dirty="0">
                <a:solidFill>
                  <a:srgbClr val="0A2540"/>
                </a:solidFill>
                <a:latin typeface="Segoe UI Semibold" pitchFamily="34" charset="0"/>
                <a:ea typeface="Segoe UI Semibold" pitchFamily="34" charset="-122"/>
                <a:cs typeface="Segoe UI Semibold" pitchFamily="34" charset="-120"/>
              </a:rPr>
              <a:t>Load generator</a:t>
            </a:r>
            <a:endParaRPr lang="en-US" sz="1450" dirty="0"/>
          </a:p>
        </p:txBody>
      </p:sp>
      <p:sp>
        <p:nvSpPr>
          <p:cNvPr id="20" name="Text 18"/>
          <p:cNvSpPr/>
          <p:nvPr/>
        </p:nvSpPr>
        <p:spPr>
          <a:xfrm>
            <a:off x="1188720" y="5276088"/>
            <a:ext cx="3749040" cy="640080"/>
          </a:xfrm>
          <a:prstGeom prst="rect">
            <a:avLst/>
          </a:prstGeom>
          <a:noFill/>
          <a:ln/>
        </p:spPr>
        <p:txBody>
          <a:bodyPr wrap="square" lIns="0" tIns="0" rIns="0" bIns="0" rtlCol="0" anchor="ctr"/>
          <a:lstStyle/>
          <a:p>
            <a:pPr indent="0" marL="0">
              <a:lnSpc>
                <a:spcPct val="108000"/>
              </a:lnSpc>
              <a:buNone/>
            </a:pPr>
            <a:r>
              <a:rPr lang="en-US" sz="1150" dirty="0">
                <a:solidFill>
                  <a:srgbClr val="64748B"/>
                </a:solidFill>
                <a:latin typeface="Segoe UI" pitchFamily="34" charset="0"/>
                <a:ea typeface="Segoe UI" pitchFamily="34" charset="-122"/>
                <a:cs typeface="Segoe UI" pitchFamily="34" charset="-120"/>
              </a:rPr>
              <a:t>Steady + spike traffic and a failure-injection guide to burn the error budget live.</a:t>
            </a:r>
            <a:endParaRPr lang="en-US" sz="1150" dirty="0"/>
          </a:p>
        </p:txBody>
      </p:sp>
      <p:sp>
        <p:nvSpPr>
          <p:cNvPr id="21" name="Shape 19"/>
          <p:cNvSpPr/>
          <p:nvPr/>
        </p:nvSpPr>
        <p:spPr>
          <a:xfrm>
            <a:off x="5486400" y="1828800"/>
            <a:ext cx="6062472" cy="434340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22" name="Text 20"/>
          <p:cNvSpPr/>
          <p:nvPr/>
        </p:nvSpPr>
        <p:spPr>
          <a:xfrm>
            <a:off x="5806440" y="2084832"/>
            <a:ext cx="5422392" cy="320040"/>
          </a:xfrm>
          <a:prstGeom prst="rect">
            <a:avLst/>
          </a:prstGeom>
          <a:noFill/>
          <a:ln/>
        </p:spPr>
        <p:txBody>
          <a:bodyPr wrap="square" lIns="0" tIns="0" rIns="0" bIns="0" rtlCol="0" anchor="ctr"/>
          <a:lstStyle/>
          <a:p>
            <a:pPr indent="0" marL="0">
              <a:buNone/>
            </a:pPr>
            <a:r>
              <a:rPr lang="en-US" sz="1200" b="1" spc="100" kern="0" dirty="0">
                <a:solidFill>
                  <a:srgbClr val="0D9488"/>
                </a:solidFill>
                <a:latin typeface="Segoe UI Semibold" pitchFamily="34" charset="0"/>
                <a:ea typeface="Segoe UI Semibold" pitchFamily="34" charset="-122"/>
                <a:cs typeface="Segoe UI Semibold" pitchFamily="34" charset="-120"/>
              </a:rPr>
              <a:t>HOW THE TELEMETRY FLOWS</a:t>
            </a:r>
            <a:endParaRPr lang="en-US" sz="1200" dirty="0"/>
          </a:p>
        </p:txBody>
      </p:sp>
      <p:sp>
        <p:nvSpPr>
          <p:cNvPr id="23" name="Shape 21"/>
          <p:cNvSpPr/>
          <p:nvPr/>
        </p:nvSpPr>
        <p:spPr>
          <a:xfrm>
            <a:off x="5852160" y="2560320"/>
            <a:ext cx="5330952" cy="530352"/>
          </a:xfrm>
          <a:prstGeom prst="roundRect">
            <a:avLst>
              <a:gd name="adj" fmla="val 10345"/>
            </a:avLst>
          </a:prstGeom>
          <a:solidFill>
            <a:srgbClr val="F4F7FB"/>
          </a:solidFill>
          <a:ln w="12700">
            <a:solidFill>
              <a:srgbClr val="E2E8F0"/>
            </a:solidFill>
            <a:prstDash val="solid"/>
          </a:ln>
        </p:spPr>
      </p:sp>
      <p:sp>
        <p:nvSpPr>
          <p:cNvPr id="24" name="Text 22"/>
          <p:cNvSpPr/>
          <p:nvPr/>
        </p:nvSpPr>
        <p:spPr>
          <a:xfrm>
            <a:off x="6080760" y="2560320"/>
            <a:ext cx="4965192" cy="530352"/>
          </a:xfrm>
          <a:prstGeom prst="rect">
            <a:avLst/>
          </a:prstGeom>
          <a:noFill/>
          <a:ln/>
        </p:spPr>
        <p:txBody>
          <a:bodyPr wrap="square" lIns="0" tIns="0" rIns="0" bIns="0" rtlCol="0" anchor="ctr"/>
          <a:lstStyle/>
          <a:p>
            <a:pPr indent="0" marL="0">
              <a:buNone/>
            </a:pPr>
            <a:r>
              <a:rPr lang="en-US" sz="1200" b="1" dirty="0">
                <a:solidFill>
                  <a:srgbClr val="0A2540"/>
                </a:solidFill>
                <a:latin typeface="Segoe UI Semibold" pitchFamily="34" charset="0"/>
                <a:ea typeface="Segoe UI Semibold" pitchFamily="34" charset="-122"/>
                <a:cs typeface="Segoe UI Semibold" pitchFamily="34" charset="-120"/>
              </a:rPr>
              <a:t>Apps (Login / Checkout)   </a:t>
            </a:r>
            <a:pPr indent="0" marL="0">
              <a:buNone/>
            </a:pPr>
            <a:r>
              <a:rPr lang="en-US" sz="1200" dirty="0">
                <a:solidFill>
                  <a:srgbClr val="64748B"/>
                </a:solidFill>
                <a:latin typeface="Segoe UI" pitchFamily="34" charset="0"/>
                <a:ea typeface="Segoe UI" pitchFamily="34" charset="-122"/>
                <a:cs typeface="Segoe UI" pitchFamily="34" charset="-120"/>
              </a:rPr>
              <a:t>emit OpenTelemetry metrics</a:t>
            </a:r>
            <a:endParaRPr lang="en-US" sz="1200" dirty="0"/>
          </a:p>
        </p:txBody>
      </p:sp>
      <p:sp>
        <p:nvSpPr>
          <p:cNvPr id="25" name="Text 23"/>
          <p:cNvSpPr/>
          <p:nvPr/>
        </p:nvSpPr>
        <p:spPr>
          <a:xfrm>
            <a:off x="8380476" y="3072384"/>
            <a:ext cx="274320" cy="219456"/>
          </a:xfrm>
          <a:prstGeom prst="rect">
            <a:avLst/>
          </a:prstGeom>
          <a:noFill/>
          <a:ln/>
        </p:spPr>
        <p:txBody>
          <a:bodyPr wrap="square" lIns="0" tIns="0" rIns="0" bIns="0" rtlCol="0" anchor="ctr"/>
          <a:lstStyle/>
          <a:p>
            <a:pPr algn="ctr" indent="0" marL="0">
              <a:buNone/>
            </a:pPr>
            <a:r>
              <a:rPr lang="en-US" sz="1000" dirty="0">
                <a:solidFill>
                  <a:srgbClr val="0D9488"/>
                </a:solidFill>
                <a:latin typeface="Segoe UI" pitchFamily="34" charset="0"/>
                <a:ea typeface="Segoe UI" pitchFamily="34" charset="-122"/>
                <a:cs typeface="Segoe UI" pitchFamily="34" charset="-120"/>
              </a:rPr>
              <a:t>▼</a:t>
            </a:r>
            <a:endParaRPr lang="en-US" sz="1000" dirty="0"/>
          </a:p>
        </p:txBody>
      </p:sp>
      <p:sp>
        <p:nvSpPr>
          <p:cNvPr id="26" name="Shape 24"/>
          <p:cNvSpPr/>
          <p:nvPr/>
        </p:nvSpPr>
        <p:spPr>
          <a:xfrm>
            <a:off x="5852160" y="3310128"/>
            <a:ext cx="5330952" cy="530352"/>
          </a:xfrm>
          <a:prstGeom prst="roundRect">
            <a:avLst>
              <a:gd name="adj" fmla="val 10345"/>
            </a:avLst>
          </a:prstGeom>
          <a:solidFill>
            <a:srgbClr val="F4F7FB"/>
          </a:solidFill>
          <a:ln w="12700">
            <a:solidFill>
              <a:srgbClr val="E2E8F0"/>
            </a:solidFill>
            <a:prstDash val="solid"/>
          </a:ln>
        </p:spPr>
      </p:sp>
      <p:sp>
        <p:nvSpPr>
          <p:cNvPr id="27" name="Text 25"/>
          <p:cNvSpPr/>
          <p:nvPr/>
        </p:nvSpPr>
        <p:spPr>
          <a:xfrm>
            <a:off x="6080760" y="3310128"/>
            <a:ext cx="4965192" cy="530352"/>
          </a:xfrm>
          <a:prstGeom prst="rect">
            <a:avLst/>
          </a:prstGeom>
          <a:noFill/>
          <a:ln/>
        </p:spPr>
        <p:txBody>
          <a:bodyPr wrap="square" lIns="0" tIns="0" rIns="0" bIns="0" rtlCol="0" anchor="ctr"/>
          <a:lstStyle/>
          <a:p>
            <a:pPr indent="0" marL="0">
              <a:buNone/>
            </a:pPr>
            <a:r>
              <a:rPr lang="en-US" sz="1200" b="1" dirty="0">
                <a:solidFill>
                  <a:srgbClr val="0A2540"/>
                </a:solidFill>
                <a:latin typeface="Segoe UI Semibold" pitchFamily="34" charset="0"/>
                <a:ea typeface="Segoe UI Semibold" pitchFamily="34" charset="-122"/>
                <a:cs typeface="Segoe UI Semibold" pitchFamily="34" charset="-120"/>
              </a:rPr>
              <a:t>OpenTelemetry Collector   </a:t>
            </a:r>
            <a:pPr indent="0" marL="0">
              <a:buNone/>
            </a:pPr>
            <a:r>
              <a:rPr lang="en-US" sz="1200" dirty="0">
                <a:solidFill>
                  <a:srgbClr val="64748B"/>
                </a:solidFill>
                <a:latin typeface="Segoe UI" pitchFamily="34" charset="0"/>
                <a:ea typeface="Segoe UI" pitchFamily="34" charset="-122"/>
                <a:cs typeface="Segoe UI" pitchFamily="34" charset="-120"/>
              </a:rPr>
              <a:t>Prometheus remote write</a:t>
            </a:r>
            <a:endParaRPr lang="en-US" sz="1200" dirty="0"/>
          </a:p>
        </p:txBody>
      </p:sp>
      <p:sp>
        <p:nvSpPr>
          <p:cNvPr id="28" name="Text 26"/>
          <p:cNvSpPr/>
          <p:nvPr/>
        </p:nvSpPr>
        <p:spPr>
          <a:xfrm>
            <a:off x="8380476" y="3822192"/>
            <a:ext cx="274320" cy="219456"/>
          </a:xfrm>
          <a:prstGeom prst="rect">
            <a:avLst/>
          </a:prstGeom>
          <a:noFill/>
          <a:ln/>
        </p:spPr>
        <p:txBody>
          <a:bodyPr wrap="square" lIns="0" tIns="0" rIns="0" bIns="0" rtlCol="0" anchor="ctr"/>
          <a:lstStyle/>
          <a:p>
            <a:pPr algn="ctr" indent="0" marL="0">
              <a:buNone/>
            </a:pPr>
            <a:r>
              <a:rPr lang="en-US" sz="1000" dirty="0">
                <a:solidFill>
                  <a:srgbClr val="0D9488"/>
                </a:solidFill>
                <a:latin typeface="Segoe UI" pitchFamily="34" charset="0"/>
                <a:ea typeface="Segoe UI" pitchFamily="34" charset="-122"/>
                <a:cs typeface="Segoe UI" pitchFamily="34" charset="-120"/>
              </a:rPr>
              <a:t>▼</a:t>
            </a:r>
            <a:endParaRPr lang="en-US" sz="1000" dirty="0"/>
          </a:p>
        </p:txBody>
      </p:sp>
      <p:sp>
        <p:nvSpPr>
          <p:cNvPr id="29" name="Shape 27"/>
          <p:cNvSpPr/>
          <p:nvPr/>
        </p:nvSpPr>
        <p:spPr>
          <a:xfrm>
            <a:off x="5852160" y="4059936"/>
            <a:ext cx="5330952" cy="530352"/>
          </a:xfrm>
          <a:prstGeom prst="roundRect">
            <a:avLst>
              <a:gd name="adj" fmla="val 10345"/>
            </a:avLst>
          </a:prstGeom>
          <a:solidFill>
            <a:srgbClr val="F4F7FB"/>
          </a:solidFill>
          <a:ln w="12700">
            <a:solidFill>
              <a:srgbClr val="E2E8F0"/>
            </a:solidFill>
            <a:prstDash val="solid"/>
          </a:ln>
        </p:spPr>
      </p:sp>
      <p:sp>
        <p:nvSpPr>
          <p:cNvPr id="30" name="Text 28"/>
          <p:cNvSpPr/>
          <p:nvPr/>
        </p:nvSpPr>
        <p:spPr>
          <a:xfrm>
            <a:off x="6080760" y="4059936"/>
            <a:ext cx="4965192" cy="530352"/>
          </a:xfrm>
          <a:prstGeom prst="rect">
            <a:avLst/>
          </a:prstGeom>
          <a:noFill/>
          <a:ln/>
        </p:spPr>
        <p:txBody>
          <a:bodyPr wrap="square" lIns="0" tIns="0" rIns="0" bIns="0" rtlCol="0" anchor="ctr"/>
          <a:lstStyle/>
          <a:p>
            <a:pPr indent="0" marL="0">
              <a:buNone/>
            </a:pPr>
            <a:r>
              <a:rPr lang="en-US" sz="1200" b="1" dirty="0">
                <a:solidFill>
                  <a:srgbClr val="0A2540"/>
                </a:solidFill>
                <a:latin typeface="Segoe UI Semibold" pitchFamily="34" charset="0"/>
                <a:ea typeface="Segoe UI Semibold" pitchFamily="34" charset="-122"/>
                <a:cs typeface="Segoe UI Semibold" pitchFamily="34" charset="-120"/>
              </a:rPr>
              <a:t>Managed-identity proxy   </a:t>
            </a:r>
            <a:pPr indent="0" marL="0">
              <a:buNone/>
            </a:pPr>
            <a:r>
              <a:rPr lang="en-US" sz="1200" dirty="0">
                <a:solidFill>
                  <a:srgbClr val="64748B"/>
                </a:solidFill>
                <a:latin typeface="Segoe UI" pitchFamily="34" charset="0"/>
                <a:ea typeface="Segoe UI" pitchFamily="34" charset="-122"/>
                <a:cs typeface="Segoe UI" pitchFamily="34" charset="-120"/>
              </a:rPr>
              <a:t>authenticated ingest</a:t>
            </a:r>
            <a:endParaRPr lang="en-US" sz="1200" dirty="0"/>
          </a:p>
        </p:txBody>
      </p:sp>
      <p:sp>
        <p:nvSpPr>
          <p:cNvPr id="31" name="Text 29"/>
          <p:cNvSpPr/>
          <p:nvPr/>
        </p:nvSpPr>
        <p:spPr>
          <a:xfrm>
            <a:off x="8380476" y="4572000"/>
            <a:ext cx="274320" cy="219456"/>
          </a:xfrm>
          <a:prstGeom prst="rect">
            <a:avLst/>
          </a:prstGeom>
          <a:noFill/>
          <a:ln/>
        </p:spPr>
        <p:txBody>
          <a:bodyPr wrap="square" lIns="0" tIns="0" rIns="0" bIns="0" rtlCol="0" anchor="ctr"/>
          <a:lstStyle/>
          <a:p>
            <a:pPr algn="ctr" indent="0" marL="0">
              <a:buNone/>
            </a:pPr>
            <a:r>
              <a:rPr lang="en-US" sz="1000" dirty="0">
                <a:solidFill>
                  <a:srgbClr val="0D9488"/>
                </a:solidFill>
                <a:latin typeface="Segoe UI" pitchFamily="34" charset="0"/>
                <a:ea typeface="Segoe UI" pitchFamily="34" charset="-122"/>
                <a:cs typeface="Segoe UI" pitchFamily="34" charset="-120"/>
              </a:rPr>
              <a:t>▼</a:t>
            </a:r>
            <a:endParaRPr lang="en-US" sz="1000" dirty="0"/>
          </a:p>
        </p:txBody>
      </p:sp>
      <p:sp>
        <p:nvSpPr>
          <p:cNvPr id="32" name="Shape 30"/>
          <p:cNvSpPr/>
          <p:nvPr/>
        </p:nvSpPr>
        <p:spPr>
          <a:xfrm>
            <a:off x="5852160" y="4809744"/>
            <a:ext cx="5330952" cy="530352"/>
          </a:xfrm>
          <a:prstGeom prst="roundRect">
            <a:avLst>
              <a:gd name="adj" fmla="val 10345"/>
            </a:avLst>
          </a:prstGeom>
          <a:solidFill>
            <a:srgbClr val="F4F7FB"/>
          </a:solidFill>
          <a:ln w="12700">
            <a:solidFill>
              <a:srgbClr val="E2E8F0"/>
            </a:solidFill>
            <a:prstDash val="solid"/>
          </a:ln>
        </p:spPr>
      </p:sp>
      <p:sp>
        <p:nvSpPr>
          <p:cNvPr id="33" name="Text 31"/>
          <p:cNvSpPr/>
          <p:nvPr/>
        </p:nvSpPr>
        <p:spPr>
          <a:xfrm>
            <a:off x="6080760" y="4809744"/>
            <a:ext cx="4965192" cy="530352"/>
          </a:xfrm>
          <a:prstGeom prst="rect">
            <a:avLst/>
          </a:prstGeom>
          <a:noFill/>
          <a:ln/>
        </p:spPr>
        <p:txBody>
          <a:bodyPr wrap="square" lIns="0" tIns="0" rIns="0" bIns="0" rtlCol="0" anchor="ctr"/>
          <a:lstStyle/>
          <a:p>
            <a:pPr indent="0" marL="0">
              <a:buNone/>
            </a:pPr>
            <a:r>
              <a:rPr lang="en-US" sz="1200" b="1" dirty="0">
                <a:solidFill>
                  <a:srgbClr val="0A2540"/>
                </a:solidFill>
                <a:latin typeface="Segoe UI Semibold" pitchFamily="34" charset="0"/>
                <a:ea typeface="Segoe UI Semibold" pitchFamily="34" charset="-122"/>
                <a:cs typeface="Segoe UI Semibold" pitchFamily="34" charset="-120"/>
              </a:rPr>
              <a:t>Azure Monitor Workspace   </a:t>
            </a:r>
            <a:pPr indent="0" marL="0">
              <a:buNone/>
            </a:pPr>
            <a:r>
              <a:rPr lang="en-US" sz="1200" dirty="0">
                <a:solidFill>
                  <a:srgbClr val="64748B"/>
                </a:solidFill>
                <a:latin typeface="Segoe UI" pitchFamily="34" charset="0"/>
                <a:ea typeface="Segoe UI" pitchFamily="34" charset="-122"/>
                <a:cs typeface="Segoe UI" pitchFamily="34" charset="-120"/>
              </a:rPr>
              <a:t>SLI source + destination</a:t>
            </a:r>
            <a:endParaRPr lang="en-US" sz="1200" dirty="0"/>
          </a:p>
        </p:txBody>
      </p:sp>
      <p:sp>
        <p:nvSpPr>
          <p:cNvPr id="34" name="Text 32"/>
          <p:cNvSpPr/>
          <p:nvPr/>
        </p:nvSpPr>
        <p:spPr>
          <a:xfrm>
            <a:off x="8380476" y="5321808"/>
            <a:ext cx="274320" cy="219456"/>
          </a:xfrm>
          <a:prstGeom prst="rect">
            <a:avLst/>
          </a:prstGeom>
          <a:noFill/>
          <a:ln/>
        </p:spPr>
        <p:txBody>
          <a:bodyPr wrap="square" lIns="0" tIns="0" rIns="0" bIns="0" rtlCol="0" anchor="ctr"/>
          <a:lstStyle/>
          <a:p>
            <a:pPr algn="ctr" indent="0" marL="0">
              <a:buNone/>
            </a:pPr>
            <a:r>
              <a:rPr lang="en-US" sz="1000" dirty="0">
                <a:solidFill>
                  <a:srgbClr val="0D9488"/>
                </a:solidFill>
                <a:latin typeface="Segoe UI" pitchFamily="34" charset="0"/>
                <a:ea typeface="Segoe UI" pitchFamily="34" charset="-122"/>
                <a:cs typeface="Segoe UI" pitchFamily="34" charset="-120"/>
              </a:rPr>
              <a:t>▼</a:t>
            </a:r>
            <a:endParaRPr lang="en-US" sz="1000" dirty="0"/>
          </a:p>
        </p:txBody>
      </p:sp>
      <p:sp>
        <p:nvSpPr>
          <p:cNvPr id="35" name="Shape 33"/>
          <p:cNvSpPr/>
          <p:nvPr/>
        </p:nvSpPr>
        <p:spPr>
          <a:xfrm>
            <a:off x="5852160" y="5559552"/>
            <a:ext cx="5330952" cy="530352"/>
          </a:xfrm>
          <a:prstGeom prst="roundRect">
            <a:avLst>
              <a:gd name="adj" fmla="val 10345"/>
            </a:avLst>
          </a:prstGeom>
          <a:solidFill>
            <a:srgbClr val="0A2540"/>
          </a:solidFill>
          <a:ln w="12700">
            <a:solidFill>
              <a:srgbClr val="0A2540"/>
            </a:solidFill>
            <a:prstDash val="solid"/>
          </a:ln>
        </p:spPr>
      </p:sp>
      <p:sp>
        <p:nvSpPr>
          <p:cNvPr id="36" name="Text 34"/>
          <p:cNvSpPr/>
          <p:nvPr/>
        </p:nvSpPr>
        <p:spPr>
          <a:xfrm>
            <a:off x="6080760" y="5559552"/>
            <a:ext cx="4965192" cy="530352"/>
          </a:xfrm>
          <a:prstGeom prst="rect">
            <a:avLst/>
          </a:prstGeom>
          <a:noFill/>
          <a:ln/>
        </p:spPr>
        <p:txBody>
          <a:bodyPr wrap="square" lIns="0" tIns="0" rIns="0" bIns="0" rtlCol="0" anchor="ctr"/>
          <a:lstStyle/>
          <a:p>
            <a:pPr indent="0" marL="0">
              <a:buNone/>
            </a:pPr>
            <a:r>
              <a:rPr lang="en-US" sz="1200" b="1" dirty="0">
                <a:solidFill>
                  <a:srgbClr val="2DD4BF"/>
                </a:solidFill>
                <a:latin typeface="Segoe UI Semibold" pitchFamily="34" charset="0"/>
                <a:ea typeface="Segoe UI Semibold" pitchFamily="34" charset="-122"/>
                <a:cs typeface="Segoe UI Semibold" pitchFamily="34" charset="-120"/>
              </a:rPr>
              <a:t>SLI engine on CheckoutSG   </a:t>
            </a:r>
            <a:pPr indent="0" marL="0">
              <a:buNone/>
            </a:pPr>
            <a:r>
              <a:rPr lang="en-US" sz="1200" dirty="0">
                <a:solidFill>
                  <a:srgbClr val="C7D6E5"/>
                </a:solidFill>
                <a:latin typeface="Segoe UI" pitchFamily="34" charset="0"/>
                <a:ea typeface="Segoe UI" pitchFamily="34" charset="-122"/>
                <a:cs typeface="Segoe UI" pitchFamily="34" charset="-120"/>
              </a:rPr>
              <a:t>error budget + burn rate</a:t>
            </a:r>
            <a:endParaRPr lang="en-US" sz="1200" dirty="0"/>
          </a:p>
        </p:txBody>
      </p:sp>
      <p:sp>
        <p:nvSpPr>
          <p:cNvPr id="38" name="Text 35"/>
          <p:cNvSpPr/>
          <p:nvPr/>
        </p:nvSpPr>
        <p:spPr>
          <a:xfrm>
            <a:off x="640080" y="6473952"/>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Azure Monitor  ·  SLI / SLO Hands-On Lab</a:t>
            </a:r>
            <a:endParaRPr lang="en-US" sz="900" dirty="0"/>
          </a:p>
        </p:txBody>
      </p:sp>
      <p:sp>
        <p:nvSpPr>
          <p:cNvPr id="39" name="Text 36"/>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rect">
            <a:avLst/>
          </a:prstGeom>
          <a:solidFill>
            <a:srgbClr val="2DD4BF"/>
          </a:solidFill>
          <a:ln/>
        </p:spPr>
      </p:sp>
      <p:sp>
        <p:nvSpPr>
          <p:cNvPr id="3" name="Text 1"/>
          <p:cNvSpPr/>
          <p:nvPr/>
        </p:nvSpPr>
        <p:spPr>
          <a:xfrm>
            <a:off x="896112" y="402336"/>
            <a:ext cx="9144000" cy="320040"/>
          </a:xfrm>
          <a:prstGeom prst="rect">
            <a:avLst/>
          </a:prstGeom>
          <a:noFill/>
          <a:ln/>
        </p:spPr>
        <p:txBody>
          <a:bodyPr wrap="square" lIns="0" tIns="0" rIns="0" bIns="0" rtlCol="0" anchor="ctr"/>
          <a:lstStyle/>
          <a:p>
            <a:pPr indent="0" marL="0">
              <a:buNone/>
            </a:pPr>
            <a:r>
              <a:rPr lang="en-US" sz="1200" b="1" spc="200" kern="0" dirty="0">
                <a:solidFill>
                  <a:srgbClr val="0D9488"/>
                </a:solidFill>
                <a:latin typeface="Segoe UI" pitchFamily="34" charset="0"/>
                <a:ea typeface="Segoe UI" pitchFamily="34" charset="-122"/>
                <a:cs typeface="Segoe UI" pitchFamily="34" charset="-120"/>
              </a:rPr>
              <a:t>RUN THE LAB  ·  QUICKSTART</a:t>
            </a:r>
            <a:endParaRPr lang="en-US" sz="1200" dirty="0"/>
          </a:p>
        </p:txBody>
      </p:sp>
      <p:sp>
        <p:nvSpPr>
          <p:cNvPr id="4" name="Text 2"/>
          <p:cNvSpPr/>
          <p:nvPr/>
        </p:nvSpPr>
        <p:spPr>
          <a:xfrm>
            <a:off x="640080" y="749808"/>
            <a:ext cx="10908792" cy="822960"/>
          </a:xfrm>
          <a:prstGeom prst="rect">
            <a:avLst/>
          </a:prstGeom>
          <a:noFill/>
          <a:ln/>
        </p:spPr>
        <p:txBody>
          <a:bodyPr wrap="square" lIns="0" tIns="0" rIns="0" bIns="0" rtlCol="0" anchor="ctr"/>
          <a:lstStyle/>
          <a:p>
            <a:pPr indent="0" marL="0">
              <a:buNone/>
            </a:pPr>
            <a:r>
              <a:rPr lang="en-US" sz="3000" b="1" dirty="0">
                <a:solidFill>
                  <a:srgbClr val="0A2540"/>
                </a:solidFill>
                <a:latin typeface="Segoe UI Semibold" pitchFamily="34" charset="0"/>
                <a:ea typeface="Segoe UI Semibold" pitchFamily="34" charset="-122"/>
                <a:cs typeface="Segoe UI Semibold" pitchFamily="34" charset="-120"/>
              </a:rPr>
              <a:t>Three commands, two terminals</a:t>
            </a:r>
            <a:endParaRPr lang="en-US" sz="3000" dirty="0"/>
          </a:p>
        </p:txBody>
      </p:sp>
      <p:sp>
        <p:nvSpPr>
          <p:cNvPr id="5" name="Shape 3"/>
          <p:cNvSpPr/>
          <p:nvPr/>
        </p:nvSpPr>
        <p:spPr>
          <a:xfrm>
            <a:off x="640080" y="1920240"/>
            <a:ext cx="3392424" cy="384048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6" name="Shape 4"/>
          <p:cNvSpPr/>
          <p:nvPr/>
        </p:nvSpPr>
        <p:spPr>
          <a:xfrm>
            <a:off x="960120" y="2240280"/>
            <a:ext cx="457200" cy="457200"/>
          </a:xfrm>
          <a:prstGeom prst="ellipse">
            <a:avLst/>
          </a:prstGeom>
          <a:solidFill>
            <a:srgbClr val="0A2540"/>
          </a:solidFill>
          <a:ln/>
        </p:spPr>
      </p:sp>
      <p:sp>
        <p:nvSpPr>
          <p:cNvPr id="7" name="Text 5"/>
          <p:cNvSpPr/>
          <p:nvPr/>
        </p:nvSpPr>
        <p:spPr>
          <a:xfrm>
            <a:off x="960120" y="2240280"/>
            <a:ext cx="457200" cy="457200"/>
          </a:xfrm>
          <a:prstGeom prst="rect">
            <a:avLst/>
          </a:prstGeom>
          <a:noFill/>
          <a:ln/>
        </p:spPr>
        <p:txBody>
          <a:bodyPr wrap="square" lIns="0" tIns="0" rIns="0" bIns="0" rtlCol="0" anchor="ctr"/>
          <a:lstStyle/>
          <a:p>
            <a:pPr algn="ctr" indent="0" marL="0">
              <a:buNone/>
            </a:pPr>
            <a:r>
              <a:rPr lang="en-US" sz="1600" b="1" dirty="0">
                <a:solidFill>
                  <a:srgbClr val="2DD4BF"/>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1554480" y="2240280"/>
            <a:ext cx="2295144" cy="502920"/>
          </a:xfrm>
          <a:prstGeom prst="rect">
            <a:avLst/>
          </a:prstGeom>
          <a:noFill/>
          <a:ln/>
        </p:spPr>
        <p:txBody>
          <a:bodyPr wrap="square" lIns="0" tIns="0" rIns="0" bIns="0" rtlCol="0" anchor="ctr"/>
          <a:lstStyle/>
          <a:p>
            <a:pPr indent="0" marL="0">
              <a:buNone/>
            </a:pPr>
            <a:r>
              <a:rPr lang="en-US" sz="1500" b="1" dirty="0">
                <a:solidFill>
                  <a:srgbClr val="0A2540"/>
                </a:solidFill>
                <a:latin typeface="Segoe UI Semibold" pitchFamily="34" charset="0"/>
                <a:ea typeface="Segoe UI Semibold" pitchFamily="34" charset="-122"/>
                <a:cs typeface="Segoe UI Semibold" pitchFamily="34" charset="-120"/>
              </a:rPr>
              <a:t>Deploy the infrastructure</a:t>
            </a:r>
            <a:endParaRPr lang="en-US" sz="1500" dirty="0"/>
          </a:p>
        </p:txBody>
      </p:sp>
      <p:sp>
        <p:nvSpPr>
          <p:cNvPr id="9" name="Text 7"/>
          <p:cNvSpPr/>
          <p:nvPr/>
        </p:nvSpPr>
        <p:spPr>
          <a:xfrm>
            <a:off x="960120" y="2880360"/>
            <a:ext cx="2752344" cy="822960"/>
          </a:xfrm>
          <a:prstGeom prst="rect">
            <a:avLst/>
          </a:prstGeom>
          <a:noFill/>
          <a:ln/>
        </p:spPr>
        <p:txBody>
          <a:bodyPr wrap="square" lIns="0" tIns="0" rIns="0" bIns="0" rtlCol="0" anchor="ctr"/>
          <a:lstStyle/>
          <a:p>
            <a:pPr indent="0" marL="0">
              <a:lnSpc>
                <a:spcPct val="110000"/>
              </a:lnSpc>
              <a:buNone/>
            </a:pPr>
            <a:r>
              <a:rPr lang="en-US" sz="1200" dirty="0">
                <a:solidFill>
                  <a:srgbClr val="64748B"/>
                </a:solidFill>
                <a:latin typeface="Segoe UI" pitchFamily="34" charset="0"/>
                <a:ea typeface="Segoe UI" pitchFamily="34" charset="-122"/>
                <a:cs typeface="Segoe UI" pitchFamily="34" charset="-120"/>
              </a:rPr>
              <a:t>One script provisions all Azure resources and pushes the app code.</a:t>
            </a:r>
            <a:endParaRPr lang="en-US" sz="1200" dirty="0"/>
          </a:p>
        </p:txBody>
      </p:sp>
      <p:sp>
        <p:nvSpPr>
          <p:cNvPr id="10" name="Shape 8"/>
          <p:cNvSpPr/>
          <p:nvPr/>
        </p:nvSpPr>
        <p:spPr>
          <a:xfrm>
            <a:off x="914400" y="3794760"/>
            <a:ext cx="2843784" cy="1691640"/>
          </a:xfrm>
          <a:prstGeom prst="roundRect">
            <a:avLst>
              <a:gd name="adj" fmla="val 2703"/>
            </a:avLst>
          </a:prstGeom>
          <a:solidFill>
            <a:srgbClr val="0B2137"/>
          </a:solidFill>
          <a:ln/>
        </p:spPr>
      </p:sp>
      <p:sp>
        <p:nvSpPr>
          <p:cNvPr id="11" name="Text 9"/>
          <p:cNvSpPr/>
          <p:nvPr/>
        </p:nvSpPr>
        <p:spPr>
          <a:xfrm>
            <a:off x="1097280" y="3904488"/>
            <a:ext cx="2478024" cy="1472184"/>
          </a:xfrm>
          <a:prstGeom prst="rect">
            <a:avLst/>
          </a:prstGeom>
          <a:noFill/>
          <a:ln/>
        </p:spPr>
        <p:txBody>
          <a:bodyPr wrap="square" lIns="0" tIns="0" rIns="0" bIns="0" rtlCol="0" anchor="t"/>
          <a:lstStyle/>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./infra/deploy.ps1 `</a:t>
            </a:r>
            <a:endParaRPr lang="en-US" sz="1050" dirty="0"/>
          </a:p>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  -ResourceGroup rg-sli-demo `</a:t>
            </a:r>
            <a:endParaRPr lang="en-US" sz="1050" dirty="0"/>
          </a:p>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  -Location eastus2</a:t>
            </a:r>
            <a:endParaRPr lang="en-US" sz="1050" dirty="0"/>
          </a:p>
        </p:txBody>
      </p:sp>
      <p:sp>
        <p:nvSpPr>
          <p:cNvPr id="12" name="Shape 10"/>
          <p:cNvSpPr/>
          <p:nvPr/>
        </p:nvSpPr>
        <p:spPr>
          <a:xfrm>
            <a:off x="4398264" y="1920240"/>
            <a:ext cx="3392424" cy="384048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13" name="Shape 11"/>
          <p:cNvSpPr/>
          <p:nvPr/>
        </p:nvSpPr>
        <p:spPr>
          <a:xfrm>
            <a:off x="4718304" y="2240280"/>
            <a:ext cx="457200" cy="457200"/>
          </a:xfrm>
          <a:prstGeom prst="ellipse">
            <a:avLst/>
          </a:prstGeom>
          <a:solidFill>
            <a:srgbClr val="0A2540"/>
          </a:solidFill>
          <a:ln/>
        </p:spPr>
      </p:sp>
      <p:sp>
        <p:nvSpPr>
          <p:cNvPr id="14" name="Text 12"/>
          <p:cNvSpPr/>
          <p:nvPr/>
        </p:nvSpPr>
        <p:spPr>
          <a:xfrm>
            <a:off x="4718304" y="2240280"/>
            <a:ext cx="457200" cy="457200"/>
          </a:xfrm>
          <a:prstGeom prst="rect">
            <a:avLst/>
          </a:prstGeom>
          <a:noFill/>
          <a:ln/>
        </p:spPr>
        <p:txBody>
          <a:bodyPr wrap="square" lIns="0" tIns="0" rIns="0" bIns="0" rtlCol="0" anchor="ctr"/>
          <a:lstStyle/>
          <a:p>
            <a:pPr algn="ctr" indent="0" marL="0">
              <a:buNone/>
            </a:pPr>
            <a:r>
              <a:rPr lang="en-US" sz="1600" b="1" dirty="0">
                <a:solidFill>
                  <a:srgbClr val="2DD4BF"/>
                </a:solidFill>
                <a:latin typeface="Segoe UI Semibold" pitchFamily="34" charset="0"/>
                <a:ea typeface="Segoe UI Semibold" pitchFamily="34" charset="-122"/>
                <a:cs typeface="Segoe UI Semibold" pitchFamily="34" charset="-120"/>
              </a:rPr>
              <a:t>2</a:t>
            </a:r>
            <a:endParaRPr lang="en-US" sz="1600" dirty="0"/>
          </a:p>
        </p:txBody>
      </p:sp>
      <p:sp>
        <p:nvSpPr>
          <p:cNvPr id="15" name="Text 13"/>
          <p:cNvSpPr/>
          <p:nvPr/>
        </p:nvSpPr>
        <p:spPr>
          <a:xfrm>
            <a:off x="5312664" y="2240280"/>
            <a:ext cx="2295144" cy="502920"/>
          </a:xfrm>
          <a:prstGeom prst="rect">
            <a:avLst/>
          </a:prstGeom>
          <a:noFill/>
          <a:ln/>
        </p:spPr>
        <p:txBody>
          <a:bodyPr wrap="square" lIns="0" tIns="0" rIns="0" bIns="0" rtlCol="0" anchor="ctr"/>
          <a:lstStyle/>
          <a:p>
            <a:pPr indent="0" marL="0">
              <a:buNone/>
            </a:pPr>
            <a:r>
              <a:rPr lang="en-US" sz="1500" b="1" dirty="0">
                <a:solidFill>
                  <a:srgbClr val="0A2540"/>
                </a:solidFill>
                <a:latin typeface="Segoe UI Semibold" pitchFamily="34" charset="0"/>
                <a:ea typeface="Segoe UI Semibold" pitchFamily="34" charset="-122"/>
                <a:cs typeface="Segoe UI Semibold" pitchFamily="34" charset="-120"/>
              </a:rPr>
              <a:t>Start traffic  (Terminal 1)</a:t>
            </a:r>
            <a:endParaRPr lang="en-US" sz="1500" dirty="0"/>
          </a:p>
        </p:txBody>
      </p:sp>
      <p:sp>
        <p:nvSpPr>
          <p:cNvPr id="16" name="Text 14"/>
          <p:cNvSpPr/>
          <p:nvPr/>
        </p:nvSpPr>
        <p:spPr>
          <a:xfrm>
            <a:off x="4718304" y="2880360"/>
            <a:ext cx="2752344" cy="822960"/>
          </a:xfrm>
          <a:prstGeom prst="rect">
            <a:avLst/>
          </a:prstGeom>
          <a:noFill/>
          <a:ln/>
        </p:spPr>
        <p:txBody>
          <a:bodyPr wrap="square" lIns="0" tIns="0" rIns="0" bIns="0" rtlCol="0" anchor="ctr"/>
          <a:lstStyle/>
          <a:p>
            <a:pPr indent="0" marL="0">
              <a:lnSpc>
                <a:spcPct val="110000"/>
              </a:lnSpc>
              <a:buNone/>
            </a:pPr>
            <a:r>
              <a:rPr lang="en-US" sz="1200" dirty="0">
                <a:solidFill>
                  <a:srgbClr val="64748B"/>
                </a:solidFill>
                <a:latin typeface="Segoe UI" pitchFamily="34" charset="0"/>
                <a:ea typeface="Segoe UI" pitchFamily="34" charset="-122"/>
                <a:cs typeface="Segoe UI" pitchFamily="34" charset="-120"/>
              </a:rPr>
              <a:t>Leave running so the 5-minute rate windows stay populated.</a:t>
            </a:r>
            <a:endParaRPr lang="en-US" sz="1200" dirty="0"/>
          </a:p>
        </p:txBody>
      </p:sp>
      <p:sp>
        <p:nvSpPr>
          <p:cNvPr id="17" name="Shape 15"/>
          <p:cNvSpPr/>
          <p:nvPr/>
        </p:nvSpPr>
        <p:spPr>
          <a:xfrm>
            <a:off x="4672584" y="3794760"/>
            <a:ext cx="2843784" cy="1691640"/>
          </a:xfrm>
          <a:prstGeom prst="roundRect">
            <a:avLst>
              <a:gd name="adj" fmla="val 2703"/>
            </a:avLst>
          </a:prstGeom>
          <a:solidFill>
            <a:srgbClr val="0B2137"/>
          </a:solidFill>
          <a:ln/>
        </p:spPr>
      </p:sp>
      <p:sp>
        <p:nvSpPr>
          <p:cNvPr id="18" name="Text 16"/>
          <p:cNvSpPr/>
          <p:nvPr/>
        </p:nvSpPr>
        <p:spPr>
          <a:xfrm>
            <a:off x="4855464" y="3904488"/>
            <a:ext cx="2478024" cy="1472184"/>
          </a:xfrm>
          <a:prstGeom prst="rect">
            <a:avLst/>
          </a:prstGeom>
          <a:noFill/>
          <a:ln/>
        </p:spPr>
        <p:txBody>
          <a:bodyPr wrap="square" lIns="0" tIns="0" rIns="0" bIns="0" rtlCol="0" anchor="t"/>
          <a:lstStyle/>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pwsh -File load/generate-traffic-all.ps1 `</a:t>
            </a:r>
            <a:endParaRPr lang="en-US" sz="1050" dirty="0"/>
          </a:p>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  -ResourceGroup rg-sli-demo `</a:t>
            </a:r>
            <a:endParaRPr lang="en-US" sz="1050" dirty="0"/>
          </a:p>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  -Rps 30 -DurationSeconds 1800</a:t>
            </a:r>
            <a:endParaRPr lang="en-US" sz="1050" dirty="0"/>
          </a:p>
        </p:txBody>
      </p:sp>
      <p:sp>
        <p:nvSpPr>
          <p:cNvPr id="19" name="Shape 17"/>
          <p:cNvSpPr/>
          <p:nvPr/>
        </p:nvSpPr>
        <p:spPr>
          <a:xfrm>
            <a:off x="8156448" y="1920240"/>
            <a:ext cx="3392424" cy="384048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20" name="Shape 18"/>
          <p:cNvSpPr/>
          <p:nvPr/>
        </p:nvSpPr>
        <p:spPr>
          <a:xfrm>
            <a:off x="8476488" y="2240280"/>
            <a:ext cx="457200" cy="457200"/>
          </a:xfrm>
          <a:prstGeom prst="ellipse">
            <a:avLst/>
          </a:prstGeom>
          <a:solidFill>
            <a:srgbClr val="0A2540"/>
          </a:solidFill>
          <a:ln/>
        </p:spPr>
      </p:sp>
      <p:sp>
        <p:nvSpPr>
          <p:cNvPr id="21" name="Text 19"/>
          <p:cNvSpPr/>
          <p:nvPr/>
        </p:nvSpPr>
        <p:spPr>
          <a:xfrm>
            <a:off x="8476488" y="2240280"/>
            <a:ext cx="457200" cy="457200"/>
          </a:xfrm>
          <a:prstGeom prst="rect">
            <a:avLst/>
          </a:prstGeom>
          <a:noFill/>
          <a:ln/>
        </p:spPr>
        <p:txBody>
          <a:bodyPr wrap="square" lIns="0" tIns="0" rIns="0" bIns="0" rtlCol="0" anchor="ctr"/>
          <a:lstStyle/>
          <a:p>
            <a:pPr algn="ctr" indent="0" marL="0">
              <a:buNone/>
            </a:pPr>
            <a:r>
              <a:rPr lang="en-US" sz="1600" b="1" dirty="0">
                <a:solidFill>
                  <a:srgbClr val="2DD4BF"/>
                </a:solidFill>
                <a:latin typeface="Segoe UI Semibold" pitchFamily="34" charset="0"/>
                <a:ea typeface="Segoe UI Semibold" pitchFamily="34" charset="-122"/>
                <a:cs typeface="Segoe UI Semibold" pitchFamily="34" charset="-120"/>
              </a:rPr>
              <a:t>3</a:t>
            </a:r>
            <a:endParaRPr lang="en-US" sz="1600" dirty="0"/>
          </a:p>
        </p:txBody>
      </p:sp>
      <p:sp>
        <p:nvSpPr>
          <p:cNvPr id="22" name="Text 20"/>
          <p:cNvSpPr/>
          <p:nvPr/>
        </p:nvSpPr>
        <p:spPr>
          <a:xfrm>
            <a:off x="9070848" y="2240280"/>
            <a:ext cx="2295144" cy="502920"/>
          </a:xfrm>
          <a:prstGeom prst="rect">
            <a:avLst/>
          </a:prstGeom>
          <a:noFill/>
          <a:ln/>
        </p:spPr>
        <p:txBody>
          <a:bodyPr wrap="square" lIns="0" tIns="0" rIns="0" bIns="0" rtlCol="0" anchor="ctr"/>
          <a:lstStyle/>
          <a:p>
            <a:pPr indent="0" marL="0">
              <a:buNone/>
            </a:pPr>
            <a:r>
              <a:rPr lang="en-US" sz="1500" b="1" dirty="0">
                <a:solidFill>
                  <a:srgbClr val="0A2540"/>
                </a:solidFill>
                <a:latin typeface="Segoe UI Semibold" pitchFamily="34" charset="0"/>
                <a:ea typeface="Segoe UI Semibold" pitchFamily="34" charset="-122"/>
                <a:cs typeface="Segoe UI Semibold" pitchFamily="34" charset="-120"/>
              </a:rPr>
              <a:t>Run the lab  (Terminal 2)</a:t>
            </a:r>
            <a:endParaRPr lang="en-US" sz="1500" dirty="0"/>
          </a:p>
        </p:txBody>
      </p:sp>
      <p:sp>
        <p:nvSpPr>
          <p:cNvPr id="23" name="Text 21"/>
          <p:cNvSpPr/>
          <p:nvPr/>
        </p:nvSpPr>
        <p:spPr>
          <a:xfrm>
            <a:off x="8476488" y="2880360"/>
            <a:ext cx="2752344" cy="822960"/>
          </a:xfrm>
          <a:prstGeom prst="rect">
            <a:avLst/>
          </a:prstGeom>
          <a:noFill/>
          <a:ln/>
        </p:spPr>
        <p:txBody>
          <a:bodyPr wrap="square" lIns="0" tIns="0" rIns="0" bIns="0" rtlCol="0" anchor="ctr"/>
          <a:lstStyle/>
          <a:p>
            <a:pPr indent="0" marL="0">
              <a:lnSpc>
                <a:spcPct val="110000"/>
              </a:lnSpc>
              <a:buNone/>
            </a:pPr>
            <a:r>
              <a:rPr lang="en-US" sz="1200" dirty="0">
                <a:solidFill>
                  <a:srgbClr val="64748B"/>
                </a:solidFill>
                <a:latin typeface="Segoe UI" pitchFamily="34" charset="0"/>
                <a:ea typeface="Segoe UI" pitchFamily="34" charset="-122"/>
                <a:cs typeface="Segoe UI" pitchFamily="34" charset="-120"/>
              </a:rPr>
              <a:t>Walks phases 1-8: discover journeys, author SLIs, validate.</a:t>
            </a:r>
            <a:endParaRPr lang="en-US" sz="1200" dirty="0"/>
          </a:p>
        </p:txBody>
      </p:sp>
      <p:sp>
        <p:nvSpPr>
          <p:cNvPr id="24" name="Shape 22"/>
          <p:cNvSpPr/>
          <p:nvPr/>
        </p:nvSpPr>
        <p:spPr>
          <a:xfrm>
            <a:off x="8430768" y="3794760"/>
            <a:ext cx="2843784" cy="1691640"/>
          </a:xfrm>
          <a:prstGeom prst="roundRect">
            <a:avLst>
              <a:gd name="adj" fmla="val 2703"/>
            </a:avLst>
          </a:prstGeom>
          <a:solidFill>
            <a:srgbClr val="0B2137"/>
          </a:solidFill>
          <a:ln/>
        </p:spPr>
      </p:sp>
      <p:sp>
        <p:nvSpPr>
          <p:cNvPr id="25" name="Text 23"/>
          <p:cNvSpPr/>
          <p:nvPr/>
        </p:nvSpPr>
        <p:spPr>
          <a:xfrm>
            <a:off x="8613648" y="3904488"/>
            <a:ext cx="2478024" cy="1472184"/>
          </a:xfrm>
          <a:prstGeom prst="rect">
            <a:avLst/>
          </a:prstGeom>
          <a:noFill/>
          <a:ln/>
        </p:spPr>
        <p:txBody>
          <a:bodyPr wrap="square" lIns="0" tIns="0" rIns="0" bIns="0" rtlCol="0" anchor="t"/>
          <a:lstStyle/>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./run-lab.ps1 `</a:t>
            </a:r>
            <a:endParaRPr lang="en-US" sz="1050" dirty="0"/>
          </a:p>
          <a:p>
            <a:pPr indent="0" marL="0">
              <a:lnSpc>
                <a:spcPct val="115000"/>
              </a:lnSpc>
              <a:buNone/>
            </a:pPr>
            <a:r>
              <a:rPr lang="en-US" sz="1050" dirty="0">
                <a:solidFill>
                  <a:srgbClr val="2DD4BF"/>
                </a:solidFill>
                <a:latin typeface="Consolas" pitchFamily="34" charset="0"/>
                <a:ea typeface="Consolas" pitchFamily="34" charset="-122"/>
                <a:cs typeface="Consolas" pitchFamily="34" charset="-120"/>
              </a:rPr>
              <a:t>  -ResourceGroup rg-sli-demo</a:t>
            </a:r>
            <a:endParaRPr lang="en-US" sz="1050" dirty="0"/>
          </a:p>
        </p:txBody>
      </p:sp>
      <p:sp>
        <p:nvSpPr>
          <p:cNvPr id="26" name="Text 24"/>
          <p:cNvSpPr/>
          <p:nvPr/>
        </p:nvSpPr>
        <p:spPr>
          <a:xfrm>
            <a:off x="640080" y="5897880"/>
            <a:ext cx="10908792" cy="320040"/>
          </a:xfrm>
          <a:prstGeom prst="rect">
            <a:avLst/>
          </a:prstGeom>
          <a:noFill/>
          <a:ln/>
        </p:spPr>
        <p:txBody>
          <a:bodyPr wrap="square" lIns="0" tIns="0" rIns="0" bIns="0" rtlCol="0" anchor="ctr"/>
          <a:lstStyle/>
          <a:p>
            <a:pPr indent="0" marL="0">
              <a:buNone/>
            </a:pPr>
            <a:r>
              <a:rPr lang="en-US" sz="1150" i="1" dirty="0">
                <a:solidFill>
                  <a:srgbClr val="64748B"/>
                </a:solidFill>
                <a:latin typeface="Segoe UI" pitchFamily="34" charset="0"/>
                <a:ea typeface="Segoe UI" pitchFamily="34" charset="-122"/>
                <a:cs typeface="Segoe UI" pitchFamily="34" charset="-120"/>
              </a:rPr>
              <a:t>Prerequisites: Azure CLI signed in, PowerShell 7+, Contributor + User Access Administrator on the subscription.</a:t>
            </a:r>
            <a:endParaRPr lang="en-US" sz="1150" dirty="0"/>
          </a:p>
        </p:txBody>
      </p:sp>
      <p:sp>
        <p:nvSpPr>
          <p:cNvPr id="28" name="Text 25"/>
          <p:cNvSpPr/>
          <p:nvPr/>
        </p:nvSpPr>
        <p:spPr>
          <a:xfrm>
            <a:off x="640080" y="6473952"/>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Azure Monitor  ·  SLI / SLO Hands-On Lab</a:t>
            </a:r>
            <a:endParaRPr lang="en-US" sz="900" dirty="0"/>
          </a:p>
        </p:txBody>
      </p:sp>
      <p:sp>
        <p:nvSpPr>
          <p:cNvPr id="29" name="Text 26"/>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rect">
            <a:avLst/>
          </a:prstGeom>
          <a:solidFill>
            <a:srgbClr val="2DD4BF"/>
          </a:solidFill>
          <a:ln/>
        </p:spPr>
      </p:sp>
      <p:sp>
        <p:nvSpPr>
          <p:cNvPr id="3" name="Text 1"/>
          <p:cNvSpPr/>
          <p:nvPr/>
        </p:nvSpPr>
        <p:spPr>
          <a:xfrm>
            <a:off x="896112" y="402336"/>
            <a:ext cx="9144000" cy="320040"/>
          </a:xfrm>
          <a:prstGeom prst="rect">
            <a:avLst/>
          </a:prstGeom>
          <a:noFill/>
          <a:ln/>
        </p:spPr>
        <p:txBody>
          <a:bodyPr wrap="square" lIns="0" tIns="0" rIns="0" bIns="0" rtlCol="0" anchor="ctr"/>
          <a:lstStyle/>
          <a:p>
            <a:pPr indent="0" marL="0">
              <a:buNone/>
            </a:pPr>
            <a:r>
              <a:rPr lang="en-US" sz="1200" b="1" spc="200" kern="0" dirty="0">
                <a:solidFill>
                  <a:srgbClr val="0D9488"/>
                </a:solidFill>
                <a:latin typeface="Segoe UI" pitchFamily="34" charset="0"/>
                <a:ea typeface="Segoe UI" pitchFamily="34" charset="-122"/>
                <a:cs typeface="Segoe UI" pitchFamily="34" charset="-120"/>
              </a:rPr>
              <a:t>RUN THE LAB  ·  WHAT RUN-LAB.PS1 DOES</a:t>
            </a:r>
            <a:endParaRPr lang="en-US" sz="1200" dirty="0"/>
          </a:p>
        </p:txBody>
      </p:sp>
      <p:sp>
        <p:nvSpPr>
          <p:cNvPr id="4" name="Text 2"/>
          <p:cNvSpPr/>
          <p:nvPr/>
        </p:nvSpPr>
        <p:spPr>
          <a:xfrm>
            <a:off x="640080" y="749808"/>
            <a:ext cx="10908792" cy="822960"/>
          </a:xfrm>
          <a:prstGeom prst="rect">
            <a:avLst/>
          </a:prstGeom>
          <a:noFill/>
          <a:ln/>
        </p:spPr>
        <p:txBody>
          <a:bodyPr wrap="square" lIns="0" tIns="0" rIns="0" bIns="0" rtlCol="0" anchor="ctr"/>
          <a:lstStyle/>
          <a:p>
            <a:pPr indent="0" marL="0">
              <a:buNone/>
            </a:pPr>
            <a:r>
              <a:rPr lang="en-US" sz="3000" b="1" dirty="0">
                <a:solidFill>
                  <a:srgbClr val="0A2540"/>
                </a:solidFill>
                <a:latin typeface="Segoe UI Semibold" pitchFamily="34" charset="0"/>
                <a:ea typeface="Segoe UI Semibold" pitchFamily="34" charset="-122"/>
                <a:cs typeface="Segoe UI Semibold" pitchFamily="34" charset="-120"/>
              </a:rPr>
              <a:t>The 8-phase SLI design method</a:t>
            </a:r>
            <a:endParaRPr lang="en-US" sz="3000" dirty="0"/>
          </a:p>
        </p:txBody>
      </p:sp>
      <p:sp>
        <p:nvSpPr>
          <p:cNvPr id="5" name="Shape 3"/>
          <p:cNvSpPr/>
          <p:nvPr/>
        </p:nvSpPr>
        <p:spPr>
          <a:xfrm>
            <a:off x="640080" y="1874520"/>
            <a:ext cx="420624" cy="420624"/>
          </a:xfrm>
          <a:prstGeom prst="ellipse">
            <a:avLst/>
          </a:prstGeom>
          <a:solidFill>
            <a:srgbClr val="2DD4BF"/>
          </a:solidFill>
          <a:ln/>
        </p:spPr>
      </p:sp>
      <p:sp>
        <p:nvSpPr>
          <p:cNvPr id="6" name="Text 4"/>
          <p:cNvSpPr/>
          <p:nvPr/>
        </p:nvSpPr>
        <p:spPr>
          <a:xfrm>
            <a:off x="640080" y="1874520"/>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1</a:t>
            </a:r>
            <a:endParaRPr lang="en-US" sz="1600" dirty="0"/>
          </a:p>
        </p:txBody>
      </p:sp>
      <p:sp>
        <p:nvSpPr>
          <p:cNvPr id="7" name="Text 5"/>
          <p:cNvSpPr/>
          <p:nvPr/>
        </p:nvSpPr>
        <p:spPr>
          <a:xfrm>
            <a:off x="1207008" y="1828800"/>
            <a:ext cx="4613148" cy="310896"/>
          </a:xfrm>
          <a:prstGeom prst="rect">
            <a:avLst/>
          </a:prstGeom>
          <a:noFill/>
          <a:ln/>
        </p:spPr>
        <p:txBody>
          <a:bodyPr wrap="square" lIns="0" tIns="0" rIns="0" bIns="0" rtlCol="0" anchor="ctr"/>
          <a:lstStyle/>
          <a:p>
            <a:pPr indent="0" marL="0">
              <a:buNone/>
            </a:pPr>
            <a:r>
              <a:rPr lang="en-US" sz="1400" b="1" dirty="0">
                <a:solidFill>
                  <a:srgbClr val="0A2540"/>
                </a:solidFill>
                <a:latin typeface="Segoe UI Semibold" pitchFamily="34" charset="0"/>
                <a:ea typeface="Segoe UI Semibold" pitchFamily="34" charset="-122"/>
                <a:cs typeface="Segoe UI Semibold" pitchFamily="34" charset="-120"/>
              </a:rPr>
              <a:t>Environment setup &amp; access checks</a:t>
            </a:r>
            <a:endParaRPr lang="en-US" sz="1400" dirty="0"/>
          </a:p>
        </p:txBody>
      </p:sp>
      <p:sp>
        <p:nvSpPr>
          <p:cNvPr id="8" name="Text 6"/>
          <p:cNvSpPr/>
          <p:nvPr/>
        </p:nvSpPr>
        <p:spPr>
          <a:xfrm>
            <a:off x="1207008" y="2148840"/>
            <a:ext cx="4613148" cy="566928"/>
          </a:xfrm>
          <a:prstGeom prst="rect">
            <a:avLst/>
          </a:prstGeom>
          <a:noFill/>
          <a:ln/>
        </p:spPr>
        <p:txBody>
          <a:bodyPr wrap="square" lIns="0" tIns="0" rIns="0" bIns="0" rtlCol="0" anchor="ctr"/>
          <a:lstStyle/>
          <a:p>
            <a:pPr indent="0" marL="0">
              <a:lnSpc>
                <a:spcPct val="105000"/>
              </a:lnSpc>
              <a:buNone/>
            </a:pPr>
            <a:r>
              <a:rPr lang="en-US" sz="1100" dirty="0">
                <a:solidFill>
                  <a:srgbClr val="64748B"/>
                </a:solidFill>
                <a:latin typeface="Segoe UI" pitchFamily="34" charset="0"/>
                <a:ea typeface="Segoe UI" pitchFamily="34" charset="-122"/>
                <a:cs typeface="Segoe UI" pitchFamily="34" charset="-120"/>
              </a:rPr>
              <a:t>Selects subscription, resolves the workspace, verifies metrics are live.</a:t>
            </a:r>
            <a:endParaRPr lang="en-US" sz="1100" dirty="0"/>
          </a:p>
        </p:txBody>
      </p:sp>
      <p:sp>
        <p:nvSpPr>
          <p:cNvPr id="9" name="Shape 7"/>
          <p:cNvSpPr/>
          <p:nvPr/>
        </p:nvSpPr>
        <p:spPr>
          <a:xfrm>
            <a:off x="640080" y="2953512"/>
            <a:ext cx="420624" cy="420624"/>
          </a:xfrm>
          <a:prstGeom prst="ellipse">
            <a:avLst/>
          </a:prstGeom>
          <a:solidFill>
            <a:srgbClr val="2DD4BF"/>
          </a:solidFill>
          <a:ln/>
        </p:spPr>
      </p:sp>
      <p:sp>
        <p:nvSpPr>
          <p:cNvPr id="10" name="Text 8"/>
          <p:cNvSpPr/>
          <p:nvPr/>
        </p:nvSpPr>
        <p:spPr>
          <a:xfrm>
            <a:off x="640080" y="2953512"/>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1207008" y="2907792"/>
            <a:ext cx="4613148" cy="310896"/>
          </a:xfrm>
          <a:prstGeom prst="rect">
            <a:avLst/>
          </a:prstGeom>
          <a:noFill/>
          <a:ln/>
        </p:spPr>
        <p:txBody>
          <a:bodyPr wrap="square" lIns="0" tIns="0" rIns="0" bIns="0" rtlCol="0" anchor="ctr"/>
          <a:lstStyle/>
          <a:p>
            <a:pPr indent="0" marL="0">
              <a:buNone/>
            </a:pPr>
            <a:r>
              <a:rPr lang="en-US" sz="1400" b="1" dirty="0">
                <a:solidFill>
                  <a:srgbClr val="0A2540"/>
                </a:solidFill>
                <a:latin typeface="Segoe UI Semibold" pitchFamily="34" charset="0"/>
                <a:ea typeface="Segoe UI Semibold" pitchFamily="34" charset="-122"/>
                <a:cs typeface="Segoe UI Semibold" pitchFamily="34" charset="-120"/>
              </a:rPr>
              <a:t>Enumerate ALL user journeys</a:t>
            </a:r>
            <a:endParaRPr lang="en-US" sz="1400" dirty="0"/>
          </a:p>
        </p:txBody>
      </p:sp>
      <p:sp>
        <p:nvSpPr>
          <p:cNvPr id="12" name="Text 10"/>
          <p:cNvSpPr/>
          <p:nvPr/>
        </p:nvSpPr>
        <p:spPr>
          <a:xfrm>
            <a:off x="1207008" y="3227832"/>
            <a:ext cx="4613148" cy="566928"/>
          </a:xfrm>
          <a:prstGeom prst="rect">
            <a:avLst/>
          </a:prstGeom>
          <a:noFill/>
          <a:ln/>
        </p:spPr>
        <p:txBody>
          <a:bodyPr wrap="square" lIns="0" tIns="0" rIns="0" bIns="0" rtlCol="0" anchor="ctr"/>
          <a:lstStyle/>
          <a:p>
            <a:pPr indent="0" marL="0">
              <a:lnSpc>
                <a:spcPct val="105000"/>
              </a:lnSpc>
              <a:buNone/>
            </a:pPr>
            <a:r>
              <a:rPr lang="en-US" sz="1100" dirty="0">
                <a:solidFill>
                  <a:srgbClr val="64748B"/>
                </a:solidFill>
                <a:latin typeface="Segoe UI" pitchFamily="34" charset="0"/>
                <a:ea typeface="Segoe UI" pitchFamily="34" charset="-122"/>
                <a:cs typeface="Segoe UI" pitchFamily="34" charset="-120"/>
              </a:rPr>
              <a:t>Builds a journey inventory straight from telemetry.</a:t>
            </a:r>
            <a:endParaRPr lang="en-US" sz="1100" dirty="0"/>
          </a:p>
        </p:txBody>
      </p:sp>
      <p:sp>
        <p:nvSpPr>
          <p:cNvPr id="13" name="Shape 11"/>
          <p:cNvSpPr/>
          <p:nvPr/>
        </p:nvSpPr>
        <p:spPr>
          <a:xfrm>
            <a:off x="640080" y="4032504"/>
            <a:ext cx="420624" cy="420624"/>
          </a:xfrm>
          <a:prstGeom prst="ellipse">
            <a:avLst/>
          </a:prstGeom>
          <a:solidFill>
            <a:srgbClr val="2DD4BF"/>
          </a:solidFill>
          <a:ln/>
        </p:spPr>
      </p:sp>
      <p:sp>
        <p:nvSpPr>
          <p:cNvPr id="14" name="Text 12"/>
          <p:cNvSpPr/>
          <p:nvPr/>
        </p:nvSpPr>
        <p:spPr>
          <a:xfrm>
            <a:off x="640080" y="4032504"/>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3</a:t>
            </a:r>
            <a:endParaRPr lang="en-US" sz="1600" dirty="0"/>
          </a:p>
        </p:txBody>
      </p:sp>
      <p:sp>
        <p:nvSpPr>
          <p:cNvPr id="15" name="Text 13"/>
          <p:cNvSpPr/>
          <p:nvPr/>
        </p:nvSpPr>
        <p:spPr>
          <a:xfrm>
            <a:off x="1207008" y="3986784"/>
            <a:ext cx="4613148" cy="310896"/>
          </a:xfrm>
          <a:prstGeom prst="rect">
            <a:avLst/>
          </a:prstGeom>
          <a:noFill/>
          <a:ln/>
        </p:spPr>
        <p:txBody>
          <a:bodyPr wrap="square" lIns="0" tIns="0" rIns="0" bIns="0" rtlCol="0" anchor="ctr"/>
          <a:lstStyle/>
          <a:p>
            <a:pPr indent="0" marL="0">
              <a:buNone/>
            </a:pPr>
            <a:r>
              <a:rPr lang="en-US" sz="1400" b="1" dirty="0">
                <a:solidFill>
                  <a:srgbClr val="0A2540"/>
                </a:solidFill>
                <a:latin typeface="Segoe UI Semibold" pitchFamily="34" charset="0"/>
                <a:ea typeface="Segoe UI Semibold" pitchFamily="34" charset="-122"/>
                <a:cs typeface="Segoe UI Semibold" pitchFamily="34" charset="-120"/>
              </a:rPr>
              <a:t>Extract the CRITICAL journeys</a:t>
            </a:r>
            <a:endParaRPr lang="en-US" sz="1400" dirty="0"/>
          </a:p>
        </p:txBody>
      </p:sp>
      <p:sp>
        <p:nvSpPr>
          <p:cNvPr id="16" name="Text 14"/>
          <p:cNvSpPr/>
          <p:nvPr/>
        </p:nvSpPr>
        <p:spPr>
          <a:xfrm>
            <a:off x="1207008" y="4306824"/>
            <a:ext cx="4613148" cy="566928"/>
          </a:xfrm>
          <a:prstGeom prst="rect">
            <a:avLst/>
          </a:prstGeom>
          <a:noFill/>
          <a:ln/>
        </p:spPr>
        <p:txBody>
          <a:bodyPr wrap="square" lIns="0" tIns="0" rIns="0" bIns="0" rtlCol="0" anchor="ctr"/>
          <a:lstStyle/>
          <a:p>
            <a:pPr indent="0" marL="0">
              <a:lnSpc>
                <a:spcPct val="105000"/>
              </a:lnSpc>
              <a:buNone/>
            </a:pPr>
            <a:r>
              <a:rPr lang="en-US" sz="1100" dirty="0">
                <a:solidFill>
                  <a:srgbClr val="64748B"/>
                </a:solidFill>
                <a:latin typeface="Segoe UI" pitchFamily="34" charset="0"/>
                <a:ea typeface="Segoe UI" pitchFamily="34" charset="-122"/>
                <a:cs typeface="Segoe UI" pitchFamily="34" charset="-120"/>
              </a:rPr>
              <a:t>Scores each journey; keeps the ones that matter most.</a:t>
            </a:r>
            <a:endParaRPr lang="en-US" sz="1100" dirty="0"/>
          </a:p>
        </p:txBody>
      </p:sp>
      <p:sp>
        <p:nvSpPr>
          <p:cNvPr id="17" name="Shape 15"/>
          <p:cNvSpPr/>
          <p:nvPr/>
        </p:nvSpPr>
        <p:spPr>
          <a:xfrm>
            <a:off x="640080" y="5111496"/>
            <a:ext cx="420624" cy="420624"/>
          </a:xfrm>
          <a:prstGeom prst="ellipse">
            <a:avLst/>
          </a:prstGeom>
          <a:solidFill>
            <a:srgbClr val="2DD4BF"/>
          </a:solidFill>
          <a:ln/>
        </p:spPr>
      </p:sp>
      <p:sp>
        <p:nvSpPr>
          <p:cNvPr id="18" name="Text 16"/>
          <p:cNvSpPr/>
          <p:nvPr/>
        </p:nvSpPr>
        <p:spPr>
          <a:xfrm>
            <a:off x="640080" y="5111496"/>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4</a:t>
            </a:r>
            <a:endParaRPr lang="en-US" sz="1600" dirty="0"/>
          </a:p>
        </p:txBody>
      </p:sp>
      <p:sp>
        <p:nvSpPr>
          <p:cNvPr id="19" name="Text 17"/>
          <p:cNvSpPr/>
          <p:nvPr/>
        </p:nvSpPr>
        <p:spPr>
          <a:xfrm>
            <a:off x="1207008" y="5065776"/>
            <a:ext cx="4613148" cy="310896"/>
          </a:xfrm>
          <a:prstGeom prst="rect">
            <a:avLst/>
          </a:prstGeom>
          <a:noFill/>
          <a:ln/>
        </p:spPr>
        <p:txBody>
          <a:bodyPr wrap="square" lIns="0" tIns="0" rIns="0" bIns="0" rtlCol="0" anchor="ctr"/>
          <a:lstStyle/>
          <a:p>
            <a:pPr indent="0" marL="0">
              <a:buNone/>
            </a:pPr>
            <a:r>
              <a:rPr lang="en-US" sz="1400" b="1" dirty="0">
                <a:solidFill>
                  <a:srgbClr val="0A2540"/>
                </a:solidFill>
                <a:latin typeface="Segoe UI Semibold" pitchFamily="34" charset="0"/>
                <a:ea typeface="Segoe UI Semibold" pitchFamily="34" charset="-122"/>
                <a:cs typeface="Segoe UI Semibold" pitchFamily="34" charset="-120"/>
              </a:rPr>
              <a:t>Data collection per journey</a:t>
            </a:r>
            <a:endParaRPr lang="en-US" sz="1400" dirty="0"/>
          </a:p>
        </p:txBody>
      </p:sp>
      <p:sp>
        <p:nvSpPr>
          <p:cNvPr id="20" name="Text 18"/>
          <p:cNvSpPr/>
          <p:nvPr/>
        </p:nvSpPr>
        <p:spPr>
          <a:xfrm>
            <a:off x="1207008" y="5385816"/>
            <a:ext cx="4613148" cy="566928"/>
          </a:xfrm>
          <a:prstGeom prst="rect">
            <a:avLst/>
          </a:prstGeom>
          <a:noFill/>
          <a:ln/>
        </p:spPr>
        <p:txBody>
          <a:bodyPr wrap="square" lIns="0" tIns="0" rIns="0" bIns="0" rtlCol="0" anchor="ctr"/>
          <a:lstStyle/>
          <a:p>
            <a:pPr indent="0" marL="0">
              <a:lnSpc>
                <a:spcPct val="105000"/>
              </a:lnSpc>
              <a:buNone/>
            </a:pPr>
            <a:r>
              <a:rPr lang="en-US" sz="1100" dirty="0">
                <a:solidFill>
                  <a:srgbClr val="64748B"/>
                </a:solidFill>
                <a:latin typeface="Segoe UI" pitchFamily="34" charset="0"/>
                <a:ea typeface="Segoe UI" pitchFamily="34" charset="-122"/>
                <a:cs typeface="Segoe UI" pitchFamily="34" charset="-120"/>
              </a:rPr>
              <a:t>Confirms source metrics, measures current performance, checks for gaps.</a:t>
            </a:r>
            <a:endParaRPr lang="en-US" sz="1100" dirty="0"/>
          </a:p>
        </p:txBody>
      </p:sp>
      <p:sp>
        <p:nvSpPr>
          <p:cNvPr id="21" name="Shape 19"/>
          <p:cNvSpPr/>
          <p:nvPr/>
        </p:nvSpPr>
        <p:spPr>
          <a:xfrm>
            <a:off x="6368796" y="1874520"/>
            <a:ext cx="420624" cy="420624"/>
          </a:xfrm>
          <a:prstGeom prst="ellipse">
            <a:avLst/>
          </a:prstGeom>
          <a:solidFill>
            <a:srgbClr val="2DD4BF"/>
          </a:solidFill>
          <a:ln/>
        </p:spPr>
      </p:sp>
      <p:sp>
        <p:nvSpPr>
          <p:cNvPr id="22" name="Text 20"/>
          <p:cNvSpPr/>
          <p:nvPr/>
        </p:nvSpPr>
        <p:spPr>
          <a:xfrm>
            <a:off x="6368796" y="1874520"/>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5</a:t>
            </a:r>
            <a:endParaRPr lang="en-US" sz="1600" dirty="0"/>
          </a:p>
        </p:txBody>
      </p:sp>
      <p:sp>
        <p:nvSpPr>
          <p:cNvPr id="23" name="Text 21"/>
          <p:cNvSpPr/>
          <p:nvPr/>
        </p:nvSpPr>
        <p:spPr>
          <a:xfrm>
            <a:off x="6935724" y="1828800"/>
            <a:ext cx="4613148" cy="310896"/>
          </a:xfrm>
          <a:prstGeom prst="rect">
            <a:avLst/>
          </a:prstGeom>
          <a:noFill/>
          <a:ln/>
        </p:spPr>
        <p:txBody>
          <a:bodyPr wrap="square" lIns="0" tIns="0" rIns="0" bIns="0" rtlCol="0" anchor="ctr"/>
          <a:lstStyle/>
          <a:p>
            <a:pPr indent="0" marL="0">
              <a:buNone/>
            </a:pPr>
            <a:r>
              <a:rPr lang="en-US" sz="1400" b="1" dirty="0">
                <a:solidFill>
                  <a:srgbClr val="0A2540"/>
                </a:solidFill>
                <a:latin typeface="Segoe UI Semibold" pitchFamily="34" charset="0"/>
                <a:ea typeface="Segoe UI Semibold" pitchFamily="34" charset="-122"/>
                <a:cs typeface="Segoe UI Semibold" pitchFamily="34" charset="-120"/>
              </a:rPr>
              <a:t>Consolidate the design checklist</a:t>
            </a:r>
            <a:endParaRPr lang="en-US" sz="1400" dirty="0"/>
          </a:p>
        </p:txBody>
      </p:sp>
      <p:sp>
        <p:nvSpPr>
          <p:cNvPr id="24" name="Text 22"/>
          <p:cNvSpPr/>
          <p:nvPr/>
        </p:nvSpPr>
        <p:spPr>
          <a:xfrm>
            <a:off x="6935724" y="2148840"/>
            <a:ext cx="4613148" cy="566928"/>
          </a:xfrm>
          <a:prstGeom prst="rect">
            <a:avLst/>
          </a:prstGeom>
          <a:noFill/>
          <a:ln/>
        </p:spPr>
        <p:txBody>
          <a:bodyPr wrap="square" lIns="0" tIns="0" rIns="0" bIns="0" rtlCol="0" anchor="ctr"/>
          <a:lstStyle/>
          <a:p>
            <a:pPr indent="0" marL="0">
              <a:lnSpc>
                <a:spcPct val="105000"/>
              </a:lnSpc>
              <a:buNone/>
            </a:pPr>
            <a:r>
              <a:rPr lang="en-US" sz="1100" dirty="0">
                <a:solidFill>
                  <a:srgbClr val="64748B"/>
                </a:solidFill>
                <a:latin typeface="Segoe UI" pitchFamily="34" charset="0"/>
                <a:ea typeface="Segoe UI" pitchFamily="34" charset="-122"/>
                <a:cs typeface="Segoe UI" pitchFamily="34" charset="-120"/>
              </a:rPr>
              <a:t>One row per SLI: type, target, window, budget, burn policy.</a:t>
            </a:r>
            <a:endParaRPr lang="en-US" sz="1100" dirty="0"/>
          </a:p>
        </p:txBody>
      </p:sp>
      <p:sp>
        <p:nvSpPr>
          <p:cNvPr id="25" name="Shape 23"/>
          <p:cNvSpPr/>
          <p:nvPr/>
        </p:nvSpPr>
        <p:spPr>
          <a:xfrm>
            <a:off x="6368796" y="2953512"/>
            <a:ext cx="420624" cy="420624"/>
          </a:xfrm>
          <a:prstGeom prst="ellipse">
            <a:avLst/>
          </a:prstGeom>
          <a:solidFill>
            <a:srgbClr val="F59E0B"/>
          </a:solidFill>
          <a:ln/>
        </p:spPr>
      </p:sp>
      <p:sp>
        <p:nvSpPr>
          <p:cNvPr id="26" name="Text 24"/>
          <p:cNvSpPr/>
          <p:nvPr/>
        </p:nvSpPr>
        <p:spPr>
          <a:xfrm>
            <a:off x="6368796" y="2953512"/>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6</a:t>
            </a:r>
            <a:endParaRPr lang="en-US" sz="1600" dirty="0"/>
          </a:p>
        </p:txBody>
      </p:sp>
      <p:sp>
        <p:nvSpPr>
          <p:cNvPr id="27" name="Text 25"/>
          <p:cNvSpPr/>
          <p:nvPr/>
        </p:nvSpPr>
        <p:spPr>
          <a:xfrm>
            <a:off x="6935724" y="2907792"/>
            <a:ext cx="4613148" cy="310896"/>
          </a:xfrm>
          <a:prstGeom prst="rect">
            <a:avLst/>
          </a:prstGeom>
          <a:noFill/>
          <a:ln/>
        </p:spPr>
        <p:txBody>
          <a:bodyPr wrap="square" lIns="0" tIns="0" rIns="0" bIns="0" rtlCol="0" anchor="ctr"/>
          <a:lstStyle/>
          <a:p>
            <a:pPr indent="0" marL="0">
              <a:buNone/>
            </a:pPr>
            <a:r>
              <a:rPr lang="en-US" sz="1400" b="1" dirty="0">
                <a:solidFill>
                  <a:srgbClr val="0A2540"/>
                </a:solidFill>
                <a:latin typeface="Segoe UI Semibold" pitchFamily="34" charset="0"/>
                <a:ea typeface="Segoe UI Semibold" pitchFamily="34" charset="-122"/>
                <a:cs typeface="Segoe UI Semibold" pitchFamily="34" charset="-120"/>
              </a:rPr>
              <a:t>Author the SLIs in the portal</a:t>
            </a:r>
            <a:endParaRPr lang="en-US" sz="1400" dirty="0"/>
          </a:p>
        </p:txBody>
      </p:sp>
      <p:sp>
        <p:nvSpPr>
          <p:cNvPr id="28" name="Text 26"/>
          <p:cNvSpPr/>
          <p:nvPr/>
        </p:nvSpPr>
        <p:spPr>
          <a:xfrm>
            <a:off x="6935724" y="3227832"/>
            <a:ext cx="4613148" cy="566928"/>
          </a:xfrm>
          <a:prstGeom prst="rect">
            <a:avLst/>
          </a:prstGeom>
          <a:noFill/>
          <a:ln/>
        </p:spPr>
        <p:txBody>
          <a:bodyPr wrap="square" lIns="0" tIns="0" rIns="0" bIns="0" rtlCol="0" anchor="ctr"/>
          <a:lstStyle/>
          <a:p>
            <a:pPr indent="0" marL="0">
              <a:lnSpc>
                <a:spcPct val="105000"/>
              </a:lnSpc>
              <a:buNone/>
            </a:pPr>
            <a:r>
              <a:rPr lang="en-US" sz="1100" dirty="0">
                <a:solidFill>
                  <a:srgbClr val="64748B"/>
                </a:solidFill>
                <a:latin typeface="Segoe UI" pitchFamily="34" charset="0"/>
                <a:ea typeface="Segoe UI" pitchFamily="34" charset="-122"/>
                <a:cs typeface="Segoe UI" pitchFamily="34" charset="-120"/>
              </a:rPr>
              <a:t>Creates the Service Group and the three SLIs (optionally automated).</a:t>
            </a:r>
            <a:endParaRPr lang="en-US" sz="1100" dirty="0"/>
          </a:p>
        </p:txBody>
      </p:sp>
      <p:sp>
        <p:nvSpPr>
          <p:cNvPr id="29" name="Shape 27"/>
          <p:cNvSpPr/>
          <p:nvPr/>
        </p:nvSpPr>
        <p:spPr>
          <a:xfrm>
            <a:off x="6368796" y="4032504"/>
            <a:ext cx="420624" cy="420624"/>
          </a:xfrm>
          <a:prstGeom prst="ellipse">
            <a:avLst/>
          </a:prstGeom>
          <a:solidFill>
            <a:srgbClr val="F59E0B"/>
          </a:solidFill>
          <a:ln/>
        </p:spPr>
      </p:sp>
      <p:sp>
        <p:nvSpPr>
          <p:cNvPr id="30" name="Text 28"/>
          <p:cNvSpPr/>
          <p:nvPr/>
        </p:nvSpPr>
        <p:spPr>
          <a:xfrm>
            <a:off x="6368796" y="4032504"/>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7</a:t>
            </a:r>
            <a:endParaRPr lang="en-US" sz="1600" dirty="0"/>
          </a:p>
        </p:txBody>
      </p:sp>
      <p:sp>
        <p:nvSpPr>
          <p:cNvPr id="31" name="Text 29"/>
          <p:cNvSpPr/>
          <p:nvPr/>
        </p:nvSpPr>
        <p:spPr>
          <a:xfrm>
            <a:off x="6935724" y="3986784"/>
            <a:ext cx="4613148" cy="310896"/>
          </a:xfrm>
          <a:prstGeom prst="rect">
            <a:avLst/>
          </a:prstGeom>
          <a:noFill/>
          <a:ln/>
        </p:spPr>
        <p:txBody>
          <a:bodyPr wrap="square" lIns="0" tIns="0" rIns="0" bIns="0" rtlCol="0" anchor="ctr"/>
          <a:lstStyle/>
          <a:p>
            <a:pPr indent="0" marL="0">
              <a:buNone/>
            </a:pPr>
            <a:r>
              <a:rPr lang="en-US" sz="1400" b="1" dirty="0">
                <a:solidFill>
                  <a:srgbClr val="0A2540"/>
                </a:solidFill>
                <a:latin typeface="Segoe UI Semibold" pitchFamily="34" charset="0"/>
                <a:ea typeface="Segoe UI Semibold" pitchFamily="34" charset="-122"/>
                <a:cs typeface="Segoe UI Semibold" pitchFamily="34" charset="-120"/>
              </a:rPr>
              <a:t>Validate end to end</a:t>
            </a:r>
            <a:endParaRPr lang="en-US" sz="1400" dirty="0"/>
          </a:p>
        </p:txBody>
      </p:sp>
      <p:sp>
        <p:nvSpPr>
          <p:cNvPr id="32" name="Text 30"/>
          <p:cNvSpPr/>
          <p:nvPr/>
        </p:nvSpPr>
        <p:spPr>
          <a:xfrm>
            <a:off x="6935724" y="4306824"/>
            <a:ext cx="4613148" cy="566928"/>
          </a:xfrm>
          <a:prstGeom prst="rect">
            <a:avLst/>
          </a:prstGeom>
          <a:noFill/>
          <a:ln/>
        </p:spPr>
        <p:txBody>
          <a:bodyPr wrap="square" lIns="0" tIns="0" rIns="0" bIns="0" rtlCol="0" anchor="ctr"/>
          <a:lstStyle/>
          <a:p>
            <a:pPr indent="0" marL="0">
              <a:lnSpc>
                <a:spcPct val="105000"/>
              </a:lnSpc>
              <a:buNone/>
            </a:pPr>
            <a:r>
              <a:rPr lang="en-US" sz="1100" dirty="0">
                <a:solidFill>
                  <a:srgbClr val="64748B"/>
                </a:solidFill>
                <a:latin typeface="Segoe UI" pitchFamily="34" charset="0"/>
                <a:ea typeface="Segoe UI" pitchFamily="34" charset="-122"/>
                <a:cs typeface="Segoe UI" pitchFamily="34" charset="-120"/>
              </a:rPr>
              <a:t>Confirms the SLI engine is publishing Value / Good / Total results.</a:t>
            </a:r>
            <a:endParaRPr lang="en-US" sz="1100" dirty="0"/>
          </a:p>
        </p:txBody>
      </p:sp>
      <p:sp>
        <p:nvSpPr>
          <p:cNvPr id="33" name="Shape 31"/>
          <p:cNvSpPr/>
          <p:nvPr/>
        </p:nvSpPr>
        <p:spPr>
          <a:xfrm>
            <a:off x="6368796" y="5111496"/>
            <a:ext cx="420624" cy="420624"/>
          </a:xfrm>
          <a:prstGeom prst="ellipse">
            <a:avLst/>
          </a:prstGeom>
          <a:solidFill>
            <a:srgbClr val="F59E0B"/>
          </a:solidFill>
          <a:ln/>
        </p:spPr>
      </p:sp>
      <p:sp>
        <p:nvSpPr>
          <p:cNvPr id="34" name="Text 32"/>
          <p:cNvSpPr/>
          <p:nvPr/>
        </p:nvSpPr>
        <p:spPr>
          <a:xfrm>
            <a:off x="6368796" y="5111496"/>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8</a:t>
            </a:r>
            <a:endParaRPr lang="en-US" sz="1600" dirty="0"/>
          </a:p>
        </p:txBody>
      </p:sp>
      <p:sp>
        <p:nvSpPr>
          <p:cNvPr id="35" name="Text 33"/>
          <p:cNvSpPr/>
          <p:nvPr/>
        </p:nvSpPr>
        <p:spPr>
          <a:xfrm>
            <a:off x="6935724" y="5065776"/>
            <a:ext cx="4613148" cy="310896"/>
          </a:xfrm>
          <a:prstGeom prst="rect">
            <a:avLst/>
          </a:prstGeom>
          <a:noFill/>
          <a:ln/>
        </p:spPr>
        <p:txBody>
          <a:bodyPr wrap="square" lIns="0" tIns="0" rIns="0" bIns="0" rtlCol="0" anchor="ctr"/>
          <a:lstStyle/>
          <a:p>
            <a:pPr indent="0" marL="0">
              <a:buNone/>
            </a:pPr>
            <a:r>
              <a:rPr lang="en-US" sz="1400" b="1" dirty="0">
                <a:solidFill>
                  <a:srgbClr val="0A2540"/>
                </a:solidFill>
                <a:latin typeface="Segoe UI Semibold" pitchFamily="34" charset="0"/>
                <a:ea typeface="Segoe UI Semibold" pitchFamily="34" charset="-122"/>
                <a:cs typeface="Segoe UI Semibold" pitchFamily="34" charset="-120"/>
              </a:rPr>
              <a:t>Lab completion checklist</a:t>
            </a:r>
            <a:endParaRPr lang="en-US" sz="1400" dirty="0"/>
          </a:p>
        </p:txBody>
      </p:sp>
      <p:sp>
        <p:nvSpPr>
          <p:cNvPr id="36" name="Text 34"/>
          <p:cNvSpPr/>
          <p:nvPr/>
        </p:nvSpPr>
        <p:spPr>
          <a:xfrm>
            <a:off x="6935724" y="5385816"/>
            <a:ext cx="4613148" cy="566928"/>
          </a:xfrm>
          <a:prstGeom prst="rect">
            <a:avLst/>
          </a:prstGeom>
          <a:noFill/>
          <a:ln/>
        </p:spPr>
        <p:txBody>
          <a:bodyPr wrap="square" lIns="0" tIns="0" rIns="0" bIns="0" rtlCol="0" anchor="ctr"/>
          <a:lstStyle/>
          <a:p>
            <a:pPr indent="0" marL="0">
              <a:lnSpc>
                <a:spcPct val="105000"/>
              </a:lnSpc>
              <a:buNone/>
            </a:pPr>
            <a:r>
              <a:rPr lang="en-US" sz="1100" dirty="0">
                <a:solidFill>
                  <a:srgbClr val="64748B"/>
                </a:solidFill>
                <a:latin typeface="Segoe UI" pitchFamily="34" charset="0"/>
                <a:ea typeface="Segoe UI" pitchFamily="34" charset="-122"/>
                <a:cs typeface="Segoe UI" pitchFamily="34" charset="-120"/>
              </a:rPr>
              <a:t>Summary of what was built and what to explore next.</a:t>
            </a:r>
            <a:endParaRPr lang="en-US" sz="1100" dirty="0"/>
          </a:p>
        </p:txBody>
      </p:sp>
      <p:sp>
        <p:nvSpPr>
          <p:cNvPr id="38" name="Text 35"/>
          <p:cNvSpPr/>
          <p:nvPr/>
        </p:nvSpPr>
        <p:spPr>
          <a:xfrm>
            <a:off x="640080" y="6473952"/>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Azure Monitor  ·  SLI / SLO Hands-On Lab</a:t>
            </a:r>
            <a:endParaRPr lang="en-US" sz="900" dirty="0"/>
          </a:p>
        </p:txBody>
      </p:sp>
      <p:sp>
        <p:nvSpPr>
          <p:cNvPr id="39" name="Text 36"/>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rect">
            <a:avLst/>
          </a:prstGeom>
          <a:solidFill>
            <a:srgbClr val="2DD4BF"/>
          </a:solidFill>
          <a:ln/>
        </p:spPr>
      </p:sp>
      <p:sp>
        <p:nvSpPr>
          <p:cNvPr id="3" name="Text 1"/>
          <p:cNvSpPr/>
          <p:nvPr/>
        </p:nvSpPr>
        <p:spPr>
          <a:xfrm>
            <a:off x="896112" y="402336"/>
            <a:ext cx="9144000" cy="320040"/>
          </a:xfrm>
          <a:prstGeom prst="rect">
            <a:avLst/>
          </a:prstGeom>
          <a:noFill/>
          <a:ln/>
        </p:spPr>
        <p:txBody>
          <a:bodyPr wrap="square" lIns="0" tIns="0" rIns="0" bIns="0" rtlCol="0" anchor="ctr"/>
          <a:lstStyle/>
          <a:p>
            <a:pPr indent="0" marL="0">
              <a:buNone/>
            </a:pPr>
            <a:r>
              <a:rPr lang="en-US" sz="1200" b="1" spc="200" kern="0" dirty="0">
                <a:solidFill>
                  <a:srgbClr val="0D9488"/>
                </a:solidFill>
                <a:latin typeface="Segoe UI" pitchFamily="34" charset="0"/>
                <a:ea typeface="Segoe UI" pitchFamily="34" charset="-122"/>
                <a:cs typeface="Segoe UI" pitchFamily="34" charset="-120"/>
              </a:rPr>
              <a:t>WHAT FOLLOWS</a:t>
            </a:r>
            <a:endParaRPr lang="en-US" sz="1200" dirty="0"/>
          </a:p>
        </p:txBody>
      </p:sp>
      <p:sp>
        <p:nvSpPr>
          <p:cNvPr id="4" name="Text 2"/>
          <p:cNvSpPr/>
          <p:nvPr/>
        </p:nvSpPr>
        <p:spPr>
          <a:xfrm>
            <a:off x="640080" y="749808"/>
            <a:ext cx="10908792" cy="822960"/>
          </a:xfrm>
          <a:prstGeom prst="rect">
            <a:avLst/>
          </a:prstGeom>
          <a:noFill/>
          <a:ln/>
        </p:spPr>
        <p:txBody>
          <a:bodyPr wrap="square" lIns="0" tIns="0" rIns="0" bIns="0" rtlCol="0" anchor="ctr"/>
          <a:lstStyle/>
          <a:p>
            <a:pPr indent="0" marL="0">
              <a:buNone/>
            </a:pPr>
            <a:r>
              <a:rPr lang="en-US" sz="3000" b="1" dirty="0">
                <a:solidFill>
                  <a:srgbClr val="0A2540"/>
                </a:solidFill>
                <a:latin typeface="Segoe UI Semibold" pitchFamily="34" charset="0"/>
                <a:ea typeface="Segoe UI Semibold" pitchFamily="34" charset="-122"/>
                <a:cs typeface="Segoe UI Semibold" pitchFamily="34" charset="-120"/>
              </a:rPr>
              <a:t>From this lab to a reliability operating model</a:t>
            </a:r>
            <a:endParaRPr lang="en-US" sz="3000" dirty="0"/>
          </a:p>
        </p:txBody>
      </p:sp>
      <p:sp>
        <p:nvSpPr>
          <p:cNvPr id="5" name="Text 3"/>
          <p:cNvSpPr/>
          <p:nvPr/>
        </p:nvSpPr>
        <p:spPr>
          <a:xfrm>
            <a:off x="640080" y="1554480"/>
            <a:ext cx="10908792" cy="457200"/>
          </a:xfrm>
          <a:prstGeom prst="rect">
            <a:avLst/>
          </a:prstGeom>
          <a:noFill/>
          <a:ln/>
        </p:spPr>
        <p:txBody>
          <a:bodyPr wrap="square" lIns="0" tIns="0" rIns="0" bIns="0" rtlCol="0" anchor="ctr"/>
          <a:lstStyle/>
          <a:p>
            <a:pPr indent="0" marL="0">
              <a:buNone/>
            </a:pPr>
            <a:r>
              <a:rPr lang="en-US" sz="1500" dirty="0">
                <a:solidFill>
                  <a:srgbClr val="64748B"/>
                </a:solidFill>
                <a:latin typeface="Segoe UI" pitchFamily="34" charset="0"/>
                <a:ea typeface="Segoe UI" pitchFamily="34" charset="-122"/>
                <a:cs typeface="Segoe UI" pitchFamily="34" charset="-120"/>
              </a:rPr>
              <a:t>The SLI foundation you build here is the bedrock. Each next phase reuses it without rework.</a:t>
            </a:r>
            <a:endParaRPr lang="en-US" sz="1500" dirty="0"/>
          </a:p>
        </p:txBody>
      </p:sp>
      <p:sp>
        <p:nvSpPr>
          <p:cNvPr id="6" name="Shape 4"/>
          <p:cNvSpPr/>
          <p:nvPr/>
        </p:nvSpPr>
        <p:spPr>
          <a:xfrm>
            <a:off x="640080" y="2286000"/>
            <a:ext cx="2466594" cy="3200400"/>
          </a:xfrm>
          <a:prstGeom prst="rect">
            <a:avLst/>
          </a:prstGeom>
          <a:solidFill>
            <a:srgbClr val="0A2540"/>
          </a:solidFill>
          <a:ln w="12700">
            <a:solidFill>
              <a:srgbClr val="0A2540"/>
            </a:solidFill>
            <a:prstDash val="solid"/>
          </a:ln>
          <a:effectLst>
            <a:outerShdw sx="100000" sy="100000" kx="0" ky="0" algn="bl" rotWithShape="0" blurRad="114300" dist="38100" dir="5400000">
              <a:srgbClr val="0A2540">
                <a:alpha val="16000"/>
              </a:srgbClr>
            </a:outerShdw>
          </a:effectLst>
        </p:spPr>
      </p:sp>
      <p:sp>
        <p:nvSpPr>
          <p:cNvPr id="7" name="Text 5"/>
          <p:cNvSpPr/>
          <p:nvPr/>
        </p:nvSpPr>
        <p:spPr>
          <a:xfrm>
            <a:off x="914400" y="2560320"/>
            <a:ext cx="1917954" cy="274320"/>
          </a:xfrm>
          <a:prstGeom prst="rect">
            <a:avLst/>
          </a:prstGeom>
          <a:noFill/>
          <a:ln/>
        </p:spPr>
        <p:txBody>
          <a:bodyPr wrap="square" lIns="0" tIns="0" rIns="0" bIns="0" rtlCol="0" anchor="ctr"/>
          <a:lstStyle/>
          <a:p>
            <a:pPr indent="0" marL="0">
              <a:buNone/>
            </a:pPr>
            <a:r>
              <a:rPr lang="en-US" sz="1100" b="1" spc="100" kern="0" dirty="0">
                <a:solidFill>
                  <a:srgbClr val="2DD4BF"/>
                </a:solidFill>
                <a:latin typeface="Segoe UI" pitchFamily="34" charset="0"/>
                <a:ea typeface="Segoe UI" pitchFamily="34" charset="-122"/>
                <a:cs typeface="Segoe UI" pitchFamily="34" charset="-120"/>
              </a:rPr>
              <a:t>PHASE 0</a:t>
            </a:r>
            <a:endParaRPr lang="en-US" sz="1100" dirty="0"/>
          </a:p>
        </p:txBody>
      </p:sp>
      <p:sp>
        <p:nvSpPr>
          <p:cNvPr id="8" name="Text 6"/>
          <p:cNvSpPr/>
          <p:nvPr/>
        </p:nvSpPr>
        <p:spPr>
          <a:xfrm>
            <a:off x="914400" y="2880360"/>
            <a:ext cx="1917954" cy="548640"/>
          </a:xfrm>
          <a:prstGeom prst="rect">
            <a:avLst/>
          </a:prstGeom>
          <a:noFill/>
          <a:ln/>
        </p:spPr>
        <p:txBody>
          <a:bodyPr wrap="square" lIns="0" tIns="0" rIns="0" bIns="0" rtlCol="0" anchor="ctr"/>
          <a:lstStyle/>
          <a:p>
            <a:pPr indent="0" marL="0">
              <a:buNone/>
            </a:pPr>
            <a:r>
              <a:rPr lang="en-US" sz="1700" b="1" dirty="0">
                <a:solidFill>
                  <a:srgbClr val="FFFFFF"/>
                </a:solidFill>
                <a:latin typeface="Segoe UI Semibold" pitchFamily="34" charset="0"/>
                <a:ea typeface="Segoe UI Semibold" pitchFamily="34" charset="-122"/>
                <a:cs typeface="Segoe UI Semibold" pitchFamily="34" charset="-120"/>
              </a:rPr>
              <a:t>SLI foundation</a:t>
            </a:r>
            <a:endParaRPr lang="en-US" sz="1700" dirty="0"/>
          </a:p>
        </p:txBody>
      </p:sp>
      <p:sp>
        <p:nvSpPr>
          <p:cNvPr id="9" name="Text 7"/>
          <p:cNvSpPr/>
          <p:nvPr/>
        </p:nvSpPr>
        <p:spPr>
          <a:xfrm>
            <a:off x="914400" y="3520440"/>
            <a:ext cx="1917954" cy="1463040"/>
          </a:xfrm>
          <a:prstGeom prst="rect">
            <a:avLst/>
          </a:prstGeom>
          <a:noFill/>
          <a:ln/>
        </p:spPr>
        <p:txBody>
          <a:bodyPr wrap="square" lIns="0" tIns="0" rIns="0" bIns="0" rtlCol="0" anchor="t"/>
          <a:lstStyle/>
          <a:p>
            <a:pPr indent="0" marL="0">
              <a:lnSpc>
                <a:spcPct val="112000"/>
              </a:lnSpc>
              <a:buNone/>
            </a:pPr>
            <a:r>
              <a:rPr lang="en-US" sz="1200" dirty="0">
                <a:solidFill>
                  <a:srgbClr val="C7D6E5"/>
                </a:solidFill>
                <a:latin typeface="Segoe UI" pitchFamily="34" charset="0"/>
                <a:ea typeface="Segoe UI" pitchFamily="34" charset="-122"/>
                <a:cs typeface="Segoe UI" pitchFamily="34" charset="-120"/>
              </a:rPr>
              <a:t>SLIs, SLOs, error budgets and burn alerts on a Service Group.</a:t>
            </a:r>
            <a:endParaRPr lang="en-US" sz="1200" dirty="0"/>
          </a:p>
        </p:txBody>
      </p:sp>
      <p:sp>
        <p:nvSpPr>
          <p:cNvPr id="10" name="Shape 8"/>
          <p:cNvSpPr/>
          <p:nvPr/>
        </p:nvSpPr>
        <p:spPr>
          <a:xfrm>
            <a:off x="914400" y="4892040"/>
            <a:ext cx="1463040" cy="329184"/>
          </a:xfrm>
          <a:prstGeom prst="roundRect">
            <a:avLst>
              <a:gd name="adj" fmla="val 19444"/>
            </a:avLst>
          </a:prstGeom>
          <a:solidFill>
            <a:srgbClr val="2DD4BF"/>
          </a:solidFill>
          <a:ln w="12700">
            <a:solidFill>
              <a:srgbClr val="2DD4BF"/>
            </a:solidFill>
            <a:prstDash val="solid"/>
          </a:ln>
        </p:spPr>
      </p:sp>
      <p:sp>
        <p:nvSpPr>
          <p:cNvPr id="11" name="Text 9"/>
          <p:cNvSpPr/>
          <p:nvPr/>
        </p:nvSpPr>
        <p:spPr>
          <a:xfrm>
            <a:off x="914400" y="4892040"/>
            <a:ext cx="1463040" cy="329184"/>
          </a:xfrm>
          <a:prstGeom prst="rect">
            <a:avLst/>
          </a:prstGeom>
          <a:noFill/>
          <a:ln/>
        </p:spPr>
        <p:txBody>
          <a:bodyPr wrap="square" lIns="0" tIns="0" rIns="0" bIns="0" rtlCol="0" anchor="ctr"/>
          <a:lstStyle/>
          <a:p>
            <a:pPr algn="ctr" indent="0" marL="0">
              <a:buNone/>
            </a:pPr>
            <a:r>
              <a:rPr lang="en-US" sz="900" b="1" spc="100" kern="0" dirty="0">
                <a:solidFill>
                  <a:srgbClr val="0A2540"/>
                </a:solidFill>
                <a:latin typeface="Segoe UI" pitchFamily="34" charset="0"/>
                <a:ea typeface="Segoe UI" pitchFamily="34" charset="-122"/>
                <a:cs typeface="Segoe UI" pitchFamily="34" charset="-120"/>
              </a:rPr>
              <a:t>DONE IN THIS LAB</a:t>
            </a:r>
            <a:endParaRPr lang="en-US" sz="900" dirty="0"/>
          </a:p>
        </p:txBody>
      </p:sp>
      <p:sp>
        <p:nvSpPr>
          <p:cNvPr id="12" name="Text 10"/>
          <p:cNvSpPr/>
          <p:nvPr/>
        </p:nvSpPr>
        <p:spPr>
          <a:xfrm>
            <a:off x="3088386" y="3657600"/>
            <a:ext cx="384048" cy="457200"/>
          </a:xfrm>
          <a:prstGeom prst="rect">
            <a:avLst/>
          </a:prstGeom>
          <a:noFill/>
          <a:ln/>
        </p:spPr>
        <p:txBody>
          <a:bodyPr wrap="square" lIns="0" tIns="0" rIns="0" bIns="0" rtlCol="0" anchor="ctr"/>
          <a:lstStyle/>
          <a:p>
            <a:pPr algn="ctr" indent="0" marL="0">
              <a:buNone/>
            </a:pPr>
            <a:r>
              <a:rPr lang="en-US" sz="2000" b="1" dirty="0">
                <a:solidFill>
                  <a:srgbClr val="0D9488"/>
                </a:solidFill>
                <a:latin typeface="Segoe UI" pitchFamily="34" charset="0"/>
                <a:ea typeface="Segoe UI" pitchFamily="34" charset="-122"/>
                <a:cs typeface="Segoe UI" pitchFamily="34" charset="-120"/>
              </a:rPr>
              <a:t>→</a:t>
            </a:r>
            <a:endParaRPr lang="en-US" sz="2000" dirty="0"/>
          </a:p>
        </p:txBody>
      </p:sp>
      <p:sp>
        <p:nvSpPr>
          <p:cNvPr id="13" name="Shape 11"/>
          <p:cNvSpPr/>
          <p:nvPr/>
        </p:nvSpPr>
        <p:spPr>
          <a:xfrm>
            <a:off x="3454146" y="2286000"/>
            <a:ext cx="2466594" cy="320040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14" name="Text 12"/>
          <p:cNvSpPr/>
          <p:nvPr/>
        </p:nvSpPr>
        <p:spPr>
          <a:xfrm>
            <a:off x="3728466" y="2560320"/>
            <a:ext cx="1917954"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Segoe UI" pitchFamily="34" charset="0"/>
                <a:ea typeface="Segoe UI" pitchFamily="34" charset="-122"/>
                <a:cs typeface="Segoe UI" pitchFamily="34" charset="-120"/>
              </a:rPr>
              <a:t>PHASE 1</a:t>
            </a:r>
            <a:endParaRPr lang="en-US" sz="1100" dirty="0"/>
          </a:p>
        </p:txBody>
      </p:sp>
      <p:sp>
        <p:nvSpPr>
          <p:cNvPr id="15" name="Text 13"/>
          <p:cNvSpPr/>
          <p:nvPr/>
        </p:nvSpPr>
        <p:spPr>
          <a:xfrm>
            <a:off x="3728466" y="2880360"/>
            <a:ext cx="1917954" cy="548640"/>
          </a:xfrm>
          <a:prstGeom prst="rect">
            <a:avLst/>
          </a:prstGeom>
          <a:noFill/>
          <a:ln/>
        </p:spPr>
        <p:txBody>
          <a:bodyPr wrap="square" lIns="0" tIns="0" rIns="0" bIns="0" rtlCol="0" anchor="ctr"/>
          <a:lstStyle/>
          <a:p>
            <a:pPr indent="0" marL="0">
              <a:buNone/>
            </a:pPr>
            <a:r>
              <a:rPr lang="en-US" sz="1700" b="1" dirty="0">
                <a:solidFill>
                  <a:srgbClr val="0A2540"/>
                </a:solidFill>
                <a:latin typeface="Segoe UI Semibold" pitchFamily="34" charset="0"/>
                <a:ea typeface="Segoe UI Semibold" pitchFamily="34" charset="-122"/>
                <a:cs typeface="Segoe UI Semibold" pitchFamily="34" charset="-120"/>
              </a:rPr>
              <a:t>Health Models</a:t>
            </a:r>
            <a:endParaRPr lang="en-US" sz="1700" dirty="0"/>
          </a:p>
        </p:txBody>
      </p:sp>
      <p:sp>
        <p:nvSpPr>
          <p:cNvPr id="16" name="Text 14"/>
          <p:cNvSpPr/>
          <p:nvPr/>
        </p:nvSpPr>
        <p:spPr>
          <a:xfrm>
            <a:off x="3728466" y="3520440"/>
            <a:ext cx="1917954" cy="1463040"/>
          </a:xfrm>
          <a:prstGeom prst="rect">
            <a:avLst/>
          </a:prstGeom>
          <a:noFill/>
          <a:ln/>
        </p:spPr>
        <p:txBody>
          <a:bodyPr wrap="square" lIns="0" tIns="0" rIns="0" bIns="0" rtlCol="0" anchor="t"/>
          <a:lstStyle/>
          <a:p>
            <a:pPr indent="0" marL="0">
              <a:lnSpc>
                <a:spcPct val="112000"/>
              </a:lnSpc>
              <a:buNone/>
            </a:pPr>
            <a:r>
              <a:rPr lang="en-US" sz="1200" dirty="0">
                <a:solidFill>
                  <a:srgbClr val="1E293B"/>
                </a:solidFill>
                <a:latin typeface="Segoe UI" pitchFamily="34" charset="0"/>
                <a:ea typeface="Segoe UI" pitchFamily="34" charset="-122"/>
                <a:cs typeface="Segoe UI" pitchFamily="34" charset="-120"/>
              </a:rPr>
              <a:t>Roll SLIs + resource health into one honest, top-down app health score.</a:t>
            </a:r>
            <a:endParaRPr lang="en-US" sz="1200" dirty="0"/>
          </a:p>
        </p:txBody>
      </p:sp>
      <p:sp>
        <p:nvSpPr>
          <p:cNvPr id="17" name="Shape 15"/>
          <p:cNvSpPr/>
          <p:nvPr/>
        </p:nvSpPr>
        <p:spPr>
          <a:xfrm>
            <a:off x="3728466" y="4892040"/>
            <a:ext cx="640080" cy="329184"/>
          </a:xfrm>
          <a:prstGeom prst="roundRect">
            <a:avLst>
              <a:gd name="adj" fmla="val 19444"/>
            </a:avLst>
          </a:prstGeom>
          <a:solidFill>
            <a:srgbClr val="F4F7FB"/>
          </a:solidFill>
          <a:ln w="12700">
            <a:solidFill>
              <a:srgbClr val="E2E8F0"/>
            </a:solidFill>
            <a:prstDash val="solid"/>
          </a:ln>
        </p:spPr>
      </p:sp>
      <p:sp>
        <p:nvSpPr>
          <p:cNvPr id="18" name="Text 16"/>
          <p:cNvSpPr/>
          <p:nvPr/>
        </p:nvSpPr>
        <p:spPr>
          <a:xfrm>
            <a:off x="3728466" y="4892040"/>
            <a:ext cx="640080" cy="329184"/>
          </a:xfrm>
          <a:prstGeom prst="rect">
            <a:avLst/>
          </a:prstGeom>
          <a:noFill/>
          <a:ln/>
        </p:spPr>
        <p:txBody>
          <a:bodyPr wrap="square" lIns="0" tIns="0" rIns="0" bIns="0" rtlCol="0" anchor="ctr"/>
          <a:lstStyle/>
          <a:p>
            <a:pPr algn="ctr" indent="0" marL="0">
              <a:buNone/>
            </a:pPr>
            <a:r>
              <a:rPr lang="en-US" sz="900" b="1" spc="100" kern="0" dirty="0">
                <a:solidFill>
                  <a:srgbClr val="64748B"/>
                </a:solidFill>
                <a:latin typeface="Segoe UI" pitchFamily="34" charset="0"/>
                <a:ea typeface="Segoe UI" pitchFamily="34" charset="-122"/>
                <a:cs typeface="Segoe UI" pitchFamily="34" charset="-120"/>
              </a:rPr>
              <a:t>NEXT</a:t>
            </a:r>
            <a:endParaRPr lang="en-US" sz="900" dirty="0"/>
          </a:p>
        </p:txBody>
      </p:sp>
      <p:sp>
        <p:nvSpPr>
          <p:cNvPr id="19" name="Text 17"/>
          <p:cNvSpPr/>
          <p:nvPr/>
        </p:nvSpPr>
        <p:spPr>
          <a:xfrm>
            <a:off x="5902452" y="3657600"/>
            <a:ext cx="384048" cy="457200"/>
          </a:xfrm>
          <a:prstGeom prst="rect">
            <a:avLst/>
          </a:prstGeom>
          <a:noFill/>
          <a:ln/>
        </p:spPr>
        <p:txBody>
          <a:bodyPr wrap="square" lIns="0" tIns="0" rIns="0" bIns="0" rtlCol="0" anchor="ctr"/>
          <a:lstStyle/>
          <a:p>
            <a:pPr algn="ctr" indent="0" marL="0">
              <a:buNone/>
            </a:pPr>
            <a:r>
              <a:rPr lang="en-US" sz="2000" b="1" dirty="0">
                <a:solidFill>
                  <a:srgbClr val="0D9488"/>
                </a:solidFill>
                <a:latin typeface="Segoe UI" pitchFamily="34" charset="0"/>
                <a:ea typeface="Segoe UI" pitchFamily="34" charset="-122"/>
                <a:cs typeface="Segoe UI" pitchFamily="34" charset="-120"/>
              </a:rPr>
              <a:t>→</a:t>
            </a:r>
            <a:endParaRPr lang="en-US" sz="2000" dirty="0"/>
          </a:p>
        </p:txBody>
      </p:sp>
      <p:sp>
        <p:nvSpPr>
          <p:cNvPr id="20" name="Shape 18"/>
          <p:cNvSpPr/>
          <p:nvPr/>
        </p:nvSpPr>
        <p:spPr>
          <a:xfrm>
            <a:off x="6268212" y="2286000"/>
            <a:ext cx="2466594" cy="320040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21" name="Text 19"/>
          <p:cNvSpPr/>
          <p:nvPr/>
        </p:nvSpPr>
        <p:spPr>
          <a:xfrm>
            <a:off x="6542532" y="2560320"/>
            <a:ext cx="1917954"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Segoe UI" pitchFamily="34" charset="0"/>
                <a:ea typeface="Segoe UI" pitchFamily="34" charset="-122"/>
                <a:cs typeface="Segoe UI" pitchFamily="34" charset="-120"/>
              </a:rPr>
              <a:t>PHASE 2</a:t>
            </a:r>
            <a:endParaRPr lang="en-US" sz="1100" dirty="0"/>
          </a:p>
        </p:txBody>
      </p:sp>
      <p:sp>
        <p:nvSpPr>
          <p:cNvPr id="22" name="Text 20"/>
          <p:cNvSpPr/>
          <p:nvPr/>
        </p:nvSpPr>
        <p:spPr>
          <a:xfrm>
            <a:off x="6542532" y="2880360"/>
            <a:ext cx="1917954" cy="548640"/>
          </a:xfrm>
          <a:prstGeom prst="rect">
            <a:avLst/>
          </a:prstGeom>
          <a:noFill/>
          <a:ln/>
        </p:spPr>
        <p:txBody>
          <a:bodyPr wrap="square" lIns="0" tIns="0" rIns="0" bIns="0" rtlCol="0" anchor="ctr"/>
          <a:lstStyle/>
          <a:p>
            <a:pPr indent="0" marL="0">
              <a:buNone/>
            </a:pPr>
            <a:r>
              <a:rPr lang="en-US" sz="1700" b="1" dirty="0">
                <a:solidFill>
                  <a:srgbClr val="0A2540"/>
                </a:solidFill>
                <a:latin typeface="Segoe UI Semibold" pitchFamily="34" charset="0"/>
                <a:ea typeface="Segoe UI Semibold" pitchFamily="34" charset="-122"/>
                <a:cs typeface="Segoe UI Semibold" pitchFamily="34" charset="-120"/>
              </a:rPr>
              <a:t>AI operations</a:t>
            </a:r>
            <a:endParaRPr lang="en-US" sz="1700" dirty="0"/>
          </a:p>
        </p:txBody>
      </p:sp>
      <p:sp>
        <p:nvSpPr>
          <p:cNvPr id="23" name="Text 21"/>
          <p:cNvSpPr/>
          <p:nvPr/>
        </p:nvSpPr>
        <p:spPr>
          <a:xfrm>
            <a:off x="6542532" y="3520440"/>
            <a:ext cx="1917954" cy="1463040"/>
          </a:xfrm>
          <a:prstGeom prst="rect">
            <a:avLst/>
          </a:prstGeom>
          <a:noFill/>
          <a:ln/>
        </p:spPr>
        <p:txBody>
          <a:bodyPr wrap="square" lIns="0" tIns="0" rIns="0" bIns="0" rtlCol="0" anchor="t"/>
          <a:lstStyle/>
          <a:p>
            <a:pPr indent="0" marL="0">
              <a:lnSpc>
                <a:spcPct val="112000"/>
              </a:lnSpc>
              <a:buNone/>
            </a:pPr>
            <a:r>
              <a:rPr lang="en-US" sz="1200" dirty="0">
                <a:solidFill>
                  <a:srgbClr val="1E293B"/>
                </a:solidFill>
                <a:latin typeface="Segoe UI" pitchFamily="34" charset="0"/>
                <a:ea typeface="Segoe UI" pitchFamily="34" charset="-122"/>
                <a:cs typeface="Segoe UI" pitchFamily="34" charset="-120"/>
              </a:rPr>
              <a:t>Observability Agent explains incidents; SRE Agent takes approved action.</a:t>
            </a:r>
            <a:endParaRPr lang="en-US" sz="1200" dirty="0"/>
          </a:p>
        </p:txBody>
      </p:sp>
      <p:sp>
        <p:nvSpPr>
          <p:cNvPr id="24" name="Shape 22"/>
          <p:cNvSpPr/>
          <p:nvPr/>
        </p:nvSpPr>
        <p:spPr>
          <a:xfrm>
            <a:off x="6542532" y="4892040"/>
            <a:ext cx="640080" cy="329184"/>
          </a:xfrm>
          <a:prstGeom prst="roundRect">
            <a:avLst>
              <a:gd name="adj" fmla="val 19444"/>
            </a:avLst>
          </a:prstGeom>
          <a:solidFill>
            <a:srgbClr val="F4F7FB"/>
          </a:solidFill>
          <a:ln w="12700">
            <a:solidFill>
              <a:srgbClr val="E2E8F0"/>
            </a:solidFill>
            <a:prstDash val="solid"/>
          </a:ln>
        </p:spPr>
      </p:sp>
      <p:sp>
        <p:nvSpPr>
          <p:cNvPr id="25" name="Text 23"/>
          <p:cNvSpPr/>
          <p:nvPr/>
        </p:nvSpPr>
        <p:spPr>
          <a:xfrm>
            <a:off x="6542532" y="4892040"/>
            <a:ext cx="640080" cy="329184"/>
          </a:xfrm>
          <a:prstGeom prst="rect">
            <a:avLst/>
          </a:prstGeom>
          <a:noFill/>
          <a:ln/>
        </p:spPr>
        <p:txBody>
          <a:bodyPr wrap="square" lIns="0" tIns="0" rIns="0" bIns="0" rtlCol="0" anchor="ctr"/>
          <a:lstStyle/>
          <a:p>
            <a:pPr algn="ctr" indent="0" marL="0">
              <a:buNone/>
            </a:pPr>
            <a:r>
              <a:rPr lang="en-US" sz="900" b="1" spc="100" kern="0" dirty="0">
                <a:solidFill>
                  <a:srgbClr val="64748B"/>
                </a:solidFill>
                <a:latin typeface="Segoe UI" pitchFamily="34" charset="0"/>
                <a:ea typeface="Segoe UI" pitchFamily="34" charset="-122"/>
                <a:cs typeface="Segoe UI" pitchFamily="34" charset="-120"/>
              </a:rPr>
              <a:t>NEXT</a:t>
            </a:r>
            <a:endParaRPr lang="en-US" sz="900" dirty="0"/>
          </a:p>
        </p:txBody>
      </p:sp>
      <p:sp>
        <p:nvSpPr>
          <p:cNvPr id="26" name="Text 24"/>
          <p:cNvSpPr/>
          <p:nvPr/>
        </p:nvSpPr>
        <p:spPr>
          <a:xfrm>
            <a:off x="8716518" y="3657600"/>
            <a:ext cx="384048" cy="457200"/>
          </a:xfrm>
          <a:prstGeom prst="rect">
            <a:avLst/>
          </a:prstGeom>
          <a:noFill/>
          <a:ln/>
        </p:spPr>
        <p:txBody>
          <a:bodyPr wrap="square" lIns="0" tIns="0" rIns="0" bIns="0" rtlCol="0" anchor="ctr"/>
          <a:lstStyle/>
          <a:p>
            <a:pPr algn="ctr" indent="0" marL="0">
              <a:buNone/>
            </a:pPr>
            <a:r>
              <a:rPr lang="en-US" sz="2000" b="1" dirty="0">
                <a:solidFill>
                  <a:srgbClr val="0D9488"/>
                </a:solidFill>
                <a:latin typeface="Segoe UI" pitchFamily="34" charset="0"/>
                <a:ea typeface="Segoe UI" pitchFamily="34" charset="-122"/>
                <a:cs typeface="Segoe UI" pitchFamily="34" charset="-120"/>
              </a:rPr>
              <a:t>→</a:t>
            </a:r>
            <a:endParaRPr lang="en-US" sz="2000" dirty="0"/>
          </a:p>
        </p:txBody>
      </p:sp>
      <p:sp>
        <p:nvSpPr>
          <p:cNvPr id="27" name="Shape 25"/>
          <p:cNvSpPr/>
          <p:nvPr/>
        </p:nvSpPr>
        <p:spPr>
          <a:xfrm>
            <a:off x="9082278" y="2286000"/>
            <a:ext cx="2466594" cy="3200400"/>
          </a:xfrm>
          <a:prstGeom prst="rect">
            <a:avLst/>
          </a:prstGeom>
          <a:solidFill>
            <a:srgbClr val="FFFFFF"/>
          </a:solidFill>
          <a:ln w="12700">
            <a:solidFill>
              <a:srgbClr val="E2E8F0"/>
            </a:solidFill>
            <a:prstDash val="solid"/>
          </a:ln>
          <a:effectLst>
            <a:outerShdw sx="100000" sy="100000" kx="0" ky="0" algn="bl" rotWithShape="0" blurRad="114300" dist="38100" dir="5400000">
              <a:srgbClr val="0A2540">
                <a:alpha val="16000"/>
              </a:srgbClr>
            </a:outerShdw>
          </a:effectLst>
        </p:spPr>
      </p:sp>
      <p:sp>
        <p:nvSpPr>
          <p:cNvPr id="28" name="Text 26"/>
          <p:cNvSpPr/>
          <p:nvPr/>
        </p:nvSpPr>
        <p:spPr>
          <a:xfrm>
            <a:off x="9356598" y="2560320"/>
            <a:ext cx="1917954"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Segoe UI" pitchFamily="34" charset="0"/>
                <a:ea typeface="Segoe UI" pitchFamily="34" charset="-122"/>
                <a:cs typeface="Segoe UI" pitchFamily="34" charset="-120"/>
              </a:rPr>
              <a:t>PHASE 3</a:t>
            </a:r>
            <a:endParaRPr lang="en-US" sz="1100" dirty="0"/>
          </a:p>
        </p:txBody>
      </p:sp>
      <p:sp>
        <p:nvSpPr>
          <p:cNvPr id="29" name="Text 27"/>
          <p:cNvSpPr/>
          <p:nvPr/>
        </p:nvSpPr>
        <p:spPr>
          <a:xfrm>
            <a:off x="9356598" y="2880360"/>
            <a:ext cx="1917954" cy="548640"/>
          </a:xfrm>
          <a:prstGeom prst="rect">
            <a:avLst/>
          </a:prstGeom>
          <a:noFill/>
          <a:ln/>
        </p:spPr>
        <p:txBody>
          <a:bodyPr wrap="square" lIns="0" tIns="0" rIns="0" bIns="0" rtlCol="0" anchor="ctr"/>
          <a:lstStyle/>
          <a:p>
            <a:pPr indent="0" marL="0">
              <a:buNone/>
            </a:pPr>
            <a:r>
              <a:rPr lang="en-US" sz="1700" b="1" dirty="0">
                <a:solidFill>
                  <a:srgbClr val="0A2540"/>
                </a:solidFill>
                <a:latin typeface="Segoe UI Semibold" pitchFamily="34" charset="0"/>
                <a:ea typeface="Segoe UI Semibold" pitchFamily="34" charset="-122"/>
                <a:cs typeface="Segoe UI Semibold" pitchFamily="34" charset="-120"/>
              </a:rPr>
              <a:t>Operating model</a:t>
            </a:r>
            <a:endParaRPr lang="en-US" sz="1700" dirty="0"/>
          </a:p>
        </p:txBody>
      </p:sp>
      <p:sp>
        <p:nvSpPr>
          <p:cNvPr id="30" name="Text 28"/>
          <p:cNvSpPr/>
          <p:nvPr/>
        </p:nvSpPr>
        <p:spPr>
          <a:xfrm>
            <a:off x="9356598" y="3520440"/>
            <a:ext cx="1917954" cy="1463040"/>
          </a:xfrm>
          <a:prstGeom prst="rect">
            <a:avLst/>
          </a:prstGeom>
          <a:noFill/>
          <a:ln/>
        </p:spPr>
        <p:txBody>
          <a:bodyPr wrap="square" lIns="0" tIns="0" rIns="0" bIns="0" rtlCol="0" anchor="t"/>
          <a:lstStyle/>
          <a:p>
            <a:pPr indent="0" marL="0">
              <a:lnSpc>
                <a:spcPct val="112000"/>
              </a:lnSpc>
              <a:buNone/>
            </a:pPr>
            <a:r>
              <a:rPr lang="en-US" sz="1200" dirty="0">
                <a:solidFill>
                  <a:srgbClr val="1E293B"/>
                </a:solidFill>
                <a:latin typeface="Segoe UI" pitchFamily="34" charset="0"/>
                <a:ea typeface="Segoe UI" pitchFamily="34" charset="-122"/>
                <a:cs typeface="Segoe UI" pitchFamily="34" charset="-120"/>
              </a:rPr>
              <a:t>Error budgets gate releases: ship when healthy, stabilize when burning.</a:t>
            </a:r>
            <a:endParaRPr lang="en-US" sz="1200" dirty="0"/>
          </a:p>
        </p:txBody>
      </p:sp>
      <p:sp>
        <p:nvSpPr>
          <p:cNvPr id="31" name="Shape 29"/>
          <p:cNvSpPr/>
          <p:nvPr/>
        </p:nvSpPr>
        <p:spPr>
          <a:xfrm>
            <a:off x="9356598" y="4892040"/>
            <a:ext cx="640080" cy="329184"/>
          </a:xfrm>
          <a:prstGeom prst="roundRect">
            <a:avLst>
              <a:gd name="adj" fmla="val 19444"/>
            </a:avLst>
          </a:prstGeom>
          <a:solidFill>
            <a:srgbClr val="F4F7FB"/>
          </a:solidFill>
          <a:ln w="12700">
            <a:solidFill>
              <a:srgbClr val="E2E8F0"/>
            </a:solidFill>
            <a:prstDash val="solid"/>
          </a:ln>
        </p:spPr>
      </p:sp>
      <p:sp>
        <p:nvSpPr>
          <p:cNvPr id="32" name="Text 30"/>
          <p:cNvSpPr/>
          <p:nvPr/>
        </p:nvSpPr>
        <p:spPr>
          <a:xfrm>
            <a:off x="9356598" y="4892040"/>
            <a:ext cx="640080" cy="329184"/>
          </a:xfrm>
          <a:prstGeom prst="rect">
            <a:avLst/>
          </a:prstGeom>
          <a:noFill/>
          <a:ln/>
        </p:spPr>
        <p:txBody>
          <a:bodyPr wrap="square" lIns="0" tIns="0" rIns="0" bIns="0" rtlCol="0" anchor="ctr"/>
          <a:lstStyle/>
          <a:p>
            <a:pPr algn="ctr" indent="0" marL="0">
              <a:buNone/>
            </a:pPr>
            <a:r>
              <a:rPr lang="en-US" sz="900" b="1" spc="100" kern="0" dirty="0">
                <a:solidFill>
                  <a:srgbClr val="64748B"/>
                </a:solidFill>
                <a:latin typeface="Segoe UI" pitchFamily="34" charset="0"/>
                <a:ea typeface="Segoe UI" pitchFamily="34" charset="-122"/>
                <a:cs typeface="Segoe UI" pitchFamily="34" charset="-120"/>
              </a:rPr>
              <a:t>GOAL</a:t>
            </a:r>
            <a:endParaRPr lang="en-US" sz="900" dirty="0"/>
          </a:p>
        </p:txBody>
      </p:sp>
      <p:sp>
        <p:nvSpPr>
          <p:cNvPr id="34" name="Text 31"/>
          <p:cNvSpPr/>
          <p:nvPr/>
        </p:nvSpPr>
        <p:spPr>
          <a:xfrm>
            <a:off x="640080" y="6473952"/>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Azure Monitor  ·  SLI / SLO Hands-On Lab</a:t>
            </a:r>
            <a:endParaRPr lang="en-US" sz="900" dirty="0"/>
          </a:p>
        </p:txBody>
      </p:sp>
      <p:sp>
        <p:nvSpPr>
          <p:cNvPr id="35" name="Text 32"/>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2DD4BF"/>
          </a:solidFill>
          <a:ln/>
        </p:spPr>
      </p:sp>
      <p:sp>
        <p:nvSpPr>
          <p:cNvPr id="3" name="Text 1"/>
          <p:cNvSpPr/>
          <p:nvPr/>
        </p:nvSpPr>
        <p:spPr>
          <a:xfrm>
            <a:off x="914400" y="868680"/>
            <a:ext cx="9144000" cy="365760"/>
          </a:xfrm>
          <a:prstGeom prst="rect">
            <a:avLst/>
          </a:prstGeom>
          <a:noFill/>
          <a:ln/>
        </p:spPr>
        <p:txBody>
          <a:bodyPr wrap="square" lIns="0" tIns="0" rIns="0" bIns="0" rtlCol="0" anchor="ctr"/>
          <a:lstStyle/>
          <a:p>
            <a:pPr indent="0" marL="0">
              <a:buNone/>
            </a:pPr>
            <a:r>
              <a:rPr lang="en-US" sz="1400" b="1" spc="300" kern="0" dirty="0">
                <a:solidFill>
                  <a:srgbClr val="2DD4BF"/>
                </a:solidFill>
                <a:latin typeface="Segoe UI" pitchFamily="34" charset="0"/>
                <a:ea typeface="Segoe UI" pitchFamily="34" charset="-122"/>
                <a:cs typeface="Segoe UI" pitchFamily="34" charset="-120"/>
              </a:rPr>
              <a:t>TAKEAWAYS</a:t>
            </a:r>
            <a:endParaRPr lang="en-US" sz="1400" dirty="0"/>
          </a:p>
        </p:txBody>
      </p:sp>
      <p:sp>
        <p:nvSpPr>
          <p:cNvPr id="4" name="Text 2"/>
          <p:cNvSpPr/>
          <p:nvPr/>
        </p:nvSpPr>
        <p:spPr>
          <a:xfrm>
            <a:off x="868680" y="1234440"/>
            <a:ext cx="10058400" cy="731520"/>
          </a:xfrm>
          <a:prstGeom prst="rect">
            <a:avLst/>
          </a:prstGeom>
          <a:noFill/>
          <a:ln/>
        </p:spPr>
        <p:txBody>
          <a:bodyPr wrap="square" lIns="0" tIns="0" rIns="0" bIns="0" rtlCol="0" anchor="ctr"/>
          <a:lstStyle/>
          <a:p>
            <a:pPr indent="0" marL="0">
              <a:buNone/>
            </a:pPr>
            <a:r>
              <a:rPr lang="en-US" sz="3200" b="1" dirty="0">
                <a:solidFill>
                  <a:srgbClr val="FFFFFF"/>
                </a:solidFill>
                <a:latin typeface="Segoe UI Semibold" pitchFamily="34" charset="0"/>
                <a:ea typeface="Segoe UI Semibold" pitchFamily="34" charset="-122"/>
                <a:cs typeface="Segoe UI Semibold" pitchFamily="34" charset="-120"/>
              </a:rPr>
              <a:t>You will leave the lab able to…</a:t>
            </a:r>
            <a:endParaRPr lang="en-US" sz="3200" dirty="0"/>
          </a:p>
        </p:txBody>
      </p:sp>
      <p:sp>
        <p:nvSpPr>
          <p:cNvPr id="5" name="Shape 3"/>
          <p:cNvSpPr/>
          <p:nvPr/>
        </p:nvSpPr>
        <p:spPr>
          <a:xfrm>
            <a:off x="914400" y="2468880"/>
            <a:ext cx="3148584" cy="2194560"/>
          </a:xfrm>
          <a:prstGeom prst="rect">
            <a:avLst/>
          </a:prstGeom>
          <a:solidFill>
            <a:srgbClr val="10314F"/>
          </a:solidFill>
          <a:ln w="12700">
            <a:solidFill>
              <a:srgbClr val="0D9488"/>
            </a:solidFill>
            <a:prstDash val="solid"/>
          </a:ln>
        </p:spPr>
      </p:sp>
      <p:sp>
        <p:nvSpPr>
          <p:cNvPr id="6" name="Shape 4"/>
          <p:cNvSpPr/>
          <p:nvPr/>
        </p:nvSpPr>
        <p:spPr>
          <a:xfrm>
            <a:off x="1188720" y="2743200"/>
            <a:ext cx="420624" cy="420624"/>
          </a:xfrm>
          <a:prstGeom prst="ellipse">
            <a:avLst/>
          </a:prstGeom>
          <a:solidFill>
            <a:srgbClr val="2DD4BF"/>
          </a:solidFill>
          <a:ln/>
        </p:spPr>
      </p:sp>
      <p:sp>
        <p:nvSpPr>
          <p:cNvPr id="7" name="Text 5"/>
          <p:cNvSpPr/>
          <p:nvPr/>
        </p:nvSpPr>
        <p:spPr>
          <a:xfrm>
            <a:off x="1188720" y="2743200"/>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1188720" y="3337560"/>
            <a:ext cx="2599944" cy="457200"/>
          </a:xfrm>
          <a:prstGeom prst="rect">
            <a:avLst/>
          </a:prstGeom>
          <a:noFill/>
          <a:ln/>
        </p:spPr>
        <p:txBody>
          <a:bodyPr wrap="square" lIns="0" tIns="0" rIns="0" bIns="0" rtlCol="0" anchor="ctr"/>
          <a:lstStyle/>
          <a:p>
            <a:pPr indent="0" marL="0">
              <a:buNone/>
            </a:pPr>
            <a:r>
              <a:rPr lang="en-US" sz="1600" b="1" dirty="0">
                <a:solidFill>
                  <a:srgbClr val="FFFFFF"/>
                </a:solidFill>
                <a:latin typeface="Segoe UI Semibold" pitchFamily="34" charset="0"/>
                <a:ea typeface="Segoe UI Semibold" pitchFamily="34" charset="-122"/>
                <a:cs typeface="Segoe UI Semibold" pitchFamily="34" charset="-120"/>
              </a:rPr>
              <a:t>Author real SLIs</a:t>
            </a:r>
            <a:endParaRPr lang="en-US" sz="1600" dirty="0"/>
          </a:p>
        </p:txBody>
      </p:sp>
      <p:sp>
        <p:nvSpPr>
          <p:cNvPr id="9" name="Text 7"/>
          <p:cNvSpPr/>
          <p:nvPr/>
        </p:nvSpPr>
        <p:spPr>
          <a:xfrm>
            <a:off x="1188720" y="3794760"/>
            <a:ext cx="2599944" cy="777240"/>
          </a:xfrm>
          <a:prstGeom prst="rect">
            <a:avLst/>
          </a:prstGeom>
          <a:noFill/>
          <a:ln/>
        </p:spPr>
        <p:txBody>
          <a:bodyPr wrap="square" lIns="0" tIns="0" rIns="0" bIns="0" rtlCol="0" anchor="t"/>
          <a:lstStyle/>
          <a:p>
            <a:pPr indent="0" marL="0">
              <a:lnSpc>
                <a:spcPct val="110000"/>
              </a:lnSpc>
              <a:buNone/>
            </a:pPr>
            <a:r>
              <a:rPr lang="en-US" sz="1200" dirty="0">
                <a:solidFill>
                  <a:srgbClr val="C7D6E5"/>
                </a:solidFill>
                <a:latin typeface="Segoe UI" pitchFamily="34" charset="0"/>
                <a:ea typeface="Segoe UI" pitchFamily="34" charset="-122"/>
                <a:cs typeface="Segoe UI" pitchFamily="34" charset="-120"/>
              </a:rPr>
              <a:t>Availability, latency, and dependency SLIs on a Service Group.</a:t>
            </a:r>
            <a:endParaRPr lang="en-US" sz="1200" dirty="0"/>
          </a:p>
        </p:txBody>
      </p:sp>
      <p:sp>
        <p:nvSpPr>
          <p:cNvPr id="10" name="Shape 8"/>
          <p:cNvSpPr/>
          <p:nvPr/>
        </p:nvSpPr>
        <p:spPr>
          <a:xfrm>
            <a:off x="4520184" y="2468880"/>
            <a:ext cx="3148584" cy="2194560"/>
          </a:xfrm>
          <a:prstGeom prst="rect">
            <a:avLst/>
          </a:prstGeom>
          <a:solidFill>
            <a:srgbClr val="10314F"/>
          </a:solidFill>
          <a:ln w="12700">
            <a:solidFill>
              <a:srgbClr val="0D9488"/>
            </a:solidFill>
            <a:prstDash val="solid"/>
          </a:ln>
        </p:spPr>
      </p:sp>
      <p:sp>
        <p:nvSpPr>
          <p:cNvPr id="11" name="Shape 9"/>
          <p:cNvSpPr/>
          <p:nvPr/>
        </p:nvSpPr>
        <p:spPr>
          <a:xfrm>
            <a:off x="4794504" y="2743200"/>
            <a:ext cx="420624" cy="420624"/>
          </a:xfrm>
          <a:prstGeom prst="ellipse">
            <a:avLst/>
          </a:prstGeom>
          <a:solidFill>
            <a:srgbClr val="2DD4BF"/>
          </a:solidFill>
          <a:ln/>
        </p:spPr>
      </p:sp>
      <p:sp>
        <p:nvSpPr>
          <p:cNvPr id="12" name="Text 10"/>
          <p:cNvSpPr/>
          <p:nvPr/>
        </p:nvSpPr>
        <p:spPr>
          <a:xfrm>
            <a:off x="4794504" y="2743200"/>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2</a:t>
            </a:r>
            <a:endParaRPr lang="en-US" sz="1600" dirty="0"/>
          </a:p>
        </p:txBody>
      </p:sp>
      <p:sp>
        <p:nvSpPr>
          <p:cNvPr id="13" name="Text 11"/>
          <p:cNvSpPr/>
          <p:nvPr/>
        </p:nvSpPr>
        <p:spPr>
          <a:xfrm>
            <a:off x="4794504" y="3337560"/>
            <a:ext cx="2599944" cy="457200"/>
          </a:xfrm>
          <a:prstGeom prst="rect">
            <a:avLst/>
          </a:prstGeom>
          <a:noFill/>
          <a:ln/>
        </p:spPr>
        <p:txBody>
          <a:bodyPr wrap="square" lIns="0" tIns="0" rIns="0" bIns="0" rtlCol="0" anchor="ctr"/>
          <a:lstStyle/>
          <a:p>
            <a:pPr indent="0" marL="0">
              <a:buNone/>
            </a:pPr>
            <a:r>
              <a:rPr lang="en-US" sz="1600" b="1" dirty="0">
                <a:solidFill>
                  <a:srgbClr val="FFFFFF"/>
                </a:solidFill>
                <a:latin typeface="Segoe UI Semibold" pitchFamily="34" charset="0"/>
                <a:ea typeface="Segoe UI Semibold" pitchFamily="34" charset="-122"/>
                <a:cs typeface="Segoe UI Semibold" pitchFamily="34" charset="-120"/>
              </a:rPr>
              <a:t>See the error budget move</a:t>
            </a:r>
            <a:endParaRPr lang="en-US" sz="1600" dirty="0"/>
          </a:p>
        </p:txBody>
      </p:sp>
      <p:sp>
        <p:nvSpPr>
          <p:cNvPr id="14" name="Text 12"/>
          <p:cNvSpPr/>
          <p:nvPr/>
        </p:nvSpPr>
        <p:spPr>
          <a:xfrm>
            <a:off x="4794504" y="3794760"/>
            <a:ext cx="2599944" cy="777240"/>
          </a:xfrm>
          <a:prstGeom prst="rect">
            <a:avLst/>
          </a:prstGeom>
          <a:noFill/>
          <a:ln/>
        </p:spPr>
        <p:txBody>
          <a:bodyPr wrap="square" lIns="0" tIns="0" rIns="0" bIns="0" rtlCol="0" anchor="t"/>
          <a:lstStyle/>
          <a:p>
            <a:pPr indent="0" marL="0">
              <a:lnSpc>
                <a:spcPct val="110000"/>
              </a:lnSpc>
              <a:buNone/>
            </a:pPr>
            <a:r>
              <a:rPr lang="en-US" sz="1200" dirty="0">
                <a:solidFill>
                  <a:srgbClr val="C7D6E5"/>
                </a:solidFill>
                <a:latin typeface="Segoe UI" pitchFamily="34" charset="0"/>
                <a:ea typeface="Segoe UI" pitchFamily="34" charset="-122"/>
                <a:cs typeface="Segoe UI" pitchFamily="34" charset="-120"/>
              </a:rPr>
              <a:t>Inject failures and watch fast / slow burn alerts fire.</a:t>
            </a:r>
            <a:endParaRPr lang="en-US" sz="1200" dirty="0"/>
          </a:p>
        </p:txBody>
      </p:sp>
      <p:sp>
        <p:nvSpPr>
          <p:cNvPr id="15" name="Shape 13"/>
          <p:cNvSpPr/>
          <p:nvPr/>
        </p:nvSpPr>
        <p:spPr>
          <a:xfrm>
            <a:off x="8125968" y="2468880"/>
            <a:ext cx="3148584" cy="2194560"/>
          </a:xfrm>
          <a:prstGeom prst="rect">
            <a:avLst/>
          </a:prstGeom>
          <a:solidFill>
            <a:srgbClr val="10314F"/>
          </a:solidFill>
          <a:ln w="12700">
            <a:solidFill>
              <a:srgbClr val="0D9488"/>
            </a:solidFill>
            <a:prstDash val="solid"/>
          </a:ln>
        </p:spPr>
      </p:sp>
      <p:sp>
        <p:nvSpPr>
          <p:cNvPr id="16" name="Shape 14"/>
          <p:cNvSpPr/>
          <p:nvPr/>
        </p:nvSpPr>
        <p:spPr>
          <a:xfrm>
            <a:off x="8400288" y="2743200"/>
            <a:ext cx="420624" cy="420624"/>
          </a:xfrm>
          <a:prstGeom prst="ellipse">
            <a:avLst/>
          </a:prstGeom>
          <a:solidFill>
            <a:srgbClr val="2DD4BF"/>
          </a:solidFill>
          <a:ln/>
        </p:spPr>
      </p:sp>
      <p:sp>
        <p:nvSpPr>
          <p:cNvPr id="17" name="Text 15"/>
          <p:cNvSpPr/>
          <p:nvPr/>
        </p:nvSpPr>
        <p:spPr>
          <a:xfrm>
            <a:off x="8400288" y="2743200"/>
            <a:ext cx="420624" cy="420624"/>
          </a:xfrm>
          <a:prstGeom prst="rect">
            <a:avLst/>
          </a:prstGeom>
          <a:noFill/>
          <a:ln/>
        </p:spPr>
        <p:txBody>
          <a:bodyPr wrap="square" lIns="0" tIns="0" rIns="0" bIns="0" rtlCol="0" anchor="ctr"/>
          <a:lstStyle/>
          <a:p>
            <a:pPr algn="ctr" indent="0" marL="0">
              <a:buNone/>
            </a:pPr>
            <a:r>
              <a:rPr lang="en-US" sz="1600" b="1" dirty="0">
                <a:solidFill>
                  <a:srgbClr val="0A2540"/>
                </a:solidFill>
                <a:latin typeface="Segoe UI Semibold" pitchFamily="34" charset="0"/>
                <a:ea typeface="Segoe UI Semibold" pitchFamily="34" charset="-122"/>
                <a:cs typeface="Segoe UI Semibold" pitchFamily="34" charset="-120"/>
              </a:rPr>
              <a:t>3</a:t>
            </a:r>
            <a:endParaRPr lang="en-US" sz="1600" dirty="0"/>
          </a:p>
        </p:txBody>
      </p:sp>
      <p:sp>
        <p:nvSpPr>
          <p:cNvPr id="18" name="Text 16"/>
          <p:cNvSpPr/>
          <p:nvPr/>
        </p:nvSpPr>
        <p:spPr>
          <a:xfrm>
            <a:off x="8400288" y="3337560"/>
            <a:ext cx="2599944" cy="457200"/>
          </a:xfrm>
          <a:prstGeom prst="rect">
            <a:avLst/>
          </a:prstGeom>
          <a:noFill/>
          <a:ln/>
        </p:spPr>
        <p:txBody>
          <a:bodyPr wrap="square" lIns="0" tIns="0" rIns="0" bIns="0" rtlCol="0" anchor="ctr"/>
          <a:lstStyle/>
          <a:p>
            <a:pPr indent="0" marL="0">
              <a:buNone/>
            </a:pPr>
            <a:r>
              <a:rPr lang="en-US" sz="1600" b="1" dirty="0">
                <a:solidFill>
                  <a:srgbClr val="FFFFFF"/>
                </a:solidFill>
                <a:latin typeface="Segoe UI Semibold" pitchFamily="34" charset="0"/>
                <a:ea typeface="Segoe UI Semibold" pitchFamily="34" charset="-122"/>
                <a:cs typeface="Segoe UI Semibold" pitchFamily="34" charset="-120"/>
              </a:rPr>
              <a:t>Know the path forward</a:t>
            </a:r>
            <a:endParaRPr lang="en-US" sz="1600" dirty="0"/>
          </a:p>
        </p:txBody>
      </p:sp>
      <p:sp>
        <p:nvSpPr>
          <p:cNvPr id="19" name="Text 17"/>
          <p:cNvSpPr/>
          <p:nvPr/>
        </p:nvSpPr>
        <p:spPr>
          <a:xfrm>
            <a:off x="8400288" y="3794760"/>
            <a:ext cx="2599944" cy="777240"/>
          </a:xfrm>
          <a:prstGeom prst="rect">
            <a:avLst/>
          </a:prstGeom>
          <a:noFill/>
          <a:ln/>
        </p:spPr>
        <p:txBody>
          <a:bodyPr wrap="square" lIns="0" tIns="0" rIns="0" bIns="0" rtlCol="0" anchor="t"/>
          <a:lstStyle/>
          <a:p>
            <a:pPr indent="0" marL="0">
              <a:lnSpc>
                <a:spcPct val="110000"/>
              </a:lnSpc>
              <a:buNone/>
            </a:pPr>
            <a:r>
              <a:rPr lang="en-US" sz="1200" dirty="0">
                <a:solidFill>
                  <a:srgbClr val="C7D6E5"/>
                </a:solidFill>
                <a:latin typeface="Segoe UI" pitchFamily="34" charset="0"/>
                <a:ea typeface="Segoe UI" pitchFamily="34" charset="-122"/>
                <a:cs typeface="Segoe UI" pitchFamily="34" charset="-120"/>
              </a:rPr>
              <a:t>Health Models, AI-assisted ops, and error-budget-driven releases.</a:t>
            </a:r>
            <a:endParaRPr lang="en-US" sz="1200" dirty="0"/>
          </a:p>
        </p:txBody>
      </p:sp>
      <p:sp>
        <p:nvSpPr>
          <p:cNvPr id="20" name="Shape 18"/>
          <p:cNvSpPr/>
          <p:nvPr/>
        </p:nvSpPr>
        <p:spPr>
          <a:xfrm>
            <a:off x="914400" y="5029200"/>
            <a:ext cx="10360152" cy="685800"/>
          </a:xfrm>
          <a:prstGeom prst="roundRect">
            <a:avLst>
              <a:gd name="adj" fmla="val 10667"/>
            </a:avLst>
          </a:prstGeom>
          <a:solidFill>
            <a:srgbClr val="2DD4BF"/>
          </a:solidFill>
          <a:ln/>
        </p:spPr>
      </p:sp>
      <p:sp>
        <p:nvSpPr>
          <p:cNvPr id="21" name="Text 19"/>
          <p:cNvSpPr/>
          <p:nvPr/>
        </p:nvSpPr>
        <p:spPr>
          <a:xfrm>
            <a:off x="914400" y="5029200"/>
            <a:ext cx="10360152" cy="685800"/>
          </a:xfrm>
          <a:prstGeom prst="rect">
            <a:avLst/>
          </a:prstGeom>
          <a:noFill/>
          <a:ln/>
        </p:spPr>
        <p:txBody>
          <a:bodyPr wrap="square" lIns="0" tIns="0" rIns="0" bIns="0" rtlCol="0" anchor="ctr"/>
          <a:lstStyle/>
          <a:p>
            <a:pPr algn="ctr" indent="0" marL="0">
              <a:buNone/>
            </a:pPr>
            <a:r>
              <a:rPr lang="en-US" sz="1500" b="1" dirty="0">
                <a:solidFill>
                  <a:srgbClr val="0A2540"/>
                </a:solidFill>
                <a:latin typeface="Segoe UI Semibold" pitchFamily="34" charset="0"/>
                <a:ea typeface="Segoe UI Semibold" pitchFamily="34" charset="-122"/>
                <a:cs typeface="Segoe UI Semibold" pitchFamily="34" charset="-120"/>
              </a:rPr>
              <a:t>Ready to start?   </a:t>
            </a:r>
            <a:pPr algn="ctr" indent="0" marL="0">
              <a:buNone/>
            </a:pPr>
            <a:r>
              <a:rPr lang="en-US" sz="1500" dirty="0">
                <a:solidFill>
                  <a:srgbClr val="07314A"/>
                </a:solidFill>
                <a:latin typeface="Consolas" pitchFamily="34" charset="0"/>
                <a:ea typeface="Consolas" pitchFamily="34" charset="-122"/>
                <a:cs typeface="Consolas" pitchFamily="34" charset="-120"/>
              </a:rPr>
              <a:t>Deploy the infra, start traffic, and run  ./run-lab.ps1</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Monitor SLI/SLO Hands-On Lab</dc:title>
  <dc:subject>PptxGenJS Presentation</dc:subject>
  <dc:creator>Azure Reliability Starter Kit</dc:creator>
  <cp:lastModifiedBy>Azure Reliability Starter Kit</cp:lastModifiedBy>
  <cp:revision>1</cp:revision>
  <dcterms:created xsi:type="dcterms:W3CDTF">2026-07-20T21:16:09Z</dcterms:created>
  <dcterms:modified xsi:type="dcterms:W3CDTF">2026-07-20T21:16:09Z</dcterms:modified>
</cp:coreProperties>
</file>