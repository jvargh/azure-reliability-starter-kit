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Part 2. In Part 1 we authored SLIs; here we roll them up into a health model. Still hands-on, not a lecture.
The one-liner: instead of staring at hundreds of metrics, the whole workload gets a single health state that you can drill into to find the exact failing component.
Key framing: a health model does not replace SLIs, it consumes them, so reliability and health agree on the same numbers. Prereq is the SLI demo from Part 1 being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here, this is the reason health models exist.
Left: alert-based monitoring is noisy (ten alerts per incident), local (no alert knows about the others), and stateless (nowhere says the workload as a whole is unhealthy).
Right: a health model adds business context. It gives the whole workload one state, points at the component causing it, and rolls that state up along dependencies so you see the blast radius. One state-change alert replaces a pile of metric alerts.
Room question: during your last incident, how many alerts fired for one root cause? That noise is what we are collapsing.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on this slide: the vocabulary stack and the states.
Read the six layers bottom to top of the pyramid of ideas: an Entity is a thing you care about; a Signal measures it against thresholds; those resolve to a Health state; Relationships connect entities; Rollup combines a parent with its children; and an Alert fires on a state change, not a single metric.
On the right, the four states are simple traffic lights: Healthy, Degraded, Unhealthy, and Unknown. Call out Unknown specifically: it means no data, which in this demo usually means traffic stopped. An entity's state is the worst of its own signals and whatever rolls up from its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scenario, same app as Part 1 so it is familiar.
Three moves, left to right. First, discovery: point an Application Insights topology discovery at the Part 1 app and it imports Login and Checkout as entities, draws the dependency edges, and adds recommended signals automatically. Second, tap the SLIs: attach PromQL signals that read the same Azure Monitor Workspace, Checkout availability and Login p95 latency. Third, roll up and alert on state: Degraded is Sev2, Unhealthy is Sev1.
The bottom bar is the headline: because it consumes the same workspace the SLIs write to, the health model and the SLIs never disagree on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kit actually deploys, so people know the moving parts.
Left, four things: the health model plus a system-assigned identity with Monitoring Reader on the app RG; the Application Insights topology discovery; the SLI-driven PromQL signals; and the state-based alerts. Note the model lives in its own resource group and references the app across resource groups.
Right shows the assembly line: topology discovery finds the components, they become Login and Checkout entities with relationships, PromQL signals attach the SLI value to each, health rolls up worst-of, and state changes fire alerts. One callout: the model region is limited to the CloudHealth regions (default centralus); the app itself can live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it is short: one prerequisite and essentially one command.
One: Part 1 must be in place, the SLI demo deployed and SLIs authored. If they did Part 1 in this environment, they skip straight to step two.
Two: keep the traffic generator running in its own terminal. Stress this: the health signals read the SLI :value series, so if traffic stops the series go stale and signals show Unknown.
Three: run healthmodel-run-lab.ps1, which walks all six phases. Interactive runs pause and confirm before the two write steps. Mention the region note: the model itself must be in a CloudHealth region (default centralus), independent of where the app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runner does, and it mirrors how you would build a health model for any workload.
Phases 1 to 4 (teal) are setup and modelling: check access and that the SLI series are live, create the model and its identity, verify discovery imported the entities, and map each SLI to the right App Service entity, derived automatically from the SLI label, no manual table.
Phases 5 and 6 (amber) are the wiring and proof: attach the PromQL signals and the state alerts, then validate everything is reporting.
Point to make: the runner is idempotent and phase-scoped, so you can re-run just the mapping or just validation without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this lab on the bigger journey so it does not feel like a one-off.
Phase 0 was Part 1: the SLI foundation. Phase 1, highlighted, is what you build today: the health model that rolls those SLIs plus resource health into one honest score and lets you drill to the failing entity.
Phase 2 is where AI comes in: the Observability Agent explains what broke and why, and the SRE Agent takes approved action, with the health model focusing them. Phase 3 is the operating model, where error budgets gate releases.
The through-line: every phase reuses the previous one with no rework. The health model you build now is exactly what the agents reason 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outcomes: you will have built a real health model by discovering entities and attaching SLI-driven signals; you will see one honest health score that rolls up and drills down to the failing component; and you will alert on state changes instead of metric noise.
Call to action: make sure traffic is running, then run healthmodel-run-lab.ps1.
Then hand off: open your terminals and start. Offer to stay on for questions, and tease Part 3, the AI operations lab, as the natural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D4BF"/>
          </a:solidFill>
          <a:ln/>
        </p:spPr>
      </p:sp>
      <p:sp>
        <p:nvSpPr>
          <p:cNvPr id="3" name="Shape 1"/>
          <p:cNvSpPr/>
          <p:nvPr/>
        </p:nvSpPr>
        <p:spPr>
          <a:xfrm>
            <a:off x="9262872" y="3931920"/>
            <a:ext cx="2926080" cy="2926080"/>
          </a:xfrm>
          <a:prstGeom prst="rect">
            <a:avLst/>
          </a:prstGeom>
          <a:solidFill>
            <a:srgbClr val="10314F"/>
          </a:solidFill>
          <a:ln/>
        </p:spPr>
      </p:sp>
      <p:sp>
        <p:nvSpPr>
          <p:cNvPr id="4" name="Shape 2"/>
          <p:cNvSpPr/>
          <p:nvPr/>
        </p:nvSpPr>
        <p:spPr>
          <a:xfrm>
            <a:off x="10360152" y="5029200"/>
            <a:ext cx="1828800" cy="1828800"/>
          </a:xfrm>
          <a:prstGeom prst="rect">
            <a:avLst/>
          </a:prstGeom>
          <a:solidFill>
            <a:srgbClr val="0D9488">
              <a:alpha val="45000"/>
            </a:srgbClr>
          </a:solidFill>
          <a:ln/>
        </p:spPr>
      </p:sp>
      <p:sp>
        <p:nvSpPr>
          <p:cNvPr id="5" name="Text 3"/>
          <p:cNvSpPr/>
          <p:nvPr/>
        </p:nvSpPr>
        <p:spPr>
          <a:xfrm>
            <a:off x="914400" y="141732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Segoe UI" pitchFamily="34" charset="0"/>
                <a:ea typeface="Segoe UI" pitchFamily="34" charset="-122"/>
                <a:cs typeface="Segoe UI" pitchFamily="34" charset="-120"/>
              </a:rPr>
              <a:t>AZURE MONITOR  ·  HANDS-ON LAB  ·  PART 2</a:t>
            </a:r>
            <a:endParaRPr lang="en-US" sz="1400" dirty="0"/>
          </a:p>
        </p:txBody>
      </p:sp>
      <p:sp>
        <p:nvSpPr>
          <p:cNvPr id="6" name="Text 4"/>
          <p:cNvSpPr/>
          <p:nvPr/>
        </p:nvSpPr>
        <p:spPr>
          <a:xfrm>
            <a:off x="868680" y="1874520"/>
            <a:ext cx="10424160" cy="173736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Segoe UI Semibold" pitchFamily="34" charset="0"/>
                <a:ea typeface="Segoe UI Semibold" pitchFamily="34" charset="-122"/>
                <a:cs typeface="Segoe UI Semibold" pitchFamily="34" charset="-120"/>
              </a:rPr>
              <a:t>Health Models: one honest</a:t>
            </a:r>
            <a:endParaRPr lang="en-US" sz="4400" dirty="0"/>
          </a:p>
          <a:p>
            <a:pPr indent="0" marL="0">
              <a:lnSpc>
                <a:spcPct val="102000"/>
              </a:lnSpc>
              <a:buNone/>
            </a:pPr>
            <a:r>
              <a:rPr lang="en-US" sz="4400" b="1" dirty="0">
                <a:solidFill>
                  <a:srgbClr val="FFFFFF"/>
                </a:solidFill>
                <a:latin typeface="Segoe UI Semibold" pitchFamily="34" charset="0"/>
                <a:ea typeface="Segoe UI Semibold" pitchFamily="34" charset="-122"/>
                <a:cs typeface="Segoe UI Semibold" pitchFamily="34" charset="-120"/>
              </a:rPr>
              <a:t>score for the whole workload</a:t>
            </a:r>
            <a:endParaRPr lang="en-US" sz="4400" dirty="0"/>
          </a:p>
        </p:txBody>
      </p:sp>
      <p:sp>
        <p:nvSpPr>
          <p:cNvPr id="7" name="Text 5"/>
          <p:cNvSpPr/>
          <p:nvPr/>
        </p:nvSpPr>
        <p:spPr>
          <a:xfrm>
            <a:off x="914400" y="3703320"/>
            <a:ext cx="9326880" cy="731520"/>
          </a:xfrm>
          <a:prstGeom prst="rect">
            <a:avLst/>
          </a:prstGeom>
          <a:noFill/>
          <a:ln/>
        </p:spPr>
        <p:txBody>
          <a:bodyPr wrap="square" lIns="0" tIns="0" rIns="0" bIns="0" rtlCol="0" anchor="ctr"/>
          <a:lstStyle/>
          <a:p>
            <a:pPr indent="0" marL="0">
              <a:lnSpc>
                <a:spcPct val="115000"/>
              </a:lnSpc>
              <a:buNone/>
            </a:pPr>
            <a:r>
              <a:rPr lang="en-US" sz="1700" dirty="0">
                <a:solidFill>
                  <a:srgbClr val="C7D6E5"/>
                </a:solidFill>
                <a:latin typeface="Segoe UI" pitchFamily="34" charset="0"/>
                <a:ea typeface="Segoe UI" pitchFamily="34" charset="-122"/>
                <a:cs typeface="Segoe UI" pitchFamily="34" charset="-120"/>
              </a:rPr>
              <a:t>Roll your SLIs and resource signals into one top-down health state, then drill straight to the failing component.</a:t>
            </a:r>
            <a:endParaRPr lang="en-US" sz="1700" dirty="0"/>
          </a:p>
        </p:txBody>
      </p:sp>
      <p:sp>
        <p:nvSpPr>
          <p:cNvPr id="8" name="Shape 6"/>
          <p:cNvSpPr/>
          <p:nvPr/>
        </p:nvSpPr>
        <p:spPr>
          <a:xfrm>
            <a:off x="914400" y="4709160"/>
            <a:ext cx="1225296" cy="402336"/>
          </a:xfrm>
          <a:prstGeom prst="roundRect">
            <a:avLst>
              <a:gd name="adj" fmla="val 18182"/>
            </a:avLst>
          </a:prstGeom>
          <a:solidFill>
            <a:srgbClr val="10314F"/>
          </a:solidFill>
          <a:ln w="12700">
            <a:solidFill>
              <a:srgbClr val="0D9488"/>
            </a:solidFill>
            <a:prstDash val="solid"/>
          </a:ln>
        </p:spPr>
      </p:sp>
      <p:sp>
        <p:nvSpPr>
          <p:cNvPr id="9" name="Text 7"/>
          <p:cNvSpPr/>
          <p:nvPr/>
        </p:nvSpPr>
        <p:spPr>
          <a:xfrm>
            <a:off x="914400" y="4709160"/>
            <a:ext cx="1225296"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Entities</a:t>
            </a:r>
            <a:endParaRPr lang="en-US" sz="1200" dirty="0"/>
          </a:p>
        </p:txBody>
      </p:sp>
      <p:sp>
        <p:nvSpPr>
          <p:cNvPr id="10" name="Shape 8"/>
          <p:cNvSpPr/>
          <p:nvPr/>
        </p:nvSpPr>
        <p:spPr>
          <a:xfrm>
            <a:off x="2368296" y="4709160"/>
            <a:ext cx="1120140" cy="402336"/>
          </a:xfrm>
          <a:prstGeom prst="roundRect">
            <a:avLst>
              <a:gd name="adj" fmla="val 18182"/>
            </a:avLst>
          </a:prstGeom>
          <a:solidFill>
            <a:srgbClr val="10314F"/>
          </a:solidFill>
          <a:ln w="12700">
            <a:solidFill>
              <a:srgbClr val="0D9488"/>
            </a:solidFill>
            <a:prstDash val="solid"/>
          </a:ln>
        </p:spPr>
      </p:sp>
      <p:sp>
        <p:nvSpPr>
          <p:cNvPr id="11" name="Text 9"/>
          <p:cNvSpPr/>
          <p:nvPr/>
        </p:nvSpPr>
        <p:spPr>
          <a:xfrm>
            <a:off x="2368296" y="4709160"/>
            <a:ext cx="1120140"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Signals</a:t>
            </a:r>
            <a:endParaRPr lang="en-US" sz="1200" dirty="0"/>
          </a:p>
        </p:txBody>
      </p:sp>
      <p:sp>
        <p:nvSpPr>
          <p:cNvPr id="12" name="Shape 10"/>
          <p:cNvSpPr/>
          <p:nvPr/>
        </p:nvSpPr>
        <p:spPr>
          <a:xfrm>
            <a:off x="3717036" y="4709160"/>
            <a:ext cx="1014984" cy="402336"/>
          </a:xfrm>
          <a:prstGeom prst="roundRect">
            <a:avLst>
              <a:gd name="adj" fmla="val 18182"/>
            </a:avLst>
          </a:prstGeom>
          <a:solidFill>
            <a:srgbClr val="10314F"/>
          </a:solidFill>
          <a:ln w="12700">
            <a:solidFill>
              <a:srgbClr val="0D9488"/>
            </a:solidFill>
            <a:prstDash val="solid"/>
          </a:ln>
        </p:spPr>
      </p:sp>
      <p:sp>
        <p:nvSpPr>
          <p:cNvPr id="13" name="Text 11"/>
          <p:cNvSpPr/>
          <p:nvPr/>
        </p:nvSpPr>
        <p:spPr>
          <a:xfrm>
            <a:off x="3717036" y="4709160"/>
            <a:ext cx="1014984"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Rollup</a:t>
            </a:r>
            <a:endParaRPr lang="en-US" sz="1200" dirty="0"/>
          </a:p>
        </p:txBody>
      </p:sp>
      <p:sp>
        <p:nvSpPr>
          <p:cNvPr id="14" name="Shape 12"/>
          <p:cNvSpPr/>
          <p:nvPr/>
        </p:nvSpPr>
        <p:spPr>
          <a:xfrm>
            <a:off x="4960620" y="4709160"/>
            <a:ext cx="1645920" cy="402336"/>
          </a:xfrm>
          <a:prstGeom prst="roundRect">
            <a:avLst>
              <a:gd name="adj" fmla="val 18182"/>
            </a:avLst>
          </a:prstGeom>
          <a:solidFill>
            <a:srgbClr val="10314F"/>
          </a:solidFill>
          <a:ln w="12700">
            <a:solidFill>
              <a:srgbClr val="0D9488"/>
            </a:solidFill>
            <a:prstDash val="solid"/>
          </a:ln>
        </p:spPr>
      </p:sp>
      <p:sp>
        <p:nvSpPr>
          <p:cNvPr id="15" name="Text 13"/>
          <p:cNvSpPr/>
          <p:nvPr/>
        </p:nvSpPr>
        <p:spPr>
          <a:xfrm>
            <a:off x="4960620" y="4709160"/>
            <a:ext cx="1645920"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State alerts</a:t>
            </a:r>
            <a:endParaRPr lang="en-US" sz="1200" dirty="0"/>
          </a:p>
        </p:txBody>
      </p:sp>
      <p:sp>
        <p:nvSpPr>
          <p:cNvPr id="16" name="Text 14"/>
          <p:cNvSpPr/>
          <p:nvPr/>
        </p:nvSpPr>
        <p:spPr>
          <a:xfrm>
            <a:off x="914400" y="6217920"/>
            <a:ext cx="10058400" cy="320040"/>
          </a:xfrm>
          <a:prstGeom prst="rect">
            <a:avLst/>
          </a:prstGeom>
          <a:noFill/>
          <a:ln/>
        </p:spPr>
        <p:txBody>
          <a:bodyPr wrap="square" lIns="0" tIns="0" rIns="0" bIns="0" rtlCol="0" anchor="ctr"/>
          <a:lstStyle/>
          <a:p>
            <a:pPr indent="0" marL="0">
              <a:buNone/>
            </a:pPr>
            <a:r>
              <a:rPr lang="en-US" sz="1100" dirty="0">
                <a:solidFill>
                  <a:srgbClr val="7E93A8"/>
                </a:solidFill>
                <a:latin typeface="Segoe UI" pitchFamily="34" charset="0"/>
                <a:ea typeface="Segoe UI" pitchFamily="34" charset="-122"/>
                <a:cs typeface="Segoe UI" pitchFamily="34" charset="-120"/>
              </a:rPr>
              <a:t>Builds directly on the SLI/SLO lab (Part 1)  ·  for platform, SRE, and engineering teams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1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Why a health model, not just more alerts?</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Alert-based monitoring tells you a metric crossed a line. A health model tells you the state of the whole workload and what is causing it.</a:t>
            </a:r>
            <a:endParaRPr lang="en-US" sz="1500" dirty="0"/>
          </a:p>
        </p:txBody>
      </p:sp>
      <p:sp>
        <p:nvSpPr>
          <p:cNvPr id="6" name="Shape 4"/>
          <p:cNvSpPr/>
          <p:nvPr/>
        </p:nvSpPr>
        <p:spPr>
          <a:xfrm>
            <a:off x="640080" y="2240280"/>
            <a:ext cx="5225796" cy="31546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7" name="Shape 5"/>
          <p:cNvSpPr/>
          <p:nvPr/>
        </p:nvSpPr>
        <p:spPr>
          <a:xfrm>
            <a:off x="640080" y="2240280"/>
            <a:ext cx="5225796" cy="109728"/>
          </a:xfrm>
          <a:prstGeom prst="rect">
            <a:avLst/>
          </a:prstGeom>
          <a:solidFill>
            <a:srgbClr val="64748B"/>
          </a:solidFill>
          <a:ln/>
        </p:spPr>
      </p:sp>
      <p:sp>
        <p:nvSpPr>
          <p:cNvPr id="8" name="Text 6"/>
          <p:cNvSpPr/>
          <p:nvPr/>
        </p:nvSpPr>
        <p:spPr>
          <a:xfrm>
            <a:off x="960120" y="2560320"/>
            <a:ext cx="4585716" cy="365760"/>
          </a:xfrm>
          <a:prstGeom prst="rect">
            <a:avLst/>
          </a:prstGeom>
          <a:noFill/>
          <a:ln/>
        </p:spPr>
        <p:txBody>
          <a:bodyPr wrap="square" lIns="0" tIns="0" rIns="0" bIns="0" rtlCol="0" anchor="ctr"/>
          <a:lstStyle/>
          <a:p>
            <a:pPr indent="0" marL="0">
              <a:buNone/>
            </a:pPr>
            <a:r>
              <a:rPr lang="en-US" sz="1400" b="1" spc="100" kern="0" dirty="0">
                <a:solidFill>
                  <a:srgbClr val="1E293B"/>
                </a:solidFill>
                <a:latin typeface="Segoe UI Semibold" pitchFamily="34" charset="0"/>
                <a:ea typeface="Segoe UI Semibold" pitchFamily="34" charset="-122"/>
                <a:cs typeface="Segoe UI Semibold" pitchFamily="34" charset="-120"/>
              </a:rPr>
              <a:t>ALERT-BASED MONITORING</a:t>
            </a:r>
            <a:endParaRPr lang="en-US" sz="1400" dirty="0"/>
          </a:p>
        </p:txBody>
      </p:sp>
      <p:sp>
        <p:nvSpPr>
          <p:cNvPr id="9" name="Text 7"/>
          <p:cNvSpPr/>
          <p:nvPr/>
        </p:nvSpPr>
        <p:spPr>
          <a:xfrm>
            <a:off x="960120" y="3108960"/>
            <a:ext cx="4585716" cy="196596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Noisy: one incident fires ten alerts</a:t>
            </a:r>
            <a:endParaRPr lang="en-US" sz="1450" dirty="0"/>
          </a:p>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Local: each alert knows nothing of the others</a:t>
            </a:r>
            <a:endParaRPr lang="en-US" sz="1450" dirty="0"/>
          </a:p>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Stateless: nothing says “the workload is unhealthy”</a:t>
            </a:r>
            <a:endParaRPr lang="en-US" sz="1450" dirty="0"/>
          </a:p>
          <a:p>
            <a:pPr marL="203200" indent="-203200">
              <a:lnSpc>
                <a:spcPct val="105000"/>
              </a:lnSpc>
              <a:buSzPct val="100000"/>
              <a:buChar char="•"/>
            </a:pPr>
            <a:r>
              <a:rPr lang="en-US" sz="1450" dirty="0">
                <a:solidFill>
                  <a:srgbClr val="1E293B"/>
                </a:solidFill>
                <a:latin typeface="Segoe UI" pitchFamily="34" charset="0"/>
                <a:ea typeface="Segoe UI" pitchFamily="34" charset="-122"/>
                <a:cs typeface="Segoe UI" pitchFamily="34" charset="-120"/>
              </a:rPr>
              <a:t>No sense of blast radius</a:t>
            </a:r>
            <a:endParaRPr lang="en-US" sz="1450" dirty="0"/>
          </a:p>
        </p:txBody>
      </p:sp>
      <p:sp>
        <p:nvSpPr>
          <p:cNvPr id="10" name="Shape 8"/>
          <p:cNvSpPr/>
          <p:nvPr/>
        </p:nvSpPr>
        <p:spPr>
          <a:xfrm>
            <a:off x="6323076" y="2240280"/>
            <a:ext cx="5225796" cy="3154680"/>
          </a:xfrm>
          <a:prstGeom prst="rect">
            <a:avLst/>
          </a:prstGeom>
          <a:solidFill>
            <a:srgbClr val="0A2540"/>
          </a:solidFill>
          <a:ln/>
          <a:effectLst>
            <a:outerShdw sx="100000" sy="100000" kx="0" ky="0" algn="bl" rotWithShape="0" blurRad="114300" dist="38100" dir="5400000">
              <a:srgbClr val="0A2540">
                <a:alpha val="16000"/>
              </a:srgbClr>
            </a:outerShdw>
          </a:effectLst>
        </p:spPr>
      </p:sp>
      <p:sp>
        <p:nvSpPr>
          <p:cNvPr id="11" name="Shape 9"/>
          <p:cNvSpPr/>
          <p:nvPr/>
        </p:nvSpPr>
        <p:spPr>
          <a:xfrm>
            <a:off x="6323076" y="2240280"/>
            <a:ext cx="5225796" cy="109728"/>
          </a:xfrm>
          <a:prstGeom prst="rect">
            <a:avLst/>
          </a:prstGeom>
          <a:solidFill>
            <a:srgbClr val="2DD4BF"/>
          </a:solidFill>
          <a:ln/>
        </p:spPr>
      </p:sp>
      <p:sp>
        <p:nvSpPr>
          <p:cNvPr id="12" name="Text 10"/>
          <p:cNvSpPr/>
          <p:nvPr/>
        </p:nvSpPr>
        <p:spPr>
          <a:xfrm>
            <a:off x="6643116" y="2560320"/>
            <a:ext cx="4585716" cy="365760"/>
          </a:xfrm>
          <a:prstGeom prst="rect">
            <a:avLst/>
          </a:prstGeom>
          <a:noFill/>
          <a:ln/>
        </p:spPr>
        <p:txBody>
          <a:bodyPr wrap="square" lIns="0" tIns="0" rIns="0" bIns="0" rtlCol="0" anchor="ctr"/>
          <a:lstStyle/>
          <a:p>
            <a:pPr indent="0" marL="0">
              <a:buNone/>
            </a:pPr>
            <a:r>
              <a:rPr lang="en-US" sz="1400" b="1" spc="100" kern="0" dirty="0">
                <a:solidFill>
                  <a:srgbClr val="2DD4BF"/>
                </a:solidFill>
                <a:latin typeface="Segoe UI Semibold" pitchFamily="34" charset="0"/>
                <a:ea typeface="Segoe UI Semibold" pitchFamily="34" charset="-122"/>
                <a:cs typeface="Segoe UI Semibold" pitchFamily="34" charset="-120"/>
              </a:rPr>
              <a:t>HEALTH MODEL</a:t>
            </a:r>
            <a:endParaRPr lang="en-US" sz="1400" dirty="0"/>
          </a:p>
        </p:txBody>
      </p:sp>
      <p:sp>
        <p:nvSpPr>
          <p:cNvPr id="13" name="Text 11"/>
          <p:cNvSpPr/>
          <p:nvPr/>
        </p:nvSpPr>
        <p:spPr>
          <a:xfrm>
            <a:off x="6643116" y="3108960"/>
            <a:ext cx="4585716" cy="196596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One health state for the whole workload</a:t>
            </a:r>
            <a:endParaRPr lang="en-US" sz="1450" dirty="0"/>
          </a:p>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Shows which component is causing it</a:t>
            </a:r>
            <a:endParaRPr lang="en-US" sz="1450" dirty="0"/>
          </a:p>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Rolls state up along dependencies</a:t>
            </a:r>
            <a:endParaRPr lang="en-US" sz="1450" dirty="0"/>
          </a:p>
          <a:p>
            <a:pPr marL="203200" indent="-203200">
              <a:lnSpc>
                <a:spcPct val="105000"/>
              </a:lnSpc>
              <a:buSzPct val="100000"/>
              <a:buChar char="•"/>
            </a:pPr>
            <a:r>
              <a:rPr lang="en-US" sz="1450" dirty="0">
                <a:solidFill>
                  <a:srgbClr val="E5EEF6"/>
                </a:solidFill>
                <a:latin typeface="Segoe UI" pitchFamily="34" charset="0"/>
                <a:ea typeface="Segoe UI" pitchFamily="34" charset="-122"/>
                <a:cs typeface="Segoe UI" pitchFamily="34" charset="-120"/>
              </a:rPr>
              <a:t>One state-change alert replaces many noisy ones</a:t>
            </a:r>
            <a:endParaRPr lang="en-US" sz="1450" dirty="0"/>
          </a:p>
        </p:txBody>
      </p:sp>
      <p:sp>
        <p:nvSpPr>
          <p:cNvPr id="15" name="Text 12"/>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16" name="Text 13"/>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2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Six layers, and four health states</a:t>
            </a:r>
            <a:endParaRPr lang="en-US" sz="3000" dirty="0"/>
          </a:p>
        </p:txBody>
      </p:sp>
      <p:sp>
        <p:nvSpPr>
          <p:cNvPr id="5" name="Shape 3"/>
          <p:cNvSpPr/>
          <p:nvPr/>
        </p:nvSpPr>
        <p:spPr>
          <a:xfrm>
            <a:off x="640080" y="1920240"/>
            <a:ext cx="6126480" cy="566928"/>
          </a:xfrm>
          <a:prstGeom prst="roundRect">
            <a:avLst>
              <a:gd name="adj" fmla="val 8065"/>
            </a:avLst>
          </a:prstGeom>
          <a:solidFill>
            <a:srgbClr val="FFFFFF"/>
          </a:solidFill>
          <a:ln w="12700">
            <a:solidFill>
              <a:srgbClr val="E2E8F0"/>
            </a:solidFill>
            <a:prstDash val="solid"/>
          </a:ln>
        </p:spPr>
      </p:sp>
      <p:sp>
        <p:nvSpPr>
          <p:cNvPr id="6" name="Shape 4"/>
          <p:cNvSpPr/>
          <p:nvPr/>
        </p:nvSpPr>
        <p:spPr>
          <a:xfrm>
            <a:off x="749808" y="2011680"/>
            <a:ext cx="384048" cy="384048"/>
          </a:xfrm>
          <a:prstGeom prst="ellipse">
            <a:avLst/>
          </a:prstGeom>
          <a:solidFill>
            <a:srgbClr val="2DD4BF"/>
          </a:solidFill>
          <a:ln/>
        </p:spPr>
      </p:sp>
      <p:sp>
        <p:nvSpPr>
          <p:cNvPr id="7" name="Text 5"/>
          <p:cNvSpPr/>
          <p:nvPr/>
        </p:nvSpPr>
        <p:spPr>
          <a:xfrm>
            <a:off x="749808" y="201168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280160" y="1920240"/>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Entity   </a:t>
            </a:r>
            <a:pPr indent="0" marL="0">
              <a:buNone/>
            </a:pPr>
            <a:r>
              <a:rPr lang="en-US" sz="1250" dirty="0">
                <a:solidFill>
                  <a:srgbClr val="64748B"/>
                </a:solidFill>
                <a:latin typeface="Segoe UI" pitchFamily="34" charset="0"/>
                <a:ea typeface="Segoe UI" pitchFamily="34" charset="-122"/>
                <a:cs typeface="Segoe UI" pitchFamily="34" charset="-120"/>
              </a:rPr>
              <a:t>a thing whose health you care about</a:t>
            </a:r>
            <a:endParaRPr lang="en-US" sz="1250" dirty="0"/>
          </a:p>
        </p:txBody>
      </p:sp>
      <p:sp>
        <p:nvSpPr>
          <p:cNvPr id="9" name="Shape 7"/>
          <p:cNvSpPr/>
          <p:nvPr/>
        </p:nvSpPr>
        <p:spPr>
          <a:xfrm>
            <a:off x="640080" y="2587752"/>
            <a:ext cx="6126480" cy="566928"/>
          </a:xfrm>
          <a:prstGeom prst="roundRect">
            <a:avLst>
              <a:gd name="adj" fmla="val 8065"/>
            </a:avLst>
          </a:prstGeom>
          <a:solidFill>
            <a:srgbClr val="FFFFFF"/>
          </a:solidFill>
          <a:ln w="12700">
            <a:solidFill>
              <a:srgbClr val="E2E8F0"/>
            </a:solidFill>
            <a:prstDash val="solid"/>
          </a:ln>
        </p:spPr>
      </p:sp>
      <p:sp>
        <p:nvSpPr>
          <p:cNvPr id="10" name="Shape 8"/>
          <p:cNvSpPr/>
          <p:nvPr/>
        </p:nvSpPr>
        <p:spPr>
          <a:xfrm>
            <a:off x="749808" y="2679192"/>
            <a:ext cx="384048" cy="384048"/>
          </a:xfrm>
          <a:prstGeom prst="ellipse">
            <a:avLst/>
          </a:prstGeom>
          <a:solidFill>
            <a:srgbClr val="2DD4BF"/>
          </a:solidFill>
          <a:ln/>
        </p:spPr>
      </p:sp>
      <p:sp>
        <p:nvSpPr>
          <p:cNvPr id="11" name="Text 9"/>
          <p:cNvSpPr/>
          <p:nvPr/>
        </p:nvSpPr>
        <p:spPr>
          <a:xfrm>
            <a:off x="749808" y="2679192"/>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2" name="Text 10"/>
          <p:cNvSpPr/>
          <p:nvPr/>
        </p:nvSpPr>
        <p:spPr>
          <a:xfrm>
            <a:off x="1280160" y="2587752"/>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Signal   </a:t>
            </a:r>
            <a:pPr indent="0" marL="0">
              <a:buNone/>
            </a:pPr>
            <a:r>
              <a:rPr lang="en-US" sz="1250" dirty="0">
                <a:solidFill>
                  <a:srgbClr val="64748B"/>
                </a:solidFill>
                <a:latin typeface="Segoe UI" pitchFamily="34" charset="0"/>
                <a:ea typeface="Segoe UI" pitchFamily="34" charset="-122"/>
                <a:cs typeface="Segoe UI" pitchFamily="34" charset="-120"/>
              </a:rPr>
              <a:t>one measurement compared to thresholds</a:t>
            </a:r>
            <a:endParaRPr lang="en-US" sz="1250" dirty="0"/>
          </a:p>
        </p:txBody>
      </p:sp>
      <p:sp>
        <p:nvSpPr>
          <p:cNvPr id="13" name="Shape 11"/>
          <p:cNvSpPr/>
          <p:nvPr/>
        </p:nvSpPr>
        <p:spPr>
          <a:xfrm>
            <a:off x="640080" y="3255264"/>
            <a:ext cx="6126480" cy="566928"/>
          </a:xfrm>
          <a:prstGeom prst="roundRect">
            <a:avLst>
              <a:gd name="adj" fmla="val 8065"/>
            </a:avLst>
          </a:prstGeom>
          <a:solidFill>
            <a:srgbClr val="FFFFFF"/>
          </a:solidFill>
          <a:ln w="12700">
            <a:solidFill>
              <a:srgbClr val="E2E8F0"/>
            </a:solidFill>
            <a:prstDash val="solid"/>
          </a:ln>
        </p:spPr>
      </p:sp>
      <p:sp>
        <p:nvSpPr>
          <p:cNvPr id="14" name="Shape 12"/>
          <p:cNvSpPr/>
          <p:nvPr/>
        </p:nvSpPr>
        <p:spPr>
          <a:xfrm>
            <a:off x="749808" y="3346704"/>
            <a:ext cx="384048" cy="384048"/>
          </a:xfrm>
          <a:prstGeom prst="ellipse">
            <a:avLst/>
          </a:prstGeom>
          <a:solidFill>
            <a:srgbClr val="2DD4BF"/>
          </a:solidFill>
          <a:ln/>
        </p:spPr>
      </p:sp>
      <p:sp>
        <p:nvSpPr>
          <p:cNvPr id="15" name="Text 13"/>
          <p:cNvSpPr/>
          <p:nvPr/>
        </p:nvSpPr>
        <p:spPr>
          <a:xfrm>
            <a:off x="749808" y="3346704"/>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6" name="Text 14"/>
          <p:cNvSpPr/>
          <p:nvPr/>
        </p:nvSpPr>
        <p:spPr>
          <a:xfrm>
            <a:off x="1280160" y="3255264"/>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Health state   </a:t>
            </a:r>
            <a:pPr indent="0" marL="0">
              <a:buNone/>
            </a:pPr>
            <a:r>
              <a:rPr lang="en-US" sz="1250" dirty="0">
                <a:solidFill>
                  <a:srgbClr val="64748B"/>
                </a:solidFill>
                <a:latin typeface="Segoe UI" pitchFamily="34" charset="0"/>
                <a:ea typeface="Segoe UI" pitchFamily="34" charset="-122"/>
                <a:cs typeface="Segoe UI" pitchFamily="34" charset="-120"/>
              </a:rPr>
              <a:t>Healthy / Degraded / Unhealthy / Unknown</a:t>
            </a:r>
            <a:endParaRPr lang="en-US" sz="1250" dirty="0"/>
          </a:p>
        </p:txBody>
      </p:sp>
      <p:sp>
        <p:nvSpPr>
          <p:cNvPr id="17" name="Shape 15"/>
          <p:cNvSpPr/>
          <p:nvPr/>
        </p:nvSpPr>
        <p:spPr>
          <a:xfrm>
            <a:off x="640080" y="3922776"/>
            <a:ext cx="6126480" cy="566928"/>
          </a:xfrm>
          <a:prstGeom prst="roundRect">
            <a:avLst>
              <a:gd name="adj" fmla="val 8065"/>
            </a:avLst>
          </a:prstGeom>
          <a:solidFill>
            <a:srgbClr val="FFFFFF"/>
          </a:solidFill>
          <a:ln w="12700">
            <a:solidFill>
              <a:srgbClr val="E2E8F0"/>
            </a:solidFill>
            <a:prstDash val="solid"/>
          </a:ln>
        </p:spPr>
      </p:sp>
      <p:sp>
        <p:nvSpPr>
          <p:cNvPr id="18" name="Shape 16"/>
          <p:cNvSpPr/>
          <p:nvPr/>
        </p:nvSpPr>
        <p:spPr>
          <a:xfrm>
            <a:off x="749808" y="4014216"/>
            <a:ext cx="384048" cy="384048"/>
          </a:xfrm>
          <a:prstGeom prst="ellipse">
            <a:avLst/>
          </a:prstGeom>
          <a:solidFill>
            <a:srgbClr val="2DD4BF"/>
          </a:solidFill>
          <a:ln/>
        </p:spPr>
      </p:sp>
      <p:sp>
        <p:nvSpPr>
          <p:cNvPr id="19" name="Text 17"/>
          <p:cNvSpPr/>
          <p:nvPr/>
        </p:nvSpPr>
        <p:spPr>
          <a:xfrm>
            <a:off x="749808" y="4014216"/>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20" name="Text 18"/>
          <p:cNvSpPr/>
          <p:nvPr/>
        </p:nvSpPr>
        <p:spPr>
          <a:xfrm>
            <a:off x="1280160" y="3922776"/>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Relationship   </a:t>
            </a:r>
            <a:pPr indent="0" marL="0">
              <a:buNone/>
            </a:pPr>
            <a:r>
              <a:rPr lang="en-US" sz="1250" dirty="0">
                <a:solidFill>
                  <a:srgbClr val="64748B"/>
                </a:solidFill>
                <a:latin typeface="Segoe UI" pitchFamily="34" charset="0"/>
                <a:ea typeface="Segoe UI" pitchFamily="34" charset="-122"/>
                <a:cs typeface="Segoe UI" pitchFamily="34" charset="-120"/>
              </a:rPr>
              <a:t>“A depends on B” edges</a:t>
            </a:r>
            <a:endParaRPr lang="en-US" sz="1250" dirty="0"/>
          </a:p>
        </p:txBody>
      </p:sp>
      <p:sp>
        <p:nvSpPr>
          <p:cNvPr id="21" name="Shape 19"/>
          <p:cNvSpPr/>
          <p:nvPr/>
        </p:nvSpPr>
        <p:spPr>
          <a:xfrm>
            <a:off x="640080" y="4590288"/>
            <a:ext cx="6126480" cy="566928"/>
          </a:xfrm>
          <a:prstGeom prst="roundRect">
            <a:avLst>
              <a:gd name="adj" fmla="val 8065"/>
            </a:avLst>
          </a:prstGeom>
          <a:solidFill>
            <a:srgbClr val="FFFFFF"/>
          </a:solidFill>
          <a:ln w="12700">
            <a:solidFill>
              <a:srgbClr val="E2E8F0"/>
            </a:solidFill>
            <a:prstDash val="solid"/>
          </a:ln>
        </p:spPr>
      </p:sp>
      <p:sp>
        <p:nvSpPr>
          <p:cNvPr id="22" name="Shape 20"/>
          <p:cNvSpPr/>
          <p:nvPr/>
        </p:nvSpPr>
        <p:spPr>
          <a:xfrm>
            <a:off x="749808" y="4681728"/>
            <a:ext cx="384048" cy="384048"/>
          </a:xfrm>
          <a:prstGeom prst="ellipse">
            <a:avLst/>
          </a:prstGeom>
          <a:solidFill>
            <a:srgbClr val="2DD4BF"/>
          </a:solidFill>
          <a:ln/>
        </p:spPr>
      </p:sp>
      <p:sp>
        <p:nvSpPr>
          <p:cNvPr id="23" name="Text 21"/>
          <p:cNvSpPr/>
          <p:nvPr/>
        </p:nvSpPr>
        <p:spPr>
          <a:xfrm>
            <a:off x="749808" y="4681728"/>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5</a:t>
            </a:r>
            <a:endParaRPr lang="en-US" sz="1600" dirty="0"/>
          </a:p>
        </p:txBody>
      </p:sp>
      <p:sp>
        <p:nvSpPr>
          <p:cNvPr id="24" name="Text 22"/>
          <p:cNvSpPr/>
          <p:nvPr/>
        </p:nvSpPr>
        <p:spPr>
          <a:xfrm>
            <a:off x="1280160" y="4590288"/>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Rollup   </a:t>
            </a:r>
            <a:pPr indent="0" marL="0">
              <a:buNone/>
            </a:pPr>
            <a:r>
              <a:rPr lang="en-US" sz="1250" dirty="0">
                <a:solidFill>
                  <a:srgbClr val="64748B"/>
                </a:solidFill>
                <a:latin typeface="Segoe UI" pitchFamily="34" charset="0"/>
                <a:ea typeface="Segoe UI" pitchFamily="34" charset="-122"/>
                <a:cs typeface="Segoe UI" pitchFamily="34" charset="-120"/>
              </a:rPr>
              <a:t>parent state from its signals + children</a:t>
            </a:r>
            <a:endParaRPr lang="en-US" sz="1250" dirty="0"/>
          </a:p>
        </p:txBody>
      </p:sp>
      <p:sp>
        <p:nvSpPr>
          <p:cNvPr id="25" name="Shape 23"/>
          <p:cNvSpPr/>
          <p:nvPr/>
        </p:nvSpPr>
        <p:spPr>
          <a:xfrm>
            <a:off x="640080" y="5257800"/>
            <a:ext cx="6126480" cy="566928"/>
          </a:xfrm>
          <a:prstGeom prst="roundRect">
            <a:avLst>
              <a:gd name="adj" fmla="val 8065"/>
            </a:avLst>
          </a:prstGeom>
          <a:solidFill>
            <a:srgbClr val="FFFFFF"/>
          </a:solidFill>
          <a:ln w="12700">
            <a:solidFill>
              <a:srgbClr val="E2E8F0"/>
            </a:solidFill>
            <a:prstDash val="solid"/>
          </a:ln>
        </p:spPr>
      </p:sp>
      <p:sp>
        <p:nvSpPr>
          <p:cNvPr id="26" name="Shape 24"/>
          <p:cNvSpPr/>
          <p:nvPr/>
        </p:nvSpPr>
        <p:spPr>
          <a:xfrm>
            <a:off x="749808" y="5349240"/>
            <a:ext cx="384048" cy="384048"/>
          </a:xfrm>
          <a:prstGeom prst="ellipse">
            <a:avLst/>
          </a:prstGeom>
          <a:solidFill>
            <a:srgbClr val="F59E0B"/>
          </a:solidFill>
          <a:ln/>
        </p:spPr>
      </p:sp>
      <p:sp>
        <p:nvSpPr>
          <p:cNvPr id="27" name="Text 25"/>
          <p:cNvSpPr/>
          <p:nvPr/>
        </p:nvSpPr>
        <p:spPr>
          <a:xfrm>
            <a:off x="749808" y="534924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6</a:t>
            </a:r>
            <a:endParaRPr lang="en-US" sz="1600" dirty="0"/>
          </a:p>
        </p:txBody>
      </p:sp>
      <p:sp>
        <p:nvSpPr>
          <p:cNvPr id="28" name="Text 26"/>
          <p:cNvSpPr/>
          <p:nvPr/>
        </p:nvSpPr>
        <p:spPr>
          <a:xfrm>
            <a:off x="1280160" y="5257800"/>
            <a:ext cx="5349240" cy="566928"/>
          </a:xfrm>
          <a:prstGeom prst="rect">
            <a:avLst/>
          </a:prstGeom>
          <a:noFill/>
          <a:ln/>
        </p:spPr>
        <p:txBody>
          <a:bodyPr wrap="square" lIns="0" tIns="0" rIns="0" bIns="0" rtlCol="0" anchor="ctr"/>
          <a:lstStyle/>
          <a:p>
            <a:pPr indent="0" marL="0">
              <a:buNone/>
            </a:pPr>
            <a:r>
              <a:rPr lang="en-US" sz="1250" b="1" dirty="0">
                <a:solidFill>
                  <a:srgbClr val="0A2540"/>
                </a:solidFill>
                <a:latin typeface="Segoe UI Semibold" pitchFamily="34" charset="0"/>
                <a:ea typeface="Segoe UI Semibold" pitchFamily="34" charset="-122"/>
                <a:cs typeface="Segoe UI Semibold" pitchFamily="34" charset="-120"/>
              </a:rPr>
              <a:t>Alert   </a:t>
            </a:r>
            <a:pPr indent="0" marL="0">
              <a:buNone/>
            </a:pPr>
            <a:r>
              <a:rPr lang="en-US" sz="1250" dirty="0">
                <a:solidFill>
                  <a:srgbClr val="64748B"/>
                </a:solidFill>
                <a:latin typeface="Segoe UI" pitchFamily="34" charset="0"/>
                <a:ea typeface="Segoe UI" pitchFamily="34" charset="-122"/>
                <a:cs typeface="Segoe UI" pitchFamily="34" charset="-120"/>
              </a:rPr>
              <a:t>fire when an entity changes state</a:t>
            </a:r>
            <a:endParaRPr lang="en-US" sz="1250" dirty="0"/>
          </a:p>
        </p:txBody>
      </p:sp>
      <p:sp>
        <p:nvSpPr>
          <p:cNvPr id="29" name="Text 27"/>
          <p:cNvSpPr/>
          <p:nvPr/>
        </p:nvSpPr>
        <p:spPr>
          <a:xfrm>
            <a:off x="640080" y="5943600"/>
            <a:ext cx="6126480" cy="274320"/>
          </a:xfrm>
          <a:prstGeom prst="rect">
            <a:avLst/>
          </a:prstGeom>
          <a:noFill/>
          <a:ln/>
        </p:spPr>
        <p:txBody>
          <a:bodyPr wrap="square" lIns="0" tIns="0" rIns="0" bIns="0" rtlCol="0" anchor="ctr"/>
          <a:lstStyle/>
          <a:p>
            <a:pPr indent="0" marL="0">
              <a:buNone/>
            </a:pPr>
            <a:r>
              <a:rPr lang="en-US" sz="1100" i="1" dirty="0">
                <a:solidFill>
                  <a:srgbClr val="64748B"/>
                </a:solidFill>
                <a:latin typeface="Segoe UI" pitchFamily="34" charset="0"/>
                <a:ea typeface="Segoe UI" pitchFamily="34" charset="-122"/>
                <a:cs typeface="Segoe UI" pitchFamily="34" charset="-120"/>
              </a:rPr>
              <a:t>Each layer builds on the one before it.</a:t>
            </a:r>
            <a:endParaRPr lang="en-US" sz="1100" dirty="0"/>
          </a:p>
        </p:txBody>
      </p:sp>
      <p:sp>
        <p:nvSpPr>
          <p:cNvPr id="30" name="Shape 28"/>
          <p:cNvSpPr/>
          <p:nvPr/>
        </p:nvSpPr>
        <p:spPr>
          <a:xfrm>
            <a:off x="7315200" y="1920240"/>
            <a:ext cx="4233672" cy="3977640"/>
          </a:xfrm>
          <a:prstGeom prst="rect">
            <a:avLst/>
          </a:prstGeom>
          <a:solidFill>
            <a:srgbClr val="0A2540"/>
          </a:solidFill>
          <a:ln/>
          <a:effectLst>
            <a:outerShdw sx="100000" sy="100000" kx="0" ky="0" algn="bl" rotWithShape="0" blurRad="114300" dist="38100" dir="5400000">
              <a:srgbClr val="0A2540">
                <a:alpha val="16000"/>
              </a:srgbClr>
            </a:outerShdw>
          </a:effectLst>
        </p:spPr>
      </p:sp>
      <p:sp>
        <p:nvSpPr>
          <p:cNvPr id="31" name="Text 29"/>
          <p:cNvSpPr/>
          <p:nvPr/>
        </p:nvSpPr>
        <p:spPr>
          <a:xfrm>
            <a:off x="7635240" y="2176272"/>
            <a:ext cx="3593592" cy="320040"/>
          </a:xfrm>
          <a:prstGeom prst="rect">
            <a:avLst/>
          </a:prstGeom>
          <a:noFill/>
          <a:ln/>
        </p:spPr>
        <p:txBody>
          <a:bodyPr wrap="square" lIns="0" tIns="0" rIns="0" bIns="0" rtlCol="0" anchor="ctr"/>
          <a:lstStyle/>
          <a:p>
            <a:pPr indent="0" marL="0">
              <a:buNone/>
            </a:pPr>
            <a:r>
              <a:rPr lang="en-US" sz="1300" b="1" spc="100" kern="0" dirty="0">
                <a:solidFill>
                  <a:srgbClr val="2DD4BF"/>
                </a:solidFill>
                <a:latin typeface="Segoe UI Semibold" pitchFamily="34" charset="0"/>
                <a:ea typeface="Segoe UI Semibold" pitchFamily="34" charset="-122"/>
                <a:cs typeface="Segoe UI Semibold" pitchFamily="34" charset="-120"/>
              </a:rPr>
              <a:t>FOUR HEALTH STATES</a:t>
            </a:r>
            <a:endParaRPr lang="en-US" sz="1300" dirty="0"/>
          </a:p>
        </p:txBody>
      </p:sp>
      <p:sp>
        <p:nvSpPr>
          <p:cNvPr id="32" name="Shape 30"/>
          <p:cNvSpPr/>
          <p:nvPr/>
        </p:nvSpPr>
        <p:spPr>
          <a:xfrm>
            <a:off x="7680960" y="2770632"/>
            <a:ext cx="237744" cy="237744"/>
          </a:xfrm>
          <a:prstGeom prst="ellipse">
            <a:avLst/>
          </a:prstGeom>
          <a:solidFill>
            <a:srgbClr val="3FB984"/>
          </a:solidFill>
          <a:ln/>
        </p:spPr>
      </p:sp>
      <p:sp>
        <p:nvSpPr>
          <p:cNvPr id="33" name="Text 31"/>
          <p:cNvSpPr/>
          <p:nvPr/>
        </p:nvSpPr>
        <p:spPr>
          <a:xfrm>
            <a:off x="8092440" y="2670048"/>
            <a:ext cx="3227832"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Healthy</a:t>
            </a:r>
            <a:endParaRPr lang="en-US" sz="1500" dirty="0"/>
          </a:p>
        </p:txBody>
      </p:sp>
      <p:sp>
        <p:nvSpPr>
          <p:cNvPr id="34" name="Text 32"/>
          <p:cNvSpPr/>
          <p:nvPr/>
        </p:nvSpPr>
        <p:spPr>
          <a:xfrm>
            <a:off x="8092440" y="2971800"/>
            <a:ext cx="3227832" cy="274320"/>
          </a:xfrm>
          <a:prstGeom prst="rect">
            <a:avLst/>
          </a:prstGeom>
          <a:noFill/>
          <a:ln/>
        </p:spPr>
        <p:txBody>
          <a:bodyPr wrap="square" lIns="0" tIns="0" rIns="0" bIns="0" rtlCol="0" anchor="ctr"/>
          <a:lstStyle/>
          <a:p>
            <a:pPr indent="0" marL="0">
              <a:buNone/>
            </a:pPr>
            <a:r>
              <a:rPr lang="en-US" sz="1150" dirty="0">
                <a:solidFill>
                  <a:srgbClr val="C7D6E5"/>
                </a:solidFill>
                <a:latin typeface="Segoe UI" pitchFamily="34" charset="0"/>
                <a:ea typeface="Segoe UI" pitchFamily="34" charset="-122"/>
                <a:cs typeface="Segoe UI" pitchFamily="34" charset="-120"/>
              </a:rPr>
              <a:t>all signals within thresholds</a:t>
            </a:r>
            <a:endParaRPr lang="en-US" sz="1150" dirty="0"/>
          </a:p>
        </p:txBody>
      </p:sp>
      <p:sp>
        <p:nvSpPr>
          <p:cNvPr id="35" name="Shape 33"/>
          <p:cNvSpPr/>
          <p:nvPr/>
        </p:nvSpPr>
        <p:spPr>
          <a:xfrm>
            <a:off x="7680960" y="3520440"/>
            <a:ext cx="237744" cy="237744"/>
          </a:xfrm>
          <a:prstGeom prst="ellipse">
            <a:avLst/>
          </a:prstGeom>
          <a:solidFill>
            <a:srgbClr val="F59E0B"/>
          </a:solidFill>
          <a:ln/>
        </p:spPr>
      </p:sp>
      <p:sp>
        <p:nvSpPr>
          <p:cNvPr id="36" name="Text 34"/>
          <p:cNvSpPr/>
          <p:nvPr/>
        </p:nvSpPr>
        <p:spPr>
          <a:xfrm>
            <a:off x="8092440" y="3419856"/>
            <a:ext cx="3227832"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Degraded</a:t>
            </a:r>
            <a:endParaRPr lang="en-US" sz="1500" dirty="0"/>
          </a:p>
        </p:txBody>
      </p:sp>
      <p:sp>
        <p:nvSpPr>
          <p:cNvPr id="37" name="Text 35"/>
          <p:cNvSpPr/>
          <p:nvPr/>
        </p:nvSpPr>
        <p:spPr>
          <a:xfrm>
            <a:off x="8092440" y="3721608"/>
            <a:ext cx="3227832" cy="274320"/>
          </a:xfrm>
          <a:prstGeom prst="rect">
            <a:avLst/>
          </a:prstGeom>
          <a:noFill/>
          <a:ln/>
        </p:spPr>
        <p:txBody>
          <a:bodyPr wrap="square" lIns="0" tIns="0" rIns="0" bIns="0" rtlCol="0" anchor="ctr"/>
          <a:lstStyle/>
          <a:p>
            <a:pPr indent="0" marL="0">
              <a:buNone/>
            </a:pPr>
            <a:r>
              <a:rPr lang="en-US" sz="1150" dirty="0">
                <a:solidFill>
                  <a:srgbClr val="C7D6E5"/>
                </a:solidFill>
                <a:latin typeface="Segoe UI" pitchFamily="34" charset="0"/>
                <a:ea typeface="Segoe UI" pitchFamily="34" charset="-122"/>
                <a:cs typeface="Segoe UI" pitchFamily="34" charset="-120"/>
              </a:rPr>
              <a:t>past the degraded threshold</a:t>
            </a:r>
            <a:endParaRPr lang="en-US" sz="1150" dirty="0"/>
          </a:p>
        </p:txBody>
      </p:sp>
      <p:sp>
        <p:nvSpPr>
          <p:cNvPr id="38" name="Shape 36"/>
          <p:cNvSpPr/>
          <p:nvPr/>
        </p:nvSpPr>
        <p:spPr>
          <a:xfrm>
            <a:off x="7680960" y="4270248"/>
            <a:ext cx="237744" cy="237744"/>
          </a:xfrm>
          <a:prstGeom prst="ellipse">
            <a:avLst/>
          </a:prstGeom>
          <a:solidFill>
            <a:srgbClr val="E1495B"/>
          </a:solidFill>
          <a:ln/>
        </p:spPr>
      </p:sp>
      <p:sp>
        <p:nvSpPr>
          <p:cNvPr id="39" name="Text 37"/>
          <p:cNvSpPr/>
          <p:nvPr/>
        </p:nvSpPr>
        <p:spPr>
          <a:xfrm>
            <a:off x="8092440" y="4169664"/>
            <a:ext cx="3227832"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Unhealthy</a:t>
            </a:r>
            <a:endParaRPr lang="en-US" sz="1500" dirty="0"/>
          </a:p>
        </p:txBody>
      </p:sp>
      <p:sp>
        <p:nvSpPr>
          <p:cNvPr id="40" name="Text 38"/>
          <p:cNvSpPr/>
          <p:nvPr/>
        </p:nvSpPr>
        <p:spPr>
          <a:xfrm>
            <a:off x="8092440" y="4471416"/>
            <a:ext cx="3227832" cy="274320"/>
          </a:xfrm>
          <a:prstGeom prst="rect">
            <a:avLst/>
          </a:prstGeom>
          <a:noFill/>
          <a:ln/>
        </p:spPr>
        <p:txBody>
          <a:bodyPr wrap="square" lIns="0" tIns="0" rIns="0" bIns="0" rtlCol="0" anchor="ctr"/>
          <a:lstStyle/>
          <a:p>
            <a:pPr indent="0" marL="0">
              <a:buNone/>
            </a:pPr>
            <a:r>
              <a:rPr lang="en-US" sz="1150" dirty="0">
                <a:solidFill>
                  <a:srgbClr val="C7D6E5"/>
                </a:solidFill>
                <a:latin typeface="Segoe UI" pitchFamily="34" charset="0"/>
                <a:ea typeface="Segoe UI" pitchFamily="34" charset="-122"/>
                <a:cs typeface="Segoe UI" pitchFamily="34" charset="-120"/>
              </a:rPr>
              <a:t>past the unhealthy threshold</a:t>
            </a:r>
            <a:endParaRPr lang="en-US" sz="1150" dirty="0"/>
          </a:p>
        </p:txBody>
      </p:sp>
      <p:sp>
        <p:nvSpPr>
          <p:cNvPr id="41" name="Shape 39"/>
          <p:cNvSpPr/>
          <p:nvPr/>
        </p:nvSpPr>
        <p:spPr>
          <a:xfrm>
            <a:off x="7680960" y="5020056"/>
            <a:ext cx="237744" cy="237744"/>
          </a:xfrm>
          <a:prstGeom prst="ellipse">
            <a:avLst/>
          </a:prstGeom>
          <a:solidFill>
            <a:srgbClr val="94A3B8"/>
          </a:solidFill>
          <a:ln/>
        </p:spPr>
      </p:sp>
      <p:sp>
        <p:nvSpPr>
          <p:cNvPr id="42" name="Text 40"/>
          <p:cNvSpPr/>
          <p:nvPr/>
        </p:nvSpPr>
        <p:spPr>
          <a:xfrm>
            <a:off x="8092440" y="4919472"/>
            <a:ext cx="3227832"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Unknown</a:t>
            </a:r>
            <a:endParaRPr lang="en-US" sz="1500" dirty="0"/>
          </a:p>
        </p:txBody>
      </p:sp>
      <p:sp>
        <p:nvSpPr>
          <p:cNvPr id="43" name="Text 41"/>
          <p:cNvSpPr/>
          <p:nvPr/>
        </p:nvSpPr>
        <p:spPr>
          <a:xfrm>
            <a:off x="8092440" y="5221224"/>
            <a:ext cx="3227832" cy="274320"/>
          </a:xfrm>
          <a:prstGeom prst="rect">
            <a:avLst/>
          </a:prstGeom>
          <a:noFill/>
          <a:ln/>
        </p:spPr>
        <p:txBody>
          <a:bodyPr wrap="square" lIns="0" tIns="0" rIns="0" bIns="0" rtlCol="0" anchor="ctr"/>
          <a:lstStyle/>
          <a:p>
            <a:pPr indent="0" marL="0">
              <a:buNone/>
            </a:pPr>
            <a:r>
              <a:rPr lang="en-US" sz="1150" dirty="0">
                <a:solidFill>
                  <a:srgbClr val="C7D6E5"/>
                </a:solidFill>
                <a:latin typeface="Segoe UI" pitchFamily="34" charset="0"/>
                <a:ea typeface="Segoe UI" pitchFamily="34" charset="-122"/>
                <a:cs typeface="Segoe UI" pitchFamily="34" charset="-120"/>
              </a:rPr>
              <a:t>no data (for example no traffic)</a:t>
            </a:r>
            <a:endParaRPr lang="en-US" sz="1150" dirty="0"/>
          </a:p>
        </p:txBody>
      </p:sp>
      <p:sp>
        <p:nvSpPr>
          <p:cNvPr id="45" name="Text 42"/>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46" name="Text 43"/>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3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The scenario: a model for Checkout &amp; Login</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The same online store from Part 1, now represented as a health model built by discovery and driven by your existing SLIs.</a:t>
            </a:r>
            <a:endParaRPr lang="en-US" sz="1500" dirty="0"/>
          </a:p>
        </p:txBody>
      </p:sp>
      <p:sp>
        <p:nvSpPr>
          <p:cNvPr id="6" name="Shape 4"/>
          <p:cNvSpPr/>
          <p:nvPr/>
        </p:nvSpPr>
        <p:spPr>
          <a:xfrm>
            <a:off x="640080" y="2286000"/>
            <a:ext cx="3392424" cy="260604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7" name="Shape 5"/>
          <p:cNvSpPr/>
          <p:nvPr/>
        </p:nvSpPr>
        <p:spPr>
          <a:xfrm>
            <a:off x="640080" y="2286000"/>
            <a:ext cx="109728" cy="2606040"/>
          </a:xfrm>
          <a:prstGeom prst="rect">
            <a:avLst/>
          </a:prstGeom>
          <a:solidFill>
            <a:srgbClr val="2DD4BF"/>
          </a:solidFill>
          <a:ln/>
        </p:spPr>
      </p:sp>
      <p:sp>
        <p:nvSpPr>
          <p:cNvPr id="8" name="Text 6"/>
          <p:cNvSpPr/>
          <p:nvPr/>
        </p:nvSpPr>
        <p:spPr>
          <a:xfrm>
            <a:off x="960120"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Discover entities</a:t>
            </a:r>
            <a:endParaRPr lang="en-US" sz="1700" dirty="0"/>
          </a:p>
        </p:txBody>
      </p:sp>
      <p:sp>
        <p:nvSpPr>
          <p:cNvPr id="9" name="Text 7"/>
          <p:cNvSpPr/>
          <p:nvPr/>
        </p:nvSpPr>
        <p:spPr>
          <a:xfrm>
            <a:off x="960120" y="2999232"/>
            <a:ext cx="2843784" cy="32004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APP INSIGHTS TOPOLOGY</a:t>
            </a:r>
            <a:endParaRPr lang="en-US" sz="1050" dirty="0"/>
          </a:p>
        </p:txBody>
      </p:sp>
      <p:sp>
        <p:nvSpPr>
          <p:cNvPr id="10" name="Text 8"/>
          <p:cNvSpPr/>
          <p:nvPr/>
        </p:nvSpPr>
        <p:spPr>
          <a:xfrm>
            <a:off x="960120" y="3383280"/>
            <a:ext cx="2798064" cy="1325880"/>
          </a:xfrm>
          <a:prstGeom prst="rect">
            <a:avLst/>
          </a:prstGeom>
          <a:noFill/>
          <a:ln/>
        </p:spPr>
        <p:txBody>
          <a:bodyPr wrap="square" lIns="0" tIns="0" rIns="0" bIns="0" rtlCol="0" anchor="t"/>
          <a:lstStyle/>
          <a:p>
            <a:pPr indent="0" marL="0">
              <a:lnSpc>
                <a:spcPct val="112000"/>
              </a:lnSpc>
              <a:buNone/>
            </a:pPr>
            <a:r>
              <a:rPr lang="en-US" sz="1250" dirty="0">
                <a:solidFill>
                  <a:srgbClr val="1E293B"/>
                </a:solidFill>
                <a:latin typeface="Segoe UI" pitchFamily="34" charset="0"/>
                <a:ea typeface="Segoe UI" pitchFamily="34" charset="-122"/>
                <a:cs typeface="Segoe UI" pitchFamily="34" charset="-120"/>
              </a:rPr>
              <a:t>Import Login (frontend) and Checkout (backend) as entities, with dependency edges and recommended signals.</a:t>
            </a:r>
            <a:endParaRPr lang="en-US" sz="1250" dirty="0"/>
          </a:p>
        </p:txBody>
      </p:sp>
      <p:sp>
        <p:nvSpPr>
          <p:cNvPr id="11" name="Shape 9"/>
          <p:cNvSpPr/>
          <p:nvPr/>
        </p:nvSpPr>
        <p:spPr>
          <a:xfrm>
            <a:off x="4398264" y="2286000"/>
            <a:ext cx="3392424" cy="260604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2" name="Shape 10"/>
          <p:cNvSpPr/>
          <p:nvPr/>
        </p:nvSpPr>
        <p:spPr>
          <a:xfrm>
            <a:off x="4398264" y="2286000"/>
            <a:ext cx="109728" cy="2606040"/>
          </a:xfrm>
          <a:prstGeom prst="rect">
            <a:avLst/>
          </a:prstGeom>
          <a:solidFill>
            <a:srgbClr val="2DD4BF"/>
          </a:solidFill>
          <a:ln/>
        </p:spPr>
      </p:sp>
      <p:sp>
        <p:nvSpPr>
          <p:cNvPr id="13" name="Text 11"/>
          <p:cNvSpPr/>
          <p:nvPr/>
        </p:nvSpPr>
        <p:spPr>
          <a:xfrm>
            <a:off x="4718304"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Tap your SLIs</a:t>
            </a:r>
            <a:endParaRPr lang="en-US" sz="1700" dirty="0"/>
          </a:p>
        </p:txBody>
      </p:sp>
      <p:sp>
        <p:nvSpPr>
          <p:cNvPr id="14" name="Text 12"/>
          <p:cNvSpPr/>
          <p:nvPr/>
        </p:nvSpPr>
        <p:spPr>
          <a:xfrm>
            <a:off x="4718304" y="2999232"/>
            <a:ext cx="2843784" cy="32004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AZURE MONITOR WORKSPACE</a:t>
            </a:r>
            <a:endParaRPr lang="en-US" sz="1050" dirty="0"/>
          </a:p>
        </p:txBody>
      </p:sp>
      <p:sp>
        <p:nvSpPr>
          <p:cNvPr id="15" name="Text 13"/>
          <p:cNvSpPr/>
          <p:nvPr/>
        </p:nvSpPr>
        <p:spPr>
          <a:xfrm>
            <a:off x="4718304" y="3383280"/>
            <a:ext cx="2798064" cy="1325880"/>
          </a:xfrm>
          <a:prstGeom prst="rect">
            <a:avLst/>
          </a:prstGeom>
          <a:noFill/>
          <a:ln/>
        </p:spPr>
        <p:txBody>
          <a:bodyPr wrap="square" lIns="0" tIns="0" rIns="0" bIns="0" rtlCol="0" anchor="t"/>
          <a:lstStyle/>
          <a:p>
            <a:pPr indent="0" marL="0">
              <a:lnSpc>
                <a:spcPct val="112000"/>
              </a:lnSpc>
              <a:buNone/>
            </a:pPr>
            <a:r>
              <a:rPr lang="en-US" sz="1250" dirty="0">
                <a:solidFill>
                  <a:srgbClr val="1E293B"/>
                </a:solidFill>
                <a:latin typeface="Segoe UI" pitchFamily="34" charset="0"/>
                <a:ea typeface="Segoe UI" pitchFamily="34" charset="-122"/>
                <a:cs typeface="Segoe UI" pitchFamily="34" charset="-120"/>
              </a:rPr>
              <a:t>PromQL signals read the same AMW: Checkout availability % and Login p95 latency.</a:t>
            </a:r>
            <a:endParaRPr lang="en-US" sz="1250" dirty="0"/>
          </a:p>
        </p:txBody>
      </p:sp>
      <p:sp>
        <p:nvSpPr>
          <p:cNvPr id="16" name="Shape 14"/>
          <p:cNvSpPr/>
          <p:nvPr/>
        </p:nvSpPr>
        <p:spPr>
          <a:xfrm>
            <a:off x="8156448" y="2286000"/>
            <a:ext cx="3392424" cy="260604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7" name="Shape 15"/>
          <p:cNvSpPr/>
          <p:nvPr/>
        </p:nvSpPr>
        <p:spPr>
          <a:xfrm>
            <a:off x="8156448" y="2286000"/>
            <a:ext cx="109728" cy="2606040"/>
          </a:xfrm>
          <a:prstGeom prst="rect">
            <a:avLst/>
          </a:prstGeom>
          <a:solidFill>
            <a:srgbClr val="2DD4BF"/>
          </a:solidFill>
          <a:ln/>
        </p:spPr>
      </p:sp>
      <p:sp>
        <p:nvSpPr>
          <p:cNvPr id="18" name="Text 16"/>
          <p:cNvSpPr/>
          <p:nvPr/>
        </p:nvSpPr>
        <p:spPr>
          <a:xfrm>
            <a:off x="8476488"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Roll up &amp; alert</a:t>
            </a:r>
            <a:endParaRPr lang="en-US" sz="1700" dirty="0"/>
          </a:p>
        </p:txBody>
      </p:sp>
      <p:sp>
        <p:nvSpPr>
          <p:cNvPr id="19" name="Text 17"/>
          <p:cNvSpPr/>
          <p:nvPr/>
        </p:nvSpPr>
        <p:spPr>
          <a:xfrm>
            <a:off x="8476488" y="2999232"/>
            <a:ext cx="2843784" cy="32004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STATE-BASED</a:t>
            </a:r>
            <a:endParaRPr lang="en-US" sz="1050" dirty="0"/>
          </a:p>
        </p:txBody>
      </p:sp>
      <p:sp>
        <p:nvSpPr>
          <p:cNvPr id="20" name="Text 18"/>
          <p:cNvSpPr/>
          <p:nvPr/>
        </p:nvSpPr>
        <p:spPr>
          <a:xfrm>
            <a:off x="8476488" y="3383280"/>
            <a:ext cx="2798064" cy="1325880"/>
          </a:xfrm>
          <a:prstGeom prst="rect">
            <a:avLst/>
          </a:prstGeom>
          <a:noFill/>
          <a:ln/>
        </p:spPr>
        <p:txBody>
          <a:bodyPr wrap="square" lIns="0" tIns="0" rIns="0" bIns="0" rtlCol="0" anchor="t"/>
          <a:lstStyle/>
          <a:p>
            <a:pPr indent="0" marL="0">
              <a:lnSpc>
                <a:spcPct val="112000"/>
              </a:lnSpc>
              <a:buNone/>
            </a:pPr>
            <a:r>
              <a:rPr lang="en-US" sz="1250" dirty="0">
                <a:solidFill>
                  <a:srgbClr val="1E293B"/>
                </a:solidFill>
                <a:latin typeface="Segoe UI" pitchFamily="34" charset="0"/>
                <a:ea typeface="Segoe UI" pitchFamily="34" charset="-122"/>
                <a:cs typeface="Segoe UI" pitchFamily="34" charset="-120"/>
              </a:rPr>
              <a:t>Combine signals into one health state; alert on Degraded (Sev2) and Unhealthy (Sev1).</a:t>
            </a:r>
            <a:endParaRPr lang="en-US" sz="1250" dirty="0"/>
          </a:p>
        </p:txBody>
      </p:sp>
      <p:sp>
        <p:nvSpPr>
          <p:cNvPr id="21" name="Shape 19"/>
          <p:cNvSpPr/>
          <p:nvPr/>
        </p:nvSpPr>
        <p:spPr>
          <a:xfrm>
            <a:off x="640080" y="5212080"/>
            <a:ext cx="10908792" cy="713232"/>
          </a:xfrm>
          <a:prstGeom prst="roundRect">
            <a:avLst>
              <a:gd name="adj" fmla="val 10256"/>
            </a:avLst>
          </a:prstGeom>
          <a:solidFill>
            <a:srgbClr val="0A2540"/>
          </a:solidFill>
          <a:ln/>
        </p:spPr>
      </p:sp>
      <p:sp>
        <p:nvSpPr>
          <p:cNvPr id="22" name="Text 20"/>
          <p:cNvSpPr/>
          <p:nvPr/>
        </p:nvSpPr>
        <p:spPr>
          <a:xfrm>
            <a:off x="1005840" y="5212080"/>
            <a:ext cx="10177272" cy="713232"/>
          </a:xfrm>
          <a:prstGeom prst="rect">
            <a:avLst/>
          </a:prstGeom>
          <a:noFill/>
          <a:ln/>
        </p:spPr>
        <p:txBody>
          <a:bodyPr wrap="square" lIns="0" tIns="0" rIns="0" bIns="0" rtlCol="0" anchor="ctr"/>
          <a:lstStyle/>
          <a:p>
            <a:pPr indent="0" marL="0">
              <a:buNone/>
            </a:pPr>
            <a:r>
              <a:rPr lang="en-US" sz="1350" b="1" dirty="0">
                <a:solidFill>
                  <a:srgbClr val="2DD4BF"/>
                </a:solidFill>
                <a:latin typeface="Segoe UI Semibold" pitchFamily="34" charset="0"/>
                <a:ea typeface="Segoe UI Semibold" pitchFamily="34" charset="-122"/>
                <a:cs typeface="Segoe UI Semibold" pitchFamily="34" charset="-120"/>
              </a:rPr>
              <a:t>Consumes your SLIs  </a:t>
            </a:r>
            <a:pPr indent="0" marL="0">
              <a:buNone/>
            </a:pPr>
            <a:r>
              <a:rPr lang="en-US" sz="1350" dirty="0">
                <a:solidFill>
                  <a:srgbClr val="E5EEF6"/>
                </a:solidFill>
                <a:latin typeface="Segoe UI" pitchFamily="34" charset="0"/>
                <a:ea typeface="Segoe UI" pitchFamily="34" charset="-122"/>
                <a:cs typeface="Segoe UI" pitchFamily="34" charset="-120"/>
              </a:rPr>
              <a:t>the model taps the same Azure Monitor Workspace, so health and reliability agree on the same numbers.</a:t>
            </a:r>
            <a:endParaRPr lang="en-US" sz="1350" dirty="0"/>
          </a:p>
        </p:txBody>
      </p:sp>
      <p:sp>
        <p:nvSpPr>
          <p:cNvPr id="24" name="Text 21"/>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25" name="Text 22"/>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CONTENTS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What is in the hands-on lab</a:t>
            </a:r>
            <a:endParaRPr lang="en-US" sz="3000" dirty="0"/>
          </a:p>
        </p:txBody>
      </p:sp>
      <p:sp>
        <p:nvSpPr>
          <p:cNvPr id="5" name="Shape 3"/>
          <p:cNvSpPr/>
          <p:nvPr/>
        </p:nvSpPr>
        <p:spPr>
          <a:xfrm>
            <a:off x="640080" y="1828800"/>
            <a:ext cx="384048" cy="384048"/>
          </a:xfrm>
          <a:prstGeom prst="ellipse">
            <a:avLst/>
          </a:prstGeom>
          <a:solidFill>
            <a:srgbClr val="2DD4BF"/>
          </a:solidFill>
          <a:ln/>
        </p:spPr>
      </p:sp>
      <p:sp>
        <p:nvSpPr>
          <p:cNvPr id="6" name="Text 4"/>
          <p:cNvSpPr/>
          <p:nvPr/>
        </p:nvSpPr>
        <p:spPr>
          <a:xfrm>
            <a:off x="640080" y="182880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7" name="Text 5"/>
          <p:cNvSpPr/>
          <p:nvPr/>
        </p:nvSpPr>
        <p:spPr>
          <a:xfrm>
            <a:off x="1188720" y="179222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Health model + identity</a:t>
            </a:r>
            <a:endParaRPr lang="en-US" sz="1450" dirty="0"/>
          </a:p>
        </p:txBody>
      </p:sp>
      <p:sp>
        <p:nvSpPr>
          <p:cNvPr id="8" name="Text 6"/>
          <p:cNvSpPr/>
          <p:nvPr/>
        </p:nvSpPr>
        <p:spPr>
          <a:xfrm>
            <a:off x="1188720" y="2121408"/>
            <a:ext cx="3749040" cy="68580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A Microsoft.CloudHealth model in its own RG, with a system-assigned managed identity and Monitoring Reader on the app.</a:t>
            </a:r>
            <a:endParaRPr lang="en-US" sz="1150" dirty="0"/>
          </a:p>
        </p:txBody>
      </p:sp>
      <p:sp>
        <p:nvSpPr>
          <p:cNvPr id="9" name="Shape 7"/>
          <p:cNvSpPr/>
          <p:nvPr/>
        </p:nvSpPr>
        <p:spPr>
          <a:xfrm>
            <a:off x="640080" y="2880360"/>
            <a:ext cx="384048" cy="384048"/>
          </a:xfrm>
          <a:prstGeom prst="ellipse">
            <a:avLst/>
          </a:prstGeom>
          <a:solidFill>
            <a:srgbClr val="2DD4BF"/>
          </a:solidFill>
          <a:ln/>
        </p:spPr>
      </p:sp>
      <p:sp>
        <p:nvSpPr>
          <p:cNvPr id="10" name="Text 8"/>
          <p:cNvSpPr/>
          <p:nvPr/>
        </p:nvSpPr>
        <p:spPr>
          <a:xfrm>
            <a:off x="640080" y="288036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1188720" y="284378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App Insights discovery</a:t>
            </a:r>
            <a:endParaRPr lang="en-US" sz="1450" dirty="0"/>
          </a:p>
        </p:txBody>
      </p:sp>
      <p:sp>
        <p:nvSpPr>
          <p:cNvPr id="12" name="Text 10"/>
          <p:cNvSpPr/>
          <p:nvPr/>
        </p:nvSpPr>
        <p:spPr>
          <a:xfrm>
            <a:off x="1188720" y="3172968"/>
            <a:ext cx="3749040" cy="68580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Topology discovery imports the Login and Checkout components as entities with relationships.</a:t>
            </a:r>
            <a:endParaRPr lang="en-US" sz="1150" dirty="0"/>
          </a:p>
        </p:txBody>
      </p:sp>
      <p:sp>
        <p:nvSpPr>
          <p:cNvPr id="13" name="Shape 11"/>
          <p:cNvSpPr/>
          <p:nvPr/>
        </p:nvSpPr>
        <p:spPr>
          <a:xfrm>
            <a:off x="640080" y="3931920"/>
            <a:ext cx="384048" cy="384048"/>
          </a:xfrm>
          <a:prstGeom prst="ellipse">
            <a:avLst/>
          </a:prstGeom>
          <a:solidFill>
            <a:srgbClr val="2DD4BF"/>
          </a:solidFill>
          <a:ln/>
        </p:spPr>
      </p:sp>
      <p:sp>
        <p:nvSpPr>
          <p:cNvPr id="14" name="Text 12"/>
          <p:cNvSpPr/>
          <p:nvPr/>
        </p:nvSpPr>
        <p:spPr>
          <a:xfrm>
            <a:off x="640080" y="393192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5" name="Text 13"/>
          <p:cNvSpPr/>
          <p:nvPr/>
        </p:nvSpPr>
        <p:spPr>
          <a:xfrm>
            <a:off x="1188720" y="389534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SLI-driven signals</a:t>
            </a:r>
            <a:endParaRPr lang="en-US" sz="1450" dirty="0"/>
          </a:p>
        </p:txBody>
      </p:sp>
      <p:sp>
        <p:nvSpPr>
          <p:cNvPr id="16" name="Text 14"/>
          <p:cNvSpPr/>
          <p:nvPr/>
        </p:nvSpPr>
        <p:spPr>
          <a:xfrm>
            <a:off x="1188720" y="4224528"/>
            <a:ext cx="3749040" cy="68580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AMW PromQL signals map each SLI value onto the right App Service entity.</a:t>
            </a:r>
            <a:endParaRPr lang="en-US" sz="1150" dirty="0"/>
          </a:p>
        </p:txBody>
      </p:sp>
      <p:sp>
        <p:nvSpPr>
          <p:cNvPr id="17" name="Shape 15"/>
          <p:cNvSpPr/>
          <p:nvPr/>
        </p:nvSpPr>
        <p:spPr>
          <a:xfrm>
            <a:off x="640080" y="4983480"/>
            <a:ext cx="384048" cy="384048"/>
          </a:xfrm>
          <a:prstGeom prst="ellipse">
            <a:avLst/>
          </a:prstGeom>
          <a:solidFill>
            <a:srgbClr val="2DD4BF"/>
          </a:solidFill>
          <a:ln/>
        </p:spPr>
      </p:sp>
      <p:sp>
        <p:nvSpPr>
          <p:cNvPr id="18" name="Text 16"/>
          <p:cNvSpPr/>
          <p:nvPr/>
        </p:nvSpPr>
        <p:spPr>
          <a:xfrm>
            <a:off x="640080" y="498348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19" name="Text 17"/>
          <p:cNvSpPr/>
          <p:nvPr/>
        </p:nvSpPr>
        <p:spPr>
          <a:xfrm>
            <a:off x="1188720" y="494690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State-based alerts</a:t>
            </a:r>
            <a:endParaRPr lang="en-US" sz="1450" dirty="0"/>
          </a:p>
        </p:txBody>
      </p:sp>
      <p:sp>
        <p:nvSpPr>
          <p:cNvPr id="20" name="Text 18"/>
          <p:cNvSpPr/>
          <p:nvPr/>
        </p:nvSpPr>
        <p:spPr>
          <a:xfrm>
            <a:off x="1188720" y="5276088"/>
            <a:ext cx="3749040" cy="68580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Degraded (Sev2) and Unhealthy (Sev1) health-state alerts on the app entities.</a:t>
            </a:r>
            <a:endParaRPr lang="en-US" sz="1150" dirty="0"/>
          </a:p>
        </p:txBody>
      </p:sp>
      <p:sp>
        <p:nvSpPr>
          <p:cNvPr id="21" name="Shape 19"/>
          <p:cNvSpPr/>
          <p:nvPr/>
        </p:nvSpPr>
        <p:spPr>
          <a:xfrm>
            <a:off x="5486400" y="1828800"/>
            <a:ext cx="6062472" cy="4343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2" name="Text 20"/>
          <p:cNvSpPr/>
          <p:nvPr/>
        </p:nvSpPr>
        <p:spPr>
          <a:xfrm>
            <a:off x="5806440" y="2084832"/>
            <a:ext cx="5422392" cy="320040"/>
          </a:xfrm>
          <a:prstGeom prst="rect">
            <a:avLst/>
          </a:prstGeom>
          <a:noFill/>
          <a:ln/>
        </p:spPr>
        <p:txBody>
          <a:bodyPr wrap="square" lIns="0" tIns="0" rIns="0" bIns="0" rtlCol="0" anchor="ctr"/>
          <a:lstStyle/>
          <a:p>
            <a:pPr indent="0" marL="0">
              <a:buNone/>
            </a:pPr>
            <a:r>
              <a:rPr lang="en-US" sz="1200" b="1" spc="100" kern="0" dirty="0">
                <a:solidFill>
                  <a:srgbClr val="0D9488"/>
                </a:solidFill>
                <a:latin typeface="Segoe UI Semibold" pitchFamily="34" charset="0"/>
                <a:ea typeface="Segoe UI Semibold" pitchFamily="34" charset="-122"/>
                <a:cs typeface="Segoe UI Semibold" pitchFamily="34" charset="-120"/>
              </a:rPr>
              <a:t>HOW THE MODEL COMES TOGETHER</a:t>
            </a:r>
            <a:endParaRPr lang="en-US" sz="1200" dirty="0"/>
          </a:p>
        </p:txBody>
      </p:sp>
      <p:sp>
        <p:nvSpPr>
          <p:cNvPr id="23" name="Shape 21"/>
          <p:cNvSpPr/>
          <p:nvPr/>
        </p:nvSpPr>
        <p:spPr>
          <a:xfrm>
            <a:off x="5852160" y="2560320"/>
            <a:ext cx="5330952" cy="530352"/>
          </a:xfrm>
          <a:prstGeom prst="roundRect">
            <a:avLst>
              <a:gd name="adj" fmla="val 10345"/>
            </a:avLst>
          </a:prstGeom>
          <a:solidFill>
            <a:srgbClr val="F4F7FB"/>
          </a:solidFill>
          <a:ln w="12700">
            <a:solidFill>
              <a:srgbClr val="E2E8F0"/>
            </a:solidFill>
            <a:prstDash val="solid"/>
          </a:ln>
        </p:spPr>
      </p:sp>
      <p:sp>
        <p:nvSpPr>
          <p:cNvPr id="24" name="Text 22"/>
          <p:cNvSpPr/>
          <p:nvPr/>
        </p:nvSpPr>
        <p:spPr>
          <a:xfrm>
            <a:off x="6080760" y="2560320"/>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App Insights topology   </a:t>
            </a:r>
            <a:pPr indent="0" marL="0">
              <a:buNone/>
            </a:pPr>
            <a:r>
              <a:rPr lang="en-US" sz="1200" dirty="0">
                <a:solidFill>
                  <a:srgbClr val="64748B"/>
                </a:solidFill>
                <a:latin typeface="Segoe UI" pitchFamily="34" charset="0"/>
                <a:ea typeface="Segoe UI" pitchFamily="34" charset="-122"/>
                <a:cs typeface="Segoe UI" pitchFamily="34" charset="-120"/>
              </a:rPr>
              <a:t>discovers the components</a:t>
            </a:r>
            <a:endParaRPr lang="en-US" sz="1200" dirty="0"/>
          </a:p>
        </p:txBody>
      </p:sp>
      <p:sp>
        <p:nvSpPr>
          <p:cNvPr id="25" name="Text 23"/>
          <p:cNvSpPr/>
          <p:nvPr/>
        </p:nvSpPr>
        <p:spPr>
          <a:xfrm>
            <a:off x="8380476" y="3072384"/>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26" name="Shape 24"/>
          <p:cNvSpPr/>
          <p:nvPr/>
        </p:nvSpPr>
        <p:spPr>
          <a:xfrm>
            <a:off x="5852160" y="3310128"/>
            <a:ext cx="5330952" cy="530352"/>
          </a:xfrm>
          <a:prstGeom prst="roundRect">
            <a:avLst>
              <a:gd name="adj" fmla="val 10345"/>
            </a:avLst>
          </a:prstGeom>
          <a:solidFill>
            <a:srgbClr val="F4F7FB"/>
          </a:solidFill>
          <a:ln w="12700">
            <a:solidFill>
              <a:srgbClr val="E2E8F0"/>
            </a:solidFill>
            <a:prstDash val="solid"/>
          </a:ln>
        </p:spPr>
      </p:sp>
      <p:sp>
        <p:nvSpPr>
          <p:cNvPr id="27" name="Text 25"/>
          <p:cNvSpPr/>
          <p:nvPr/>
        </p:nvSpPr>
        <p:spPr>
          <a:xfrm>
            <a:off x="6080760" y="3310128"/>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Entities: Login + Checkout   </a:t>
            </a:r>
            <a:pPr indent="0" marL="0">
              <a:buNone/>
            </a:pPr>
            <a:r>
              <a:rPr lang="en-US" sz="1200" dirty="0">
                <a:solidFill>
                  <a:srgbClr val="64748B"/>
                </a:solidFill>
                <a:latin typeface="Segoe UI" pitchFamily="34" charset="0"/>
                <a:ea typeface="Segoe UI" pitchFamily="34" charset="-122"/>
                <a:cs typeface="Segoe UI" pitchFamily="34" charset="-120"/>
              </a:rPr>
              <a:t>with dependency relationships</a:t>
            </a:r>
            <a:endParaRPr lang="en-US" sz="1200" dirty="0"/>
          </a:p>
        </p:txBody>
      </p:sp>
      <p:sp>
        <p:nvSpPr>
          <p:cNvPr id="28" name="Text 26"/>
          <p:cNvSpPr/>
          <p:nvPr/>
        </p:nvSpPr>
        <p:spPr>
          <a:xfrm>
            <a:off x="8380476" y="3822192"/>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29" name="Shape 27"/>
          <p:cNvSpPr/>
          <p:nvPr/>
        </p:nvSpPr>
        <p:spPr>
          <a:xfrm>
            <a:off x="5852160" y="4059936"/>
            <a:ext cx="5330952" cy="530352"/>
          </a:xfrm>
          <a:prstGeom prst="roundRect">
            <a:avLst>
              <a:gd name="adj" fmla="val 10345"/>
            </a:avLst>
          </a:prstGeom>
          <a:solidFill>
            <a:srgbClr val="F4F7FB"/>
          </a:solidFill>
          <a:ln w="12700">
            <a:solidFill>
              <a:srgbClr val="E2E8F0"/>
            </a:solidFill>
            <a:prstDash val="solid"/>
          </a:ln>
        </p:spPr>
      </p:sp>
      <p:sp>
        <p:nvSpPr>
          <p:cNvPr id="30" name="Text 28"/>
          <p:cNvSpPr/>
          <p:nvPr/>
        </p:nvSpPr>
        <p:spPr>
          <a:xfrm>
            <a:off x="6080760" y="4059936"/>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AMW PromQL signals   </a:t>
            </a:r>
            <a:pPr indent="0" marL="0">
              <a:buNone/>
            </a:pPr>
            <a:r>
              <a:rPr lang="en-US" sz="1200" dirty="0">
                <a:solidFill>
                  <a:srgbClr val="64748B"/>
                </a:solidFill>
                <a:latin typeface="Segoe UI" pitchFamily="34" charset="0"/>
                <a:ea typeface="Segoe UI" pitchFamily="34" charset="-122"/>
                <a:cs typeface="Segoe UI" pitchFamily="34" charset="-120"/>
              </a:rPr>
              <a:t>SLI value per entity</a:t>
            </a:r>
            <a:endParaRPr lang="en-US" sz="1200" dirty="0"/>
          </a:p>
        </p:txBody>
      </p:sp>
      <p:sp>
        <p:nvSpPr>
          <p:cNvPr id="31" name="Text 29"/>
          <p:cNvSpPr/>
          <p:nvPr/>
        </p:nvSpPr>
        <p:spPr>
          <a:xfrm>
            <a:off x="8380476" y="4572000"/>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32" name="Shape 30"/>
          <p:cNvSpPr/>
          <p:nvPr/>
        </p:nvSpPr>
        <p:spPr>
          <a:xfrm>
            <a:off x="5852160" y="4809744"/>
            <a:ext cx="5330952" cy="530352"/>
          </a:xfrm>
          <a:prstGeom prst="roundRect">
            <a:avLst>
              <a:gd name="adj" fmla="val 10345"/>
            </a:avLst>
          </a:prstGeom>
          <a:solidFill>
            <a:srgbClr val="F4F7FB"/>
          </a:solidFill>
          <a:ln w="12700">
            <a:solidFill>
              <a:srgbClr val="E2E8F0"/>
            </a:solidFill>
            <a:prstDash val="solid"/>
          </a:ln>
        </p:spPr>
      </p:sp>
      <p:sp>
        <p:nvSpPr>
          <p:cNvPr id="33" name="Text 31"/>
          <p:cNvSpPr/>
          <p:nvPr/>
        </p:nvSpPr>
        <p:spPr>
          <a:xfrm>
            <a:off x="6080760" y="4809744"/>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Health-state rollup   </a:t>
            </a:r>
            <a:pPr indent="0" marL="0">
              <a:buNone/>
            </a:pPr>
            <a:r>
              <a:rPr lang="en-US" sz="1200" dirty="0">
                <a:solidFill>
                  <a:srgbClr val="64748B"/>
                </a:solidFill>
                <a:latin typeface="Segoe UI" pitchFamily="34" charset="0"/>
                <a:ea typeface="Segoe UI" pitchFamily="34" charset="-122"/>
                <a:cs typeface="Segoe UI" pitchFamily="34" charset="-120"/>
              </a:rPr>
              <a:t>worst-of signals + children</a:t>
            </a:r>
            <a:endParaRPr lang="en-US" sz="1200" dirty="0"/>
          </a:p>
        </p:txBody>
      </p:sp>
      <p:sp>
        <p:nvSpPr>
          <p:cNvPr id="34" name="Text 32"/>
          <p:cNvSpPr/>
          <p:nvPr/>
        </p:nvSpPr>
        <p:spPr>
          <a:xfrm>
            <a:off x="8380476" y="5321808"/>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35" name="Shape 33"/>
          <p:cNvSpPr/>
          <p:nvPr/>
        </p:nvSpPr>
        <p:spPr>
          <a:xfrm>
            <a:off x="5852160" y="5559552"/>
            <a:ext cx="5330952" cy="530352"/>
          </a:xfrm>
          <a:prstGeom prst="roundRect">
            <a:avLst>
              <a:gd name="adj" fmla="val 10345"/>
            </a:avLst>
          </a:prstGeom>
          <a:solidFill>
            <a:srgbClr val="0A2540"/>
          </a:solidFill>
          <a:ln w="12700">
            <a:solidFill>
              <a:srgbClr val="0A2540"/>
            </a:solidFill>
            <a:prstDash val="solid"/>
          </a:ln>
        </p:spPr>
      </p:sp>
      <p:sp>
        <p:nvSpPr>
          <p:cNvPr id="36" name="Text 34"/>
          <p:cNvSpPr/>
          <p:nvPr/>
        </p:nvSpPr>
        <p:spPr>
          <a:xfrm>
            <a:off x="6080760" y="5559552"/>
            <a:ext cx="4965192" cy="530352"/>
          </a:xfrm>
          <a:prstGeom prst="rect">
            <a:avLst/>
          </a:prstGeom>
          <a:noFill/>
          <a:ln/>
        </p:spPr>
        <p:txBody>
          <a:bodyPr wrap="square" lIns="0" tIns="0" rIns="0" bIns="0" rtlCol="0" anchor="ctr"/>
          <a:lstStyle/>
          <a:p>
            <a:pPr indent="0" marL="0">
              <a:buNone/>
            </a:pPr>
            <a:r>
              <a:rPr lang="en-US" sz="1200" b="1" dirty="0">
                <a:solidFill>
                  <a:srgbClr val="2DD4BF"/>
                </a:solidFill>
                <a:latin typeface="Segoe UI Semibold" pitchFamily="34" charset="0"/>
                <a:ea typeface="Segoe UI Semibold" pitchFamily="34" charset="-122"/>
                <a:cs typeface="Segoe UI Semibold" pitchFamily="34" charset="-120"/>
              </a:rPr>
              <a:t>State-change alerts   </a:t>
            </a:r>
            <a:pPr indent="0" marL="0">
              <a:buNone/>
            </a:pPr>
            <a:r>
              <a:rPr lang="en-US" sz="1200" dirty="0">
                <a:solidFill>
                  <a:srgbClr val="C7D6E5"/>
                </a:solidFill>
                <a:latin typeface="Segoe UI" pitchFamily="34" charset="0"/>
                <a:ea typeface="Segoe UI" pitchFamily="34" charset="-122"/>
                <a:cs typeface="Segoe UI" pitchFamily="34" charset="-120"/>
              </a:rPr>
              <a:t>Degraded Sev2 / Unhealthy Sev1</a:t>
            </a:r>
            <a:endParaRPr lang="en-US" sz="1200" dirty="0"/>
          </a:p>
        </p:txBody>
      </p:sp>
      <p:sp>
        <p:nvSpPr>
          <p:cNvPr id="38" name="Text 35"/>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39" name="Text 3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RUN THE LAB  ·  QUICKSTART</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One prerequisite, then one command</a:t>
            </a:r>
            <a:endParaRPr lang="en-US" sz="3000" dirty="0"/>
          </a:p>
        </p:txBody>
      </p:sp>
      <p:sp>
        <p:nvSpPr>
          <p:cNvPr id="5" name="Shape 3"/>
          <p:cNvSpPr/>
          <p:nvPr/>
        </p:nvSpPr>
        <p:spPr>
          <a:xfrm>
            <a:off x="640080"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6" name="Shape 4"/>
          <p:cNvSpPr/>
          <p:nvPr/>
        </p:nvSpPr>
        <p:spPr>
          <a:xfrm>
            <a:off x="960120" y="2240280"/>
            <a:ext cx="457200" cy="457200"/>
          </a:xfrm>
          <a:prstGeom prst="ellipse">
            <a:avLst/>
          </a:prstGeom>
          <a:solidFill>
            <a:srgbClr val="0A2540"/>
          </a:solidFill>
          <a:ln/>
        </p:spPr>
      </p:sp>
      <p:sp>
        <p:nvSpPr>
          <p:cNvPr id="7" name="Text 5"/>
          <p:cNvSpPr/>
          <p:nvPr/>
        </p:nvSpPr>
        <p:spPr>
          <a:xfrm>
            <a:off x="960120"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554480" y="2240280"/>
            <a:ext cx="2295144" cy="50292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Have Part 1 in place</a:t>
            </a:r>
            <a:endParaRPr lang="en-US" sz="1450" dirty="0"/>
          </a:p>
        </p:txBody>
      </p:sp>
      <p:sp>
        <p:nvSpPr>
          <p:cNvPr id="9" name="Text 7"/>
          <p:cNvSpPr/>
          <p:nvPr/>
        </p:nvSpPr>
        <p:spPr>
          <a:xfrm>
            <a:off x="960120"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The SLI demo deployed and its SLIs authored (skip if you did Part 1).</a:t>
            </a:r>
            <a:endParaRPr lang="en-US" sz="1200" dirty="0"/>
          </a:p>
        </p:txBody>
      </p:sp>
      <p:sp>
        <p:nvSpPr>
          <p:cNvPr id="10" name="Shape 8"/>
          <p:cNvSpPr/>
          <p:nvPr/>
        </p:nvSpPr>
        <p:spPr>
          <a:xfrm>
            <a:off x="914400" y="3794760"/>
            <a:ext cx="2843784" cy="1691640"/>
          </a:xfrm>
          <a:prstGeom prst="roundRect">
            <a:avLst>
              <a:gd name="adj" fmla="val 2703"/>
            </a:avLst>
          </a:prstGeom>
          <a:solidFill>
            <a:srgbClr val="0B2137"/>
          </a:solidFill>
          <a:ln/>
        </p:spPr>
      </p:sp>
      <p:sp>
        <p:nvSpPr>
          <p:cNvPr id="11" name="Text 9"/>
          <p:cNvSpPr/>
          <p:nvPr/>
        </p:nvSpPr>
        <p:spPr>
          <a:xfrm>
            <a:off x="1097280"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./infra/deploy.ps1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./infra/slo/deploy-slo.ps1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a:t>
            </a:r>
            <a:endParaRPr lang="en-US" sz="1050" dirty="0"/>
          </a:p>
        </p:txBody>
      </p:sp>
      <p:sp>
        <p:nvSpPr>
          <p:cNvPr id="12" name="Shape 10"/>
          <p:cNvSpPr/>
          <p:nvPr/>
        </p:nvSpPr>
        <p:spPr>
          <a:xfrm>
            <a:off x="4398264"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3" name="Shape 11"/>
          <p:cNvSpPr/>
          <p:nvPr/>
        </p:nvSpPr>
        <p:spPr>
          <a:xfrm>
            <a:off x="4718304" y="2240280"/>
            <a:ext cx="457200" cy="457200"/>
          </a:xfrm>
          <a:prstGeom prst="ellipse">
            <a:avLst/>
          </a:prstGeom>
          <a:solidFill>
            <a:srgbClr val="0A2540"/>
          </a:solidFill>
          <a:ln/>
        </p:spPr>
      </p:sp>
      <p:sp>
        <p:nvSpPr>
          <p:cNvPr id="14" name="Text 12"/>
          <p:cNvSpPr/>
          <p:nvPr/>
        </p:nvSpPr>
        <p:spPr>
          <a:xfrm>
            <a:off x="4718304"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2</a:t>
            </a:r>
            <a:endParaRPr lang="en-US" sz="1600" dirty="0"/>
          </a:p>
        </p:txBody>
      </p:sp>
      <p:sp>
        <p:nvSpPr>
          <p:cNvPr id="15" name="Text 13"/>
          <p:cNvSpPr/>
          <p:nvPr/>
        </p:nvSpPr>
        <p:spPr>
          <a:xfrm>
            <a:off x="5312664" y="2240280"/>
            <a:ext cx="2295144" cy="50292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Keep traffic running  (Terminal 1)</a:t>
            </a:r>
            <a:endParaRPr lang="en-US" sz="1450" dirty="0"/>
          </a:p>
        </p:txBody>
      </p:sp>
      <p:sp>
        <p:nvSpPr>
          <p:cNvPr id="16" name="Text 14"/>
          <p:cNvSpPr/>
          <p:nvPr/>
        </p:nvSpPr>
        <p:spPr>
          <a:xfrm>
            <a:off x="4718304"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SLI :value series must be fresh or signals read Unknown.</a:t>
            </a:r>
            <a:endParaRPr lang="en-US" sz="1200" dirty="0"/>
          </a:p>
        </p:txBody>
      </p:sp>
      <p:sp>
        <p:nvSpPr>
          <p:cNvPr id="17" name="Shape 15"/>
          <p:cNvSpPr/>
          <p:nvPr/>
        </p:nvSpPr>
        <p:spPr>
          <a:xfrm>
            <a:off x="4672584" y="3794760"/>
            <a:ext cx="2843784" cy="1691640"/>
          </a:xfrm>
          <a:prstGeom prst="roundRect">
            <a:avLst>
              <a:gd name="adj" fmla="val 2703"/>
            </a:avLst>
          </a:prstGeom>
          <a:solidFill>
            <a:srgbClr val="0B2137"/>
          </a:solidFill>
          <a:ln/>
        </p:spPr>
      </p:sp>
      <p:sp>
        <p:nvSpPr>
          <p:cNvPr id="18" name="Text 16"/>
          <p:cNvSpPr/>
          <p:nvPr/>
        </p:nvSpPr>
        <p:spPr>
          <a:xfrm>
            <a:off x="4855464"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pwsh -File load/generate-traffic-all.ps1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-Rps 30 -DurationSeconds 1800</a:t>
            </a:r>
            <a:endParaRPr lang="en-US" sz="1050" dirty="0"/>
          </a:p>
        </p:txBody>
      </p:sp>
      <p:sp>
        <p:nvSpPr>
          <p:cNvPr id="19" name="Shape 17"/>
          <p:cNvSpPr/>
          <p:nvPr/>
        </p:nvSpPr>
        <p:spPr>
          <a:xfrm>
            <a:off x="8156448"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0" name="Shape 18"/>
          <p:cNvSpPr/>
          <p:nvPr/>
        </p:nvSpPr>
        <p:spPr>
          <a:xfrm>
            <a:off x="8476488" y="2240280"/>
            <a:ext cx="457200" cy="457200"/>
          </a:xfrm>
          <a:prstGeom prst="ellipse">
            <a:avLst/>
          </a:prstGeom>
          <a:solidFill>
            <a:srgbClr val="0A2540"/>
          </a:solidFill>
          <a:ln/>
        </p:spPr>
      </p:sp>
      <p:sp>
        <p:nvSpPr>
          <p:cNvPr id="21" name="Text 19"/>
          <p:cNvSpPr/>
          <p:nvPr/>
        </p:nvSpPr>
        <p:spPr>
          <a:xfrm>
            <a:off x="8476488"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3</a:t>
            </a:r>
            <a:endParaRPr lang="en-US" sz="1600" dirty="0"/>
          </a:p>
        </p:txBody>
      </p:sp>
      <p:sp>
        <p:nvSpPr>
          <p:cNvPr id="22" name="Text 20"/>
          <p:cNvSpPr/>
          <p:nvPr/>
        </p:nvSpPr>
        <p:spPr>
          <a:xfrm>
            <a:off x="9070848" y="2240280"/>
            <a:ext cx="2295144" cy="50292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Run the lab  (Terminal 2)</a:t>
            </a:r>
            <a:endParaRPr lang="en-US" sz="1450" dirty="0"/>
          </a:p>
        </p:txBody>
      </p:sp>
      <p:sp>
        <p:nvSpPr>
          <p:cNvPr id="23" name="Text 21"/>
          <p:cNvSpPr/>
          <p:nvPr/>
        </p:nvSpPr>
        <p:spPr>
          <a:xfrm>
            <a:off x="8476488"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Walks phases 1-6: create model, discover, map SLIs, alert.</a:t>
            </a:r>
            <a:endParaRPr lang="en-US" sz="1200" dirty="0"/>
          </a:p>
        </p:txBody>
      </p:sp>
      <p:sp>
        <p:nvSpPr>
          <p:cNvPr id="24" name="Shape 22"/>
          <p:cNvSpPr/>
          <p:nvPr/>
        </p:nvSpPr>
        <p:spPr>
          <a:xfrm>
            <a:off x="8430768" y="3794760"/>
            <a:ext cx="2843784" cy="1691640"/>
          </a:xfrm>
          <a:prstGeom prst="roundRect">
            <a:avLst>
              <a:gd name="adj" fmla="val 2703"/>
            </a:avLst>
          </a:prstGeom>
          <a:solidFill>
            <a:srgbClr val="0B2137"/>
          </a:solidFill>
          <a:ln/>
        </p:spPr>
      </p:sp>
      <p:sp>
        <p:nvSpPr>
          <p:cNvPr id="25" name="Text 23"/>
          <p:cNvSpPr/>
          <p:nvPr/>
        </p:nvSpPr>
        <p:spPr>
          <a:xfrm>
            <a:off x="8613648"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cd 02-healthmodel-demo</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./healthmodel-run-lab.ps1</a:t>
            </a:r>
            <a:endParaRPr lang="en-US" sz="1050" dirty="0"/>
          </a:p>
        </p:txBody>
      </p:sp>
      <p:sp>
        <p:nvSpPr>
          <p:cNvPr id="26" name="Text 24"/>
          <p:cNvSpPr/>
          <p:nvPr/>
        </p:nvSpPr>
        <p:spPr>
          <a:xfrm>
            <a:off x="640080" y="5897880"/>
            <a:ext cx="10908792" cy="320040"/>
          </a:xfrm>
          <a:prstGeom prst="rect">
            <a:avLst/>
          </a:prstGeom>
          <a:noFill/>
          <a:ln/>
        </p:spPr>
        <p:txBody>
          <a:bodyPr wrap="square" lIns="0" tIns="0" rIns="0" bIns="0" rtlCol="0" anchor="ctr"/>
          <a:lstStyle/>
          <a:p>
            <a:pPr indent="0" marL="0">
              <a:buNone/>
            </a:pPr>
            <a:r>
              <a:rPr lang="en-US" sz="1150" i="1" dirty="0">
                <a:solidFill>
                  <a:srgbClr val="64748B"/>
                </a:solidFill>
                <a:latin typeface="Segoe UI" pitchFamily="34" charset="0"/>
                <a:ea typeface="Segoe UI" pitchFamily="34" charset="-122"/>
                <a:cs typeface="Segoe UI" pitchFamily="34" charset="-120"/>
              </a:rPr>
              <a:t>Prerequisites: Azure CLI signed in, PowerShell 7+, Contributor on the subscription. Health model region defaults to centralus (Microsoft.CloudHealth is region-limited).</a:t>
            </a:r>
            <a:endParaRPr lang="en-US" sz="1150" dirty="0"/>
          </a:p>
        </p:txBody>
      </p:sp>
      <p:sp>
        <p:nvSpPr>
          <p:cNvPr id="28" name="Text 25"/>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29" name="Text 2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RUN THE LAB  ·  WHAT HEALTHMODEL-RUN-LAB.PS1 DOES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The six-phase build</a:t>
            </a:r>
            <a:endParaRPr lang="en-US" sz="3000" dirty="0"/>
          </a:p>
        </p:txBody>
      </p:sp>
      <p:sp>
        <p:nvSpPr>
          <p:cNvPr id="5" name="Shape 3"/>
          <p:cNvSpPr/>
          <p:nvPr/>
        </p:nvSpPr>
        <p:spPr>
          <a:xfrm>
            <a:off x="640080" y="1965960"/>
            <a:ext cx="420624" cy="420624"/>
          </a:xfrm>
          <a:prstGeom prst="ellipse">
            <a:avLst/>
          </a:prstGeom>
          <a:solidFill>
            <a:srgbClr val="2DD4BF"/>
          </a:solidFill>
          <a:ln/>
        </p:spPr>
      </p:sp>
      <p:sp>
        <p:nvSpPr>
          <p:cNvPr id="6" name="Text 4"/>
          <p:cNvSpPr/>
          <p:nvPr/>
        </p:nvSpPr>
        <p:spPr>
          <a:xfrm>
            <a:off x="640080" y="196596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7" name="Text 5"/>
          <p:cNvSpPr/>
          <p:nvPr/>
        </p:nvSpPr>
        <p:spPr>
          <a:xfrm>
            <a:off x="1207008" y="192024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Environment setup &amp; access checks</a:t>
            </a:r>
            <a:endParaRPr lang="en-US" sz="1450" dirty="0"/>
          </a:p>
        </p:txBody>
      </p:sp>
      <p:sp>
        <p:nvSpPr>
          <p:cNvPr id="8" name="Text 6"/>
          <p:cNvSpPr/>
          <p:nvPr/>
        </p:nvSpPr>
        <p:spPr>
          <a:xfrm>
            <a:off x="1207008" y="225856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Discovers the app, workspace, and SLIs; confirms the SLI series carry recent data.</a:t>
            </a:r>
            <a:endParaRPr lang="en-US" sz="1150" dirty="0"/>
          </a:p>
        </p:txBody>
      </p:sp>
      <p:sp>
        <p:nvSpPr>
          <p:cNvPr id="9" name="Shape 7"/>
          <p:cNvSpPr/>
          <p:nvPr/>
        </p:nvSpPr>
        <p:spPr>
          <a:xfrm>
            <a:off x="640080" y="3291840"/>
            <a:ext cx="420624" cy="420624"/>
          </a:xfrm>
          <a:prstGeom prst="ellipse">
            <a:avLst/>
          </a:prstGeom>
          <a:solidFill>
            <a:srgbClr val="2DD4BF"/>
          </a:solidFill>
          <a:ln/>
        </p:spPr>
      </p:sp>
      <p:sp>
        <p:nvSpPr>
          <p:cNvPr id="10" name="Text 8"/>
          <p:cNvSpPr/>
          <p:nvPr/>
        </p:nvSpPr>
        <p:spPr>
          <a:xfrm>
            <a:off x="640080" y="329184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1207008" y="324612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Create the health model</a:t>
            </a:r>
            <a:endParaRPr lang="en-US" sz="1450" dirty="0"/>
          </a:p>
        </p:txBody>
      </p:sp>
      <p:sp>
        <p:nvSpPr>
          <p:cNvPr id="12" name="Text 10"/>
          <p:cNvSpPr/>
          <p:nvPr/>
        </p:nvSpPr>
        <p:spPr>
          <a:xfrm>
            <a:off x="1207008" y="358444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Creates the model and its managed identity (idempotent deploy script).</a:t>
            </a:r>
            <a:endParaRPr lang="en-US" sz="1150" dirty="0"/>
          </a:p>
        </p:txBody>
      </p:sp>
      <p:sp>
        <p:nvSpPr>
          <p:cNvPr id="13" name="Shape 11"/>
          <p:cNvSpPr/>
          <p:nvPr/>
        </p:nvSpPr>
        <p:spPr>
          <a:xfrm>
            <a:off x="640080" y="4617720"/>
            <a:ext cx="420624" cy="420624"/>
          </a:xfrm>
          <a:prstGeom prst="ellipse">
            <a:avLst/>
          </a:prstGeom>
          <a:solidFill>
            <a:srgbClr val="2DD4BF"/>
          </a:solidFill>
          <a:ln/>
        </p:spPr>
      </p:sp>
      <p:sp>
        <p:nvSpPr>
          <p:cNvPr id="14" name="Text 12"/>
          <p:cNvSpPr/>
          <p:nvPr/>
        </p:nvSpPr>
        <p:spPr>
          <a:xfrm>
            <a:off x="640080" y="461772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5" name="Text 13"/>
          <p:cNvSpPr/>
          <p:nvPr/>
        </p:nvSpPr>
        <p:spPr>
          <a:xfrm>
            <a:off x="1207008" y="457200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Discover the app as entities</a:t>
            </a:r>
            <a:endParaRPr lang="en-US" sz="1450" dirty="0"/>
          </a:p>
        </p:txBody>
      </p:sp>
      <p:sp>
        <p:nvSpPr>
          <p:cNvPr id="16" name="Text 14"/>
          <p:cNvSpPr/>
          <p:nvPr/>
        </p:nvSpPr>
        <p:spPr>
          <a:xfrm>
            <a:off x="1207008" y="491032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Verifies the App Insights topology imported Login and Checkout.</a:t>
            </a:r>
            <a:endParaRPr lang="en-US" sz="1150" dirty="0"/>
          </a:p>
        </p:txBody>
      </p:sp>
      <p:sp>
        <p:nvSpPr>
          <p:cNvPr id="17" name="Shape 15"/>
          <p:cNvSpPr/>
          <p:nvPr/>
        </p:nvSpPr>
        <p:spPr>
          <a:xfrm>
            <a:off x="6368796" y="1965960"/>
            <a:ext cx="420624" cy="420624"/>
          </a:xfrm>
          <a:prstGeom prst="ellipse">
            <a:avLst/>
          </a:prstGeom>
          <a:solidFill>
            <a:srgbClr val="2DD4BF"/>
          </a:solidFill>
          <a:ln/>
        </p:spPr>
      </p:sp>
      <p:sp>
        <p:nvSpPr>
          <p:cNvPr id="18" name="Text 16"/>
          <p:cNvSpPr/>
          <p:nvPr/>
        </p:nvSpPr>
        <p:spPr>
          <a:xfrm>
            <a:off x="6368796" y="196596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19" name="Text 17"/>
          <p:cNvSpPr/>
          <p:nvPr/>
        </p:nvSpPr>
        <p:spPr>
          <a:xfrm>
            <a:off x="6935724" y="192024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Map the SLIs to entities</a:t>
            </a:r>
            <a:endParaRPr lang="en-US" sz="1450" dirty="0"/>
          </a:p>
        </p:txBody>
      </p:sp>
      <p:sp>
        <p:nvSpPr>
          <p:cNvPr id="20" name="Text 18"/>
          <p:cNvSpPr/>
          <p:nvPr/>
        </p:nvSpPr>
        <p:spPr>
          <a:xfrm>
            <a:off x="6935724" y="225856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Derives each mapping from the SLI label; writes the entity-map CSV.</a:t>
            </a:r>
            <a:endParaRPr lang="en-US" sz="1150" dirty="0"/>
          </a:p>
        </p:txBody>
      </p:sp>
      <p:sp>
        <p:nvSpPr>
          <p:cNvPr id="21" name="Shape 19"/>
          <p:cNvSpPr/>
          <p:nvPr/>
        </p:nvSpPr>
        <p:spPr>
          <a:xfrm>
            <a:off x="6368796" y="3291840"/>
            <a:ext cx="420624" cy="420624"/>
          </a:xfrm>
          <a:prstGeom prst="ellipse">
            <a:avLst/>
          </a:prstGeom>
          <a:solidFill>
            <a:srgbClr val="F59E0B"/>
          </a:solidFill>
          <a:ln/>
        </p:spPr>
      </p:sp>
      <p:sp>
        <p:nvSpPr>
          <p:cNvPr id="22" name="Text 20"/>
          <p:cNvSpPr/>
          <p:nvPr/>
        </p:nvSpPr>
        <p:spPr>
          <a:xfrm>
            <a:off x="6368796" y="329184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5</a:t>
            </a:r>
            <a:endParaRPr lang="en-US" sz="1600" dirty="0"/>
          </a:p>
        </p:txBody>
      </p:sp>
      <p:sp>
        <p:nvSpPr>
          <p:cNvPr id="23" name="Text 21"/>
          <p:cNvSpPr/>
          <p:nvPr/>
        </p:nvSpPr>
        <p:spPr>
          <a:xfrm>
            <a:off x="6935724" y="324612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Configure signals + alerts</a:t>
            </a:r>
            <a:endParaRPr lang="en-US" sz="1450" dirty="0"/>
          </a:p>
        </p:txBody>
      </p:sp>
      <p:sp>
        <p:nvSpPr>
          <p:cNvPr id="24" name="Text 22"/>
          <p:cNvSpPr/>
          <p:nvPr/>
        </p:nvSpPr>
        <p:spPr>
          <a:xfrm>
            <a:off x="6935724" y="358444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Attaches AMW PromQL signals and Degraded / Unhealthy state alerts.</a:t>
            </a:r>
            <a:endParaRPr lang="en-US" sz="1150" dirty="0"/>
          </a:p>
        </p:txBody>
      </p:sp>
      <p:sp>
        <p:nvSpPr>
          <p:cNvPr id="25" name="Shape 23"/>
          <p:cNvSpPr/>
          <p:nvPr/>
        </p:nvSpPr>
        <p:spPr>
          <a:xfrm>
            <a:off x="6368796" y="4617720"/>
            <a:ext cx="420624" cy="420624"/>
          </a:xfrm>
          <a:prstGeom prst="ellipse">
            <a:avLst/>
          </a:prstGeom>
          <a:solidFill>
            <a:srgbClr val="F59E0B"/>
          </a:solidFill>
          <a:ln/>
        </p:spPr>
      </p:sp>
      <p:sp>
        <p:nvSpPr>
          <p:cNvPr id="26" name="Text 24"/>
          <p:cNvSpPr/>
          <p:nvPr/>
        </p:nvSpPr>
        <p:spPr>
          <a:xfrm>
            <a:off x="6368796" y="461772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6</a:t>
            </a:r>
            <a:endParaRPr lang="en-US" sz="1600" dirty="0"/>
          </a:p>
        </p:txBody>
      </p:sp>
      <p:sp>
        <p:nvSpPr>
          <p:cNvPr id="27" name="Text 25"/>
          <p:cNvSpPr/>
          <p:nvPr/>
        </p:nvSpPr>
        <p:spPr>
          <a:xfrm>
            <a:off x="6935724" y="4572000"/>
            <a:ext cx="4613148" cy="310896"/>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Validate end to end</a:t>
            </a:r>
            <a:endParaRPr lang="en-US" sz="1450" dirty="0"/>
          </a:p>
        </p:txBody>
      </p:sp>
      <p:sp>
        <p:nvSpPr>
          <p:cNvPr id="28" name="Text 26"/>
          <p:cNvSpPr/>
          <p:nvPr/>
        </p:nvSpPr>
        <p:spPr>
          <a:xfrm>
            <a:off x="6935724" y="4910328"/>
            <a:ext cx="4613148" cy="640080"/>
          </a:xfrm>
          <a:prstGeom prst="rect">
            <a:avLst/>
          </a:prstGeom>
          <a:noFill/>
          <a:ln/>
        </p:spPr>
        <p:txBody>
          <a:bodyPr wrap="square" lIns="0" tIns="0" rIns="0" bIns="0" rtlCol="0" anchor="ctr"/>
          <a:lstStyle/>
          <a:p>
            <a:pPr indent="0" marL="0">
              <a:lnSpc>
                <a:spcPct val="106000"/>
              </a:lnSpc>
              <a:buNone/>
            </a:pPr>
            <a:r>
              <a:rPr lang="en-US" sz="1150" dirty="0">
                <a:solidFill>
                  <a:srgbClr val="64748B"/>
                </a:solidFill>
                <a:latin typeface="Segoe UI" pitchFamily="34" charset="0"/>
                <a:ea typeface="Segoe UI" pitchFamily="34" charset="-122"/>
                <a:cs typeface="Segoe UI" pitchFamily="34" charset="-120"/>
              </a:rPr>
              <a:t>Confirms entities, signals, and alerts are wired and reporting.</a:t>
            </a:r>
            <a:endParaRPr lang="en-US" sz="1150" dirty="0"/>
          </a:p>
        </p:txBody>
      </p:sp>
      <p:sp>
        <p:nvSpPr>
          <p:cNvPr id="30" name="Text 27"/>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31" name="Text 28"/>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WHAT FOLLOWS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Where this sits on the reliability journey</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The health model is Phase 1. It reuses the SLI foundation and becomes the focus for AI-assisted operations next.</a:t>
            </a:r>
            <a:endParaRPr lang="en-US" sz="1500" dirty="0"/>
          </a:p>
        </p:txBody>
      </p:sp>
      <p:sp>
        <p:nvSpPr>
          <p:cNvPr id="6" name="Shape 4"/>
          <p:cNvSpPr/>
          <p:nvPr/>
        </p:nvSpPr>
        <p:spPr>
          <a:xfrm>
            <a:off x="640080"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7" name="Text 5"/>
          <p:cNvSpPr/>
          <p:nvPr/>
        </p:nvSpPr>
        <p:spPr>
          <a:xfrm>
            <a:off x="914400"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0</a:t>
            </a:r>
            <a:endParaRPr lang="en-US" sz="1100" dirty="0"/>
          </a:p>
        </p:txBody>
      </p:sp>
      <p:sp>
        <p:nvSpPr>
          <p:cNvPr id="8" name="Text 6"/>
          <p:cNvSpPr/>
          <p:nvPr/>
        </p:nvSpPr>
        <p:spPr>
          <a:xfrm>
            <a:off x="914400"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SLI foundation</a:t>
            </a:r>
            <a:endParaRPr lang="en-US" sz="1700" dirty="0"/>
          </a:p>
        </p:txBody>
      </p:sp>
      <p:sp>
        <p:nvSpPr>
          <p:cNvPr id="9" name="Text 7"/>
          <p:cNvSpPr/>
          <p:nvPr/>
        </p:nvSpPr>
        <p:spPr>
          <a:xfrm>
            <a:off x="914400"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SLIs, SLOs, error budgets and burn alerts on a Service Group.</a:t>
            </a:r>
            <a:endParaRPr lang="en-US" sz="1200" dirty="0"/>
          </a:p>
        </p:txBody>
      </p:sp>
      <p:sp>
        <p:nvSpPr>
          <p:cNvPr id="10" name="Shape 8"/>
          <p:cNvSpPr/>
          <p:nvPr/>
        </p:nvSpPr>
        <p:spPr>
          <a:xfrm>
            <a:off x="914400" y="4892040"/>
            <a:ext cx="832104" cy="329184"/>
          </a:xfrm>
          <a:prstGeom prst="roundRect">
            <a:avLst>
              <a:gd name="adj" fmla="val 19444"/>
            </a:avLst>
          </a:prstGeom>
          <a:solidFill>
            <a:srgbClr val="F4F7FB"/>
          </a:solidFill>
          <a:ln w="12700">
            <a:solidFill>
              <a:srgbClr val="E2E8F0"/>
            </a:solidFill>
            <a:prstDash val="solid"/>
          </a:ln>
        </p:spPr>
      </p:sp>
      <p:sp>
        <p:nvSpPr>
          <p:cNvPr id="11" name="Text 9"/>
          <p:cNvSpPr/>
          <p:nvPr/>
        </p:nvSpPr>
        <p:spPr>
          <a:xfrm>
            <a:off x="914400" y="4892040"/>
            <a:ext cx="832104"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PART 1</a:t>
            </a:r>
            <a:endParaRPr lang="en-US" sz="900" dirty="0"/>
          </a:p>
        </p:txBody>
      </p:sp>
      <p:sp>
        <p:nvSpPr>
          <p:cNvPr id="12" name="Text 10"/>
          <p:cNvSpPr/>
          <p:nvPr/>
        </p:nvSpPr>
        <p:spPr>
          <a:xfrm>
            <a:off x="3088386"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454146" y="2286000"/>
            <a:ext cx="2466594" cy="3200400"/>
          </a:xfrm>
          <a:prstGeom prst="rect">
            <a:avLst/>
          </a:prstGeom>
          <a:solidFill>
            <a:srgbClr val="0A2540"/>
          </a:solidFill>
          <a:ln w="12700">
            <a:solidFill>
              <a:srgbClr val="0A2540"/>
            </a:solidFill>
            <a:prstDash val="solid"/>
          </a:ln>
          <a:effectLst>
            <a:outerShdw sx="100000" sy="100000" kx="0" ky="0" algn="bl" rotWithShape="0" blurRad="114300" dist="38100" dir="5400000">
              <a:srgbClr val="0A2540">
                <a:alpha val="16000"/>
              </a:srgbClr>
            </a:outerShdw>
          </a:effectLst>
        </p:spPr>
      </p:sp>
      <p:sp>
        <p:nvSpPr>
          <p:cNvPr id="14" name="Text 12"/>
          <p:cNvSpPr/>
          <p:nvPr/>
        </p:nvSpPr>
        <p:spPr>
          <a:xfrm>
            <a:off x="3728466" y="2560320"/>
            <a:ext cx="1917954" cy="274320"/>
          </a:xfrm>
          <a:prstGeom prst="rect">
            <a:avLst/>
          </a:prstGeom>
          <a:noFill/>
          <a:ln/>
        </p:spPr>
        <p:txBody>
          <a:bodyPr wrap="square" lIns="0" tIns="0" rIns="0" bIns="0" rtlCol="0" anchor="ctr"/>
          <a:lstStyle/>
          <a:p>
            <a:pPr indent="0" marL="0">
              <a:buNone/>
            </a:pPr>
            <a:r>
              <a:rPr lang="en-US" sz="1100" b="1" spc="100" kern="0" dirty="0">
                <a:solidFill>
                  <a:srgbClr val="2DD4BF"/>
                </a:solidFill>
                <a:latin typeface="Segoe UI" pitchFamily="34" charset="0"/>
                <a:ea typeface="Segoe UI" pitchFamily="34" charset="-122"/>
                <a:cs typeface="Segoe UI" pitchFamily="34" charset="-120"/>
              </a:rPr>
              <a:t>PHASE 1</a:t>
            </a:r>
            <a:endParaRPr lang="en-US" sz="1100" dirty="0"/>
          </a:p>
        </p:txBody>
      </p:sp>
      <p:sp>
        <p:nvSpPr>
          <p:cNvPr id="15" name="Text 13"/>
          <p:cNvSpPr/>
          <p:nvPr/>
        </p:nvSpPr>
        <p:spPr>
          <a:xfrm>
            <a:off x="3728466" y="2880360"/>
            <a:ext cx="1917954" cy="548640"/>
          </a:xfrm>
          <a:prstGeom prst="rect">
            <a:avLst/>
          </a:prstGeom>
          <a:noFill/>
          <a:ln/>
        </p:spPr>
        <p:txBody>
          <a:bodyPr wrap="square" lIns="0" tIns="0" rIns="0" bIns="0" rtlCol="0" anchor="ctr"/>
          <a:lstStyle/>
          <a:p>
            <a:pPr indent="0" marL="0">
              <a:buNone/>
            </a:pPr>
            <a:r>
              <a:rPr lang="en-US" sz="1700" b="1" dirty="0">
                <a:solidFill>
                  <a:srgbClr val="FFFFFF"/>
                </a:solidFill>
                <a:latin typeface="Segoe UI Semibold" pitchFamily="34" charset="0"/>
                <a:ea typeface="Segoe UI Semibold" pitchFamily="34" charset="-122"/>
                <a:cs typeface="Segoe UI Semibold" pitchFamily="34" charset="-120"/>
              </a:rPr>
              <a:t>Health Models</a:t>
            </a:r>
            <a:endParaRPr lang="en-US" sz="1700" dirty="0"/>
          </a:p>
        </p:txBody>
      </p:sp>
      <p:sp>
        <p:nvSpPr>
          <p:cNvPr id="16" name="Text 14"/>
          <p:cNvSpPr/>
          <p:nvPr/>
        </p:nvSpPr>
        <p:spPr>
          <a:xfrm>
            <a:off x="3728466"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C7D6E5"/>
                </a:solidFill>
                <a:latin typeface="Segoe UI" pitchFamily="34" charset="0"/>
                <a:ea typeface="Segoe UI" pitchFamily="34" charset="-122"/>
                <a:cs typeface="Segoe UI" pitchFamily="34" charset="-120"/>
              </a:rPr>
              <a:t>Roll SLIs + resource health into one honest, top-down health score.</a:t>
            </a:r>
            <a:endParaRPr lang="en-US" sz="1200" dirty="0"/>
          </a:p>
        </p:txBody>
      </p:sp>
      <p:sp>
        <p:nvSpPr>
          <p:cNvPr id="17" name="Shape 15"/>
          <p:cNvSpPr/>
          <p:nvPr/>
        </p:nvSpPr>
        <p:spPr>
          <a:xfrm>
            <a:off x="3728466" y="4892040"/>
            <a:ext cx="987552" cy="329184"/>
          </a:xfrm>
          <a:prstGeom prst="roundRect">
            <a:avLst>
              <a:gd name="adj" fmla="val 19444"/>
            </a:avLst>
          </a:prstGeom>
          <a:solidFill>
            <a:srgbClr val="2DD4BF"/>
          </a:solidFill>
          <a:ln w="12700">
            <a:solidFill>
              <a:srgbClr val="2DD4BF"/>
            </a:solidFill>
            <a:prstDash val="solid"/>
          </a:ln>
        </p:spPr>
      </p:sp>
      <p:sp>
        <p:nvSpPr>
          <p:cNvPr id="18" name="Text 16"/>
          <p:cNvSpPr/>
          <p:nvPr/>
        </p:nvSpPr>
        <p:spPr>
          <a:xfrm>
            <a:off x="3728466" y="4892040"/>
            <a:ext cx="987552" cy="329184"/>
          </a:xfrm>
          <a:prstGeom prst="rect">
            <a:avLst/>
          </a:prstGeom>
          <a:noFill/>
          <a:ln/>
        </p:spPr>
        <p:txBody>
          <a:bodyPr wrap="square" lIns="0" tIns="0" rIns="0" bIns="0" rtlCol="0" anchor="ctr"/>
          <a:lstStyle/>
          <a:p>
            <a:pPr algn="ctr" indent="0" marL="0">
              <a:buNone/>
            </a:pPr>
            <a:r>
              <a:rPr lang="en-US" sz="900" b="1" spc="100" kern="0" dirty="0">
                <a:solidFill>
                  <a:srgbClr val="0A2540"/>
                </a:solidFill>
                <a:latin typeface="Segoe UI" pitchFamily="34" charset="0"/>
                <a:ea typeface="Segoe UI" pitchFamily="34" charset="-122"/>
                <a:cs typeface="Segoe UI" pitchFamily="34" charset="-120"/>
              </a:rPr>
              <a:t>THIS LAB</a:t>
            </a:r>
            <a:endParaRPr lang="en-US" sz="900" dirty="0"/>
          </a:p>
        </p:txBody>
      </p:sp>
      <p:sp>
        <p:nvSpPr>
          <p:cNvPr id="19" name="Text 17"/>
          <p:cNvSpPr/>
          <p:nvPr/>
        </p:nvSpPr>
        <p:spPr>
          <a:xfrm>
            <a:off x="5902452"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268212"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1" name="Text 19"/>
          <p:cNvSpPr/>
          <p:nvPr/>
        </p:nvSpPr>
        <p:spPr>
          <a:xfrm>
            <a:off x="6542532"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2</a:t>
            </a:r>
            <a:endParaRPr lang="en-US" sz="1100" dirty="0"/>
          </a:p>
        </p:txBody>
      </p:sp>
      <p:sp>
        <p:nvSpPr>
          <p:cNvPr id="22" name="Text 20"/>
          <p:cNvSpPr/>
          <p:nvPr/>
        </p:nvSpPr>
        <p:spPr>
          <a:xfrm>
            <a:off x="6542532"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AI operations</a:t>
            </a:r>
            <a:endParaRPr lang="en-US" sz="1700" dirty="0"/>
          </a:p>
        </p:txBody>
      </p:sp>
      <p:sp>
        <p:nvSpPr>
          <p:cNvPr id="23" name="Text 21"/>
          <p:cNvSpPr/>
          <p:nvPr/>
        </p:nvSpPr>
        <p:spPr>
          <a:xfrm>
            <a:off x="6542532"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Observability Agent explains incidents; SRE Agent takes approved action.</a:t>
            </a:r>
            <a:endParaRPr lang="en-US" sz="1200" dirty="0"/>
          </a:p>
        </p:txBody>
      </p:sp>
      <p:sp>
        <p:nvSpPr>
          <p:cNvPr id="24" name="Shape 22"/>
          <p:cNvSpPr/>
          <p:nvPr/>
        </p:nvSpPr>
        <p:spPr>
          <a:xfrm>
            <a:off x="6542532" y="4892040"/>
            <a:ext cx="676656" cy="329184"/>
          </a:xfrm>
          <a:prstGeom prst="roundRect">
            <a:avLst>
              <a:gd name="adj" fmla="val 19444"/>
            </a:avLst>
          </a:prstGeom>
          <a:solidFill>
            <a:srgbClr val="F4F7FB"/>
          </a:solidFill>
          <a:ln w="12700">
            <a:solidFill>
              <a:srgbClr val="E2E8F0"/>
            </a:solidFill>
            <a:prstDash val="solid"/>
          </a:ln>
        </p:spPr>
      </p:sp>
      <p:sp>
        <p:nvSpPr>
          <p:cNvPr id="25" name="Text 23"/>
          <p:cNvSpPr/>
          <p:nvPr/>
        </p:nvSpPr>
        <p:spPr>
          <a:xfrm>
            <a:off x="6542532" y="4892040"/>
            <a:ext cx="676656"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NEXT</a:t>
            </a:r>
            <a:endParaRPr lang="en-US" sz="900" dirty="0"/>
          </a:p>
        </p:txBody>
      </p:sp>
      <p:sp>
        <p:nvSpPr>
          <p:cNvPr id="26" name="Text 24"/>
          <p:cNvSpPr/>
          <p:nvPr/>
        </p:nvSpPr>
        <p:spPr>
          <a:xfrm>
            <a:off x="8716518"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27" name="Shape 25"/>
          <p:cNvSpPr/>
          <p:nvPr/>
        </p:nvSpPr>
        <p:spPr>
          <a:xfrm>
            <a:off x="9082278"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8" name="Text 26"/>
          <p:cNvSpPr/>
          <p:nvPr/>
        </p:nvSpPr>
        <p:spPr>
          <a:xfrm>
            <a:off x="9356598"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3</a:t>
            </a:r>
            <a:endParaRPr lang="en-US" sz="1100" dirty="0"/>
          </a:p>
        </p:txBody>
      </p:sp>
      <p:sp>
        <p:nvSpPr>
          <p:cNvPr id="29" name="Text 27"/>
          <p:cNvSpPr/>
          <p:nvPr/>
        </p:nvSpPr>
        <p:spPr>
          <a:xfrm>
            <a:off x="9356598"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Operating model</a:t>
            </a:r>
            <a:endParaRPr lang="en-US" sz="1700" dirty="0"/>
          </a:p>
        </p:txBody>
      </p:sp>
      <p:sp>
        <p:nvSpPr>
          <p:cNvPr id="30" name="Text 28"/>
          <p:cNvSpPr/>
          <p:nvPr/>
        </p:nvSpPr>
        <p:spPr>
          <a:xfrm>
            <a:off x="9356598"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Error budgets gate releases: ship when healthy, stabilize when burning.</a:t>
            </a:r>
            <a:endParaRPr lang="en-US" sz="1200" dirty="0"/>
          </a:p>
        </p:txBody>
      </p:sp>
      <p:sp>
        <p:nvSpPr>
          <p:cNvPr id="31" name="Shape 29"/>
          <p:cNvSpPr/>
          <p:nvPr/>
        </p:nvSpPr>
        <p:spPr>
          <a:xfrm>
            <a:off x="9356598" y="4892040"/>
            <a:ext cx="676656" cy="329184"/>
          </a:xfrm>
          <a:prstGeom prst="roundRect">
            <a:avLst>
              <a:gd name="adj" fmla="val 19444"/>
            </a:avLst>
          </a:prstGeom>
          <a:solidFill>
            <a:srgbClr val="F4F7FB"/>
          </a:solidFill>
          <a:ln w="12700">
            <a:solidFill>
              <a:srgbClr val="E2E8F0"/>
            </a:solidFill>
            <a:prstDash val="solid"/>
          </a:ln>
        </p:spPr>
      </p:sp>
      <p:sp>
        <p:nvSpPr>
          <p:cNvPr id="32" name="Text 30"/>
          <p:cNvSpPr/>
          <p:nvPr/>
        </p:nvSpPr>
        <p:spPr>
          <a:xfrm>
            <a:off x="9356598" y="4892040"/>
            <a:ext cx="676656"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GOAL</a:t>
            </a:r>
            <a:endParaRPr lang="en-US" sz="900" dirty="0"/>
          </a:p>
        </p:txBody>
      </p:sp>
      <p:sp>
        <p:nvSpPr>
          <p:cNvPr id="34" name="Text 31"/>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Health Model Hands-On Lab</a:t>
            </a:r>
            <a:endParaRPr lang="en-US" sz="900" dirty="0"/>
          </a:p>
        </p:txBody>
      </p:sp>
      <p:sp>
        <p:nvSpPr>
          <p:cNvPr id="35" name="Text 32"/>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D4BF"/>
          </a:solidFill>
          <a:ln/>
        </p:spPr>
      </p:sp>
      <p:sp>
        <p:nvSpPr>
          <p:cNvPr id="3" name="Text 1"/>
          <p:cNvSpPr/>
          <p:nvPr/>
        </p:nvSpPr>
        <p:spPr>
          <a:xfrm>
            <a:off x="914400" y="868680"/>
            <a:ext cx="91440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Segoe UI" pitchFamily="34" charset="0"/>
                <a:ea typeface="Segoe UI" pitchFamily="34" charset="-122"/>
                <a:cs typeface="Segoe UI" pitchFamily="34" charset="-120"/>
              </a:rPr>
              <a:t>TAKEAWAYS</a:t>
            </a:r>
            <a:endParaRPr lang="en-US" sz="1400" dirty="0"/>
          </a:p>
        </p:txBody>
      </p:sp>
      <p:sp>
        <p:nvSpPr>
          <p:cNvPr id="4" name="Text 2"/>
          <p:cNvSpPr/>
          <p:nvPr/>
        </p:nvSpPr>
        <p:spPr>
          <a:xfrm>
            <a:off x="868680" y="12344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Segoe UI Semibold" pitchFamily="34" charset="0"/>
                <a:ea typeface="Segoe UI Semibold" pitchFamily="34" charset="-122"/>
                <a:cs typeface="Segoe UI Semibold" pitchFamily="34" charset="-120"/>
              </a:rPr>
              <a:t>You will leave the lab able to…</a:t>
            </a:r>
            <a:endParaRPr lang="en-US" sz="3200" dirty="0"/>
          </a:p>
        </p:txBody>
      </p:sp>
      <p:sp>
        <p:nvSpPr>
          <p:cNvPr id="5" name="Shape 3"/>
          <p:cNvSpPr/>
          <p:nvPr/>
        </p:nvSpPr>
        <p:spPr>
          <a:xfrm>
            <a:off x="914400" y="2468880"/>
            <a:ext cx="3148584" cy="2194560"/>
          </a:xfrm>
          <a:prstGeom prst="rect">
            <a:avLst/>
          </a:prstGeom>
          <a:solidFill>
            <a:srgbClr val="10314F"/>
          </a:solidFill>
          <a:ln w="12700">
            <a:solidFill>
              <a:srgbClr val="0D9488"/>
            </a:solidFill>
            <a:prstDash val="solid"/>
          </a:ln>
        </p:spPr>
      </p:sp>
      <p:sp>
        <p:nvSpPr>
          <p:cNvPr id="6" name="Shape 4"/>
          <p:cNvSpPr/>
          <p:nvPr/>
        </p:nvSpPr>
        <p:spPr>
          <a:xfrm>
            <a:off x="1188720" y="2743200"/>
            <a:ext cx="420624" cy="420624"/>
          </a:xfrm>
          <a:prstGeom prst="ellipse">
            <a:avLst/>
          </a:prstGeom>
          <a:solidFill>
            <a:srgbClr val="2DD4BF"/>
          </a:solidFill>
          <a:ln/>
        </p:spPr>
      </p:sp>
      <p:sp>
        <p:nvSpPr>
          <p:cNvPr id="7" name="Text 5"/>
          <p:cNvSpPr/>
          <p:nvPr/>
        </p:nvSpPr>
        <p:spPr>
          <a:xfrm>
            <a:off x="1188720"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188720"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Build a real health model</a:t>
            </a:r>
            <a:endParaRPr lang="en-US" sz="1600" dirty="0"/>
          </a:p>
        </p:txBody>
      </p:sp>
      <p:sp>
        <p:nvSpPr>
          <p:cNvPr id="9" name="Text 7"/>
          <p:cNvSpPr/>
          <p:nvPr/>
        </p:nvSpPr>
        <p:spPr>
          <a:xfrm>
            <a:off x="1188720"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Discover entities from App Insights and attach SLI-driven signals.</a:t>
            </a:r>
            <a:endParaRPr lang="en-US" sz="1200" dirty="0"/>
          </a:p>
        </p:txBody>
      </p:sp>
      <p:sp>
        <p:nvSpPr>
          <p:cNvPr id="10" name="Shape 8"/>
          <p:cNvSpPr/>
          <p:nvPr/>
        </p:nvSpPr>
        <p:spPr>
          <a:xfrm>
            <a:off x="4520184" y="2468880"/>
            <a:ext cx="3148584" cy="2194560"/>
          </a:xfrm>
          <a:prstGeom prst="rect">
            <a:avLst/>
          </a:prstGeom>
          <a:solidFill>
            <a:srgbClr val="10314F"/>
          </a:solidFill>
          <a:ln w="12700">
            <a:solidFill>
              <a:srgbClr val="0D9488"/>
            </a:solidFill>
            <a:prstDash val="solid"/>
          </a:ln>
        </p:spPr>
      </p:sp>
      <p:sp>
        <p:nvSpPr>
          <p:cNvPr id="11" name="Shape 9"/>
          <p:cNvSpPr/>
          <p:nvPr/>
        </p:nvSpPr>
        <p:spPr>
          <a:xfrm>
            <a:off x="4794504" y="2743200"/>
            <a:ext cx="420624" cy="420624"/>
          </a:xfrm>
          <a:prstGeom prst="ellipse">
            <a:avLst/>
          </a:prstGeom>
          <a:solidFill>
            <a:srgbClr val="2DD4BF"/>
          </a:solidFill>
          <a:ln/>
        </p:spPr>
      </p:sp>
      <p:sp>
        <p:nvSpPr>
          <p:cNvPr id="12" name="Text 10"/>
          <p:cNvSpPr/>
          <p:nvPr/>
        </p:nvSpPr>
        <p:spPr>
          <a:xfrm>
            <a:off x="4794504"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3" name="Text 11"/>
          <p:cNvSpPr/>
          <p:nvPr/>
        </p:nvSpPr>
        <p:spPr>
          <a:xfrm>
            <a:off x="4794504"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See one honest score</a:t>
            </a:r>
            <a:endParaRPr lang="en-US" sz="1600" dirty="0"/>
          </a:p>
        </p:txBody>
      </p:sp>
      <p:sp>
        <p:nvSpPr>
          <p:cNvPr id="14" name="Text 12"/>
          <p:cNvSpPr/>
          <p:nvPr/>
        </p:nvSpPr>
        <p:spPr>
          <a:xfrm>
            <a:off x="4794504"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Roll signals and children up into a single state, then drill to the failing entity.</a:t>
            </a:r>
            <a:endParaRPr lang="en-US" sz="1200" dirty="0"/>
          </a:p>
        </p:txBody>
      </p:sp>
      <p:sp>
        <p:nvSpPr>
          <p:cNvPr id="15" name="Shape 13"/>
          <p:cNvSpPr/>
          <p:nvPr/>
        </p:nvSpPr>
        <p:spPr>
          <a:xfrm>
            <a:off x="8125968" y="2468880"/>
            <a:ext cx="3148584" cy="2194560"/>
          </a:xfrm>
          <a:prstGeom prst="rect">
            <a:avLst/>
          </a:prstGeom>
          <a:solidFill>
            <a:srgbClr val="10314F"/>
          </a:solidFill>
          <a:ln w="12700">
            <a:solidFill>
              <a:srgbClr val="0D9488"/>
            </a:solidFill>
            <a:prstDash val="solid"/>
          </a:ln>
        </p:spPr>
      </p:sp>
      <p:sp>
        <p:nvSpPr>
          <p:cNvPr id="16" name="Shape 14"/>
          <p:cNvSpPr/>
          <p:nvPr/>
        </p:nvSpPr>
        <p:spPr>
          <a:xfrm>
            <a:off x="8400288" y="2743200"/>
            <a:ext cx="420624" cy="420624"/>
          </a:xfrm>
          <a:prstGeom prst="ellipse">
            <a:avLst/>
          </a:prstGeom>
          <a:solidFill>
            <a:srgbClr val="2DD4BF"/>
          </a:solidFill>
          <a:ln/>
        </p:spPr>
      </p:sp>
      <p:sp>
        <p:nvSpPr>
          <p:cNvPr id="17" name="Text 15"/>
          <p:cNvSpPr/>
          <p:nvPr/>
        </p:nvSpPr>
        <p:spPr>
          <a:xfrm>
            <a:off x="8400288"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8" name="Text 16"/>
          <p:cNvSpPr/>
          <p:nvPr/>
        </p:nvSpPr>
        <p:spPr>
          <a:xfrm>
            <a:off x="8400288"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Alert on state, not noise</a:t>
            </a:r>
            <a:endParaRPr lang="en-US" sz="1600" dirty="0"/>
          </a:p>
        </p:txBody>
      </p:sp>
      <p:sp>
        <p:nvSpPr>
          <p:cNvPr id="19" name="Text 17"/>
          <p:cNvSpPr/>
          <p:nvPr/>
        </p:nvSpPr>
        <p:spPr>
          <a:xfrm>
            <a:off x="8400288"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Degraded and Unhealthy alerts replace piles of single-metric alerts.</a:t>
            </a:r>
            <a:endParaRPr lang="en-US" sz="1200" dirty="0"/>
          </a:p>
        </p:txBody>
      </p:sp>
      <p:sp>
        <p:nvSpPr>
          <p:cNvPr id="20" name="Shape 18"/>
          <p:cNvSpPr/>
          <p:nvPr/>
        </p:nvSpPr>
        <p:spPr>
          <a:xfrm>
            <a:off x="914400" y="5029200"/>
            <a:ext cx="10360152" cy="685800"/>
          </a:xfrm>
          <a:prstGeom prst="roundRect">
            <a:avLst>
              <a:gd name="adj" fmla="val 10667"/>
            </a:avLst>
          </a:prstGeom>
          <a:solidFill>
            <a:srgbClr val="2DD4BF"/>
          </a:solidFill>
          <a:ln/>
        </p:spPr>
      </p:sp>
      <p:sp>
        <p:nvSpPr>
          <p:cNvPr id="21" name="Text 19"/>
          <p:cNvSpPr/>
          <p:nvPr/>
        </p:nvSpPr>
        <p:spPr>
          <a:xfrm>
            <a:off x="914400" y="5029200"/>
            <a:ext cx="10360152" cy="685800"/>
          </a:xfrm>
          <a:prstGeom prst="rect">
            <a:avLst/>
          </a:prstGeom>
          <a:noFill/>
          <a:ln/>
        </p:spPr>
        <p:txBody>
          <a:bodyPr wrap="square" lIns="0" tIns="0" rIns="0" bIns="0" rtlCol="0" anchor="ctr"/>
          <a:lstStyle/>
          <a:p>
            <a:pPr algn="ctr" indent="0" marL="0">
              <a:buNone/>
            </a:pPr>
            <a:r>
              <a:rPr lang="en-US" sz="1500" b="1" dirty="0">
                <a:solidFill>
                  <a:srgbClr val="0A2540"/>
                </a:solidFill>
                <a:latin typeface="Segoe UI Semibold" pitchFamily="34" charset="0"/>
                <a:ea typeface="Segoe UI Semibold" pitchFamily="34" charset="-122"/>
                <a:cs typeface="Segoe UI Semibold" pitchFamily="34" charset="-120"/>
              </a:rPr>
              <a:t>Ready to start?   </a:t>
            </a:r>
            <a:pPr algn="ctr" indent="0" marL="0">
              <a:buNone/>
            </a:pPr>
            <a:r>
              <a:rPr lang="en-US" sz="1500" dirty="0">
                <a:solidFill>
                  <a:srgbClr val="07314A"/>
                </a:solidFill>
                <a:latin typeface="Consolas" pitchFamily="34" charset="0"/>
                <a:ea typeface="Consolas" pitchFamily="34" charset="-122"/>
                <a:cs typeface="Consolas" pitchFamily="34" charset="-120"/>
              </a:rPr>
              <a:t>Keep traffic running, then run  ./healthmodel-run-lab.ps1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Monitor Health Model Hands-On Lab</dc:title>
  <dc:subject>PptxGenJS Presentation</dc:subject>
  <dc:creator>Azure Reliability Starter Kit</dc:creator>
  <cp:lastModifiedBy>Azure Reliability Starter Kit</cp:lastModifiedBy>
  <cp:revision>1</cp:revision>
  <dcterms:created xsi:type="dcterms:W3CDTF">2026-07-20T21:28:11Z</dcterms:created>
  <dcterms:modified xsi:type="dcterms:W3CDTF">2026-07-20T21:28:11Z</dcterms:modified>
</cp:coreProperties>
</file>